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Hedvig Letters Sans" panose="020B0604020202020204" charset="0"/>
      <p:regular r:id="rId15"/>
    </p:embeddedFon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959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223d068087d15bf83b12619b4474a0513dcf077b.jpg"/>
          <p:cNvPicPr>
            <a:picLocks noChangeAspect="1"/>
          </p:cNvPicPr>
          <p:nvPr/>
        </p:nvPicPr>
        <p:blipFill>
          <a:blip r:embed="rId3">
            <a:alphaModFix amt="15000"/>
          </a:blip>
          <a:srcRect l="10" r="1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2E">
                  <a:alpha val="90000"/>
                </a:srgbClr>
              </a:gs>
              <a:gs pos="50000">
                <a:srgbClr val="1A1A2E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81000" y="381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52398" y="0"/>
                </a:moveTo>
                <a:lnTo>
                  <a:pt x="381002" y="0"/>
                </a:lnTo>
                <a:cubicBezTo>
                  <a:pt x="465113" y="0"/>
                  <a:pt x="533400" y="68287"/>
                  <a:pt x="533400" y="152398"/>
                </a:cubicBezTo>
                <a:lnTo>
                  <a:pt x="533400" y="381002"/>
                </a:lnTo>
                <a:cubicBezTo>
                  <a:pt x="533400" y="465113"/>
                  <a:pt x="465113" y="533400"/>
                  <a:pt x="381002" y="533400"/>
                </a:cubicBezTo>
                <a:lnTo>
                  <a:pt x="152398" y="533400"/>
                </a:lnTo>
                <a:cubicBezTo>
                  <a:pt x="68287" y="533400"/>
                  <a:pt x="0" y="465113"/>
                  <a:pt x="0" y="38100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533400" y="533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28700" y="4381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28700" y="66675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Computer Vision &amp; Machine Learning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838325"/>
            <a:ext cx="8877300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7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Neural Network Models for</a:t>
            </a:r>
            <a:endParaRPr lang="en-US" sz="1600" dirty="0"/>
          </a:p>
          <a:p>
            <a:pPr>
              <a:lnSpc>
                <a:spcPct val="90000"/>
              </a:lnSpc>
            </a:pPr>
            <a:r>
              <a:rPr lang="en-US" sz="5400" b="1" dirty="0">
                <a:solidFill>
                  <a:srgbClr val="F7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Object Recognition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499485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28575" y="0"/>
                </a:moveTo>
                <a:lnTo>
                  <a:pt x="1495425" y="0"/>
                </a:lnTo>
                <a:cubicBezTo>
                  <a:pt x="1511196" y="0"/>
                  <a:pt x="1524000" y="12804"/>
                  <a:pt x="1524000" y="28575"/>
                </a:cubicBezTo>
                <a:lnTo>
                  <a:pt x="1524000" y="28575"/>
                </a:lnTo>
                <a:cubicBezTo>
                  <a:pt x="1524000" y="44346"/>
                  <a:pt x="1511196" y="57150"/>
                  <a:pt x="1495425" y="57150"/>
                </a:cubicBezTo>
                <a:lnTo>
                  <a:pt x="28575" y="57150"/>
                </a:lnTo>
                <a:cubicBezTo>
                  <a:pt x="12804" y="57150"/>
                  <a:pt x="0" y="44346"/>
                  <a:pt x="0" y="28575"/>
                </a:cubicBezTo>
                <a:lnTo>
                  <a:pt x="0" y="28575"/>
                </a:lnTo>
                <a:cubicBezTo>
                  <a:pt x="0" y="12804"/>
                  <a:pt x="12804" y="0"/>
                  <a:pt x="28575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81000" y="386143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Classical ML Approaches for CIFAR-10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810" y="4360545"/>
            <a:ext cx="4370070" cy="617220"/>
          </a:xfrm>
          <a:custGeom>
            <a:avLst/>
            <a:gdLst/>
            <a:ahLst/>
            <a:cxnLst/>
            <a:rect l="l" t="t" r="r" b="b"/>
            <a:pathLst>
              <a:path w="4370070" h="617220">
                <a:moveTo>
                  <a:pt x="152398" y="0"/>
                </a:moveTo>
                <a:lnTo>
                  <a:pt x="4217672" y="0"/>
                </a:lnTo>
                <a:cubicBezTo>
                  <a:pt x="4301839" y="0"/>
                  <a:pt x="4370070" y="68231"/>
                  <a:pt x="4370070" y="152398"/>
                </a:cubicBezTo>
                <a:lnTo>
                  <a:pt x="4370070" y="464822"/>
                </a:lnTo>
                <a:cubicBezTo>
                  <a:pt x="4370070" y="548989"/>
                  <a:pt x="4301839" y="617220"/>
                  <a:pt x="4217672" y="617220"/>
                </a:cubicBezTo>
                <a:lnTo>
                  <a:pt x="152398" y="617220"/>
                </a:lnTo>
                <a:cubicBezTo>
                  <a:pt x="68231" y="617220"/>
                  <a:pt x="0" y="548989"/>
                  <a:pt x="0" y="464822"/>
                </a:cubicBezTo>
                <a:lnTo>
                  <a:pt x="0" y="152398"/>
                </a:lnTo>
                <a:cubicBezTo>
                  <a:pt x="0" y="68287"/>
                  <a:pt x="68287" y="0"/>
                  <a:pt x="152398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 w="10160">
            <a:solidFill>
              <a:srgbClr val="F7FA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93420" y="461200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22020" y="4535805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631513" y="4516755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9525" y="0"/>
                </a:lnTo>
                <a:lnTo>
                  <a:pt x="9525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F7FAFC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793438" y="4535805"/>
            <a:ext cx="275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+ SVM/KNN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1000" y="590550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Presented by </a:t>
            </a:r>
          </a:p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1000" y="6248400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Module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337846" y="6248400"/>
            <a:ext cx="476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6256" y="571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613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623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Recognition Challenge: CIFAR-10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3188970" cy="1493520"/>
          </a:xfrm>
          <a:custGeom>
            <a:avLst/>
            <a:gdLst/>
            <a:ahLst/>
            <a:cxnLst/>
            <a:rect l="l" t="t" r="r" b="b"/>
            <a:pathLst>
              <a:path w="3188970" h="1493520">
                <a:moveTo>
                  <a:pt x="152399" y="0"/>
                </a:moveTo>
                <a:lnTo>
                  <a:pt x="3036571" y="0"/>
                </a:lnTo>
                <a:cubicBezTo>
                  <a:pt x="3120739" y="0"/>
                  <a:pt x="3188970" y="68231"/>
                  <a:pt x="3188970" y="152399"/>
                </a:cubicBezTo>
                <a:lnTo>
                  <a:pt x="3188970" y="1341121"/>
                </a:lnTo>
                <a:cubicBezTo>
                  <a:pt x="3188970" y="1425289"/>
                  <a:pt x="3120739" y="1493520"/>
                  <a:pt x="3036571" y="1493520"/>
                </a:cubicBezTo>
                <a:lnTo>
                  <a:pt x="152399" y="1493520"/>
                </a:lnTo>
                <a:cubicBezTo>
                  <a:pt x="68288" y="1493520"/>
                  <a:pt x="0" y="1425232"/>
                  <a:pt x="0" y="134112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9120" y="1379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5561" y="148399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32147"/>
                </a:moveTo>
                <a:cubicBezTo>
                  <a:pt x="32147" y="20326"/>
                  <a:pt x="41757" y="10716"/>
                  <a:pt x="53578" y="10716"/>
                </a:cubicBezTo>
                <a:lnTo>
                  <a:pt x="160734" y="10716"/>
                </a:lnTo>
                <a:cubicBezTo>
                  <a:pt x="172555" y="10716"/>
                  <a:pt x="182166" y="20326"/>
                  <a:pt x="182166" y="32147"/>
                </a:cubicBezTo>
                <a:lnTo>
                  <a:pt x="182166" y="117872"/>
                </a:lnTo>
                <a:cubicBezTo>
                  <a:pt x="182166" y="129693"/>
                  <a:pt x="172555" y="139303"/>
                  <a:pt x="160734" y="139303"/>
                </a:cubicBezTo>
                <a:lnTo>
                  <a:pt x="53578" y="139303"/>
                </a:lnTo>
                <a:cubicBezTo>
                  <a:pt x="41757" y="139303"/>
                  <a:pt x="32147" y="129693"/>
                  <a:pt x="32147" y="117872"/>
                </a:cubicBezTo>
                <a:lnTo>
                  <a:pt x="32147" y="32147"/>
                </a:lnTo>
                <a:close/>
                <a:moveTo>
                  <a:pt x="8037" y="42863"/>
                </a:moveTo>
                <a:cubicBezTo>
                  <a:pt x="12490" y="42863"/>
                  <a:pt x="16073" y="46446"/>
                  <a:pt x="16073" y="50899"/>
                </a:cubicBezTo>
                <a:lnTo>
                  <a:pt x="16073" y="150019"/>
                </a:lnTo>
                <a:cubicBezTo>
                  <a:pt x="16073" y="152966"/>
                  <a:pt x="18484" y="155377"/>
                  <a:pt x="21431" y="155377"/>
                </a:cubicBezTo>
                <a:lnTo>
                  <a:pt x="141982" y="155377"/>
                </a:lnTo>
                <a:cubicBezTo>
                  <a:pt x="146436" y="155377"/>
                  <a:pt x="150019" y="158960"/>
                  <a:pt x="150019" y="163413"/>
                </a:cubicBezTo>
                <a:cubicBezTo>
                  <a:pt x="150019" y="167867"/>
                  <a:pt x="146436" y="171450"/>
                  <a:pt x="141982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50899"/>
                </a:lnTo>
                <a:cubicBezTo>
                  <a:pt x="0" y="46446"/>
                  <a:pt x="3583" y="42863"/>
                  <a:pt x="8037" y="42863"/>
                </a:cubicBezTo>
                <a:close/>
                <a:moveTo>
                  <a:pt x="64294" y="53578"/>
                </a:moveTo>
                <a:cubicBezTo>
                  <a:pt x="70208" y="53578"/>
                  <a:pt x="75009" y="48777"/>
                  <a:pt x="75009" y="42863"/>
                </a:cubicBezTo>
                <a:cubicBezTo>
                  <a:pt x="75009" y="36948"/>
                  <a:pt x="70208" y="32147"/>
                  <a:pt x="64294" y="32147"/>
                </a:cubicBezTo>
                <a:cubicBezTo>
                  <a:pt x="58380" y="32147"/>
                  <a:pt x="53578" y="36948"/>
                  <a:pt x="53578" y="42863"/>
                </a:cubicBezTo>
                <a:cubicBezTo>
                  <a:pt x="53578" y="48777"/>
                  <a:pt x="58380" y="53578"/>
                  <a:pt x="64294" y="53578"/>
                </a:cubicBezTo>
                <a:close/>
                <a:moveTo>
                  <a:pt x="130094" y="57429"/>
                </a:moveTo>
                <a:cubicBezTo>
                  <a:pt x="128621" y="55052"/>
                  <a:pt x="126043" y="53578"/>
                  <a:pt x="123230" y="53578"/>
                </a:cubicBezTo>
                <a:cubicBezTo>
                  <a:pt x="120417" y="53578"/>
                  <a:pt x="117838" y="55052"/>
                  <a:pt x="116365" y="57429"/>
                </a:cubicBezTo>
                <a:lnTo>
                  <a:pt x="97512" y="88270"/>
                </a:lnTo>
                <a:lnTo>
                  <a:pt x="89308" y="78023"/>
                </a:lnTo>
                <a:cubicBezTo>
                  <a:pt x="87768" y="76114"/>
                  <a:pt x="85491" y="75009"/>
                  <a:pt x="83046" y="75009"/>
                </a:cubicBezTo>
                <a:cubicBezTo>
                  <a:pt x="80602" y="75009"/>
                  <a:pt x="78291" y="76114"/>
                  <a:pt x="76784" y="78023"/>
                </a:cubicBezTo>
                <a:lnTo>
                  <a:pt x="55353" y="104812"/>
                </a:lnTo>
                <a:cubicBezTo>
                  <a:pt x="53411" y="107223"/>
                  <a:pt x="53042" y="110538"/>
                  <a:pt x="54382" y="113318"/>
                </a:cubicBezTo>
                <a:cubicBezTo>
                  <a:pt x="55721" y="116097"/>
                  <a:pt x="58534" y="117872"/>
                  <a:pt x="61615" y="117872"/>
                </a:cubicBezTo>
                <a:lnTo>
                  <a:pt x="152698" y="117872"/>
                </a:lnTo>
                <a:cubicBezTo>
                  <a:pt x="155611" y="117872"/>
                  <a:pt x="158290" y="116298"/>
                  <a:pt x="159696" y="113753"/>
                </a:cubicBezTo>
                <a:cubicBezTo>
                  <a:pt x="161103" y="111208"/>
                  <a:pt x="161069" y="108127"/>
                  <a:pt x="159529" y="105616"/>
                </a:cubicBezTo>
                <a:lnTo>
                  <a:pt x="130061" y="57396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4420" y="1474470"/>
            <a:ext cx="800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Images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120" y="187452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9120" y="229362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Color images (32×32 pixels)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7610" y="1184910"/>
            <a:ext cx="3188970" cy="1493520"/>
          </a:xfrm>
          <a:custGeom>
            <a:avLst/>
            <a:gdLst/>
            <a:ahLst/>
            <a:cxnLst/>
            <a:rect l="l" t="t" r="r" b="b"/>
            <a:pathLst>
              <a:path w="3188970" h="1493520">
                <a:moveTo>
                  <a:pt x="152399" y="0"/>
                </a:moveTo>
                <a:lnTo>
                  <a:pt x="3036571" y="0"/>
                </a:lnTo>
                <a:cubicBezTo>
                  <a:pt x="3120739" y="0"/>
                  <a:pt x="3188970" y="68231"/>
                  <a:pt x="3188970" y="152399"/>
                </a:cubicBezTo>
                <a:lnTo>
                  <a:pt x="3188970" y="1341121"/>
                </a:lnTo>
                <a:cubicBezTo>
                  <a:pt x="3188970" y="1425289"/>
                  <a:pt x="3120739" y="1493520"/>
                  <a:pt x="3036571" y="1493520"/>
                </a:cubicBezTo>
                <a:lnTo>
                  <a:pt x="152399" y="1493520"/>
                </a:lnTo>
                <a:cubicBezTo>
                  <a:pt x="68288" y="1493520"/>
                  <a:pt x="0" y="1425232"/>
                  <a:pt x="0" y="1341121"/>
                </a:cubicBezTo>
                <a:lnTo>
                  <a:pt x="0" y="152399"/>
                </a:lnTo>
                <a:cubicBezTo>
                  <a:pt x="0" y="68288"/>
                  <a:pt x="68288" y="0"/>
                  <a:pt x="15239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1379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39076" y="148399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27220" y="1474470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1874520"/>
            <a:ext cx="2971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31920" y="2293620"/>
            <a:ext cx="2867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Balanced (6,000 each)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84810" y="2914650"/>
            <a:ext cx="6541770" cy="1855470"/>
          </a:xfrm>
          <a:custGeom>
            <a:avLst/>
            <a:gdLst/>
            <a:ahLst/>
            <a:cxnLst/>
            <a:rect l="l" t="t" r="r" b="b"/>
            <a:pathLst>
              <a:path w="6541770" h="1855470">
                <a:moveTo>
                  <a:pt x="152408" y="0"/>
                </a:moveTo>
                <a:lnTo>
                  <a:pt x="6389362" y="0"/>
                </a:lnTo>
                <a:cubicBezTo>
                  <a:pt x="6473478" y="0"/>
                  <a:pt x="6541770" y="68292"/>
                  <a:pt x="6541770" y="152408"/>
                </a:cubicBezTo>
                <a:lnTo>
                  <a:pt x="6541770" y="1703062"/>
                </a:lnTo>
                <a:cubicBezTo>
                  <a:pt x="6541770" y="1787178"/>
                  <a:pt x="6473478" y="1855470"/>
                  <a:pt x="6389362" y="1855470"/>
                </a:cubicBezTo>
                <a:lnTo>
                  <a:pt x="152408" y="1855470"/>
                </a:lnTo>
                <a:cubicBezTo>
                  <a:pt x="68292" y="1855470"/>
                  <a:pt x="0" y="1787178"/>
                  <a:pt x="0" y="170306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1033" y="318516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5345" y="3147060"/>
            <a:ext cx="5934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It's Challenging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" y="35852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4370" y="36423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60120" y="3566160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resolution:</a:t>
            </a:r>
            <a:r>
              <a:rPr lang="en-US" sz="12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Human observers struggle at 32×32 pixels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7220" y="3947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4370" y="400431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60120" y="3928110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Intra-class variation:</a:t>
            </a:r>
            <a:r>
              <a:rPr lang="en-US" sz="12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Same class in different poses (e.g., cats)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220" y="43091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74370" y="436626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2202" y="62195"/>
                </a:moveTo>
                <a:cubicBezTo>
                  <a:pt x="114992" y="59405"/>
                  <a:pt x="114992" y="54873"/>
                  <a:pt x="112202" y="52082"/>
                </a:cubicBezTo>
                <a:lnTo>
                  <a:pt x="76483" y="16364"/>
                </a:lnTo>
                <a:cubicBezTo>
                  <a:pt x="73692" y="13573"/>
                  <a:pt x="69160" y="13573"/>
                  <a:pt x="66370" y="16364"/>
                </a:cubicBezTo>
                <a:cubicBezTo>
                  <a:pt x="63579" y="19154"/>
                  <a:pt x="63579" y="23686"/>
                  <a:pt x="66370" y="26477"/>
                </a:cubicBezTo>
                <a:lnTo>
                  <a:pt x="89900" y="50006"/>
                </a:lnTo>
                <a:lnTo>
                  <a:pt x="7144" y="50006"/>
                </a:lnTo>
                <a:cubicBezTo>
                  <a:pt x="3192" y="50006"/>
                  <a:pt x="0" y="53199"/>
                  <a:pt x="0" y="57150"/>
                </a:cubicBezTo>
                <a:cubicBezTo>
                  <a:pt x="0" y="61101"/>
                  <a:pt x="3192" y="64294"/>
                  <a:pt x="7144" y="64294"/>
                </a:cubicBezTo>
                <a:lnTo>
                  <a:pt x="89900" y="64294"/>
                </a:lnTo>
                <a:lnTo>
                  <a:pt x="66370" y="87823"/>
                </a:lnTo>
                <a:cubicBezTo>
                  <a:pt x="63579" y="90614"/>
                  <a:pt x="63579" y="95146"/>
                  <a:pt x="66370" y="97936"/>
                </a:cubicBezTo>
                <a:cubicBezTo>
                  <a:pt x="69160" y="100727"/>
                  <a:pt x="73692" y="100727"/>
                  <a:pt x="76483" y="97936"/>
                </a:cubicBezTo>
                <a:lnTo>
                  <a:pt x="112202" y="62218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0120" y="4290060"/>
            <a:ext cx="4181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Inter-class similarity:</a:t>
            </a:r>
            <a:r>
              <a:rPr lang="en-US" sz="120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Difficult to distinguish (e.g., cats vs. dogs)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448300"/>
            <a:ext cx="6553200" cy="1028700"/>
          </a:xfrm>
          <a:custGeom>
            <a:avLst/>
            <a:gdLst/>
            <a:ahLst/>
            <a:cxnLst/>
            <a:rect l="l" t="t" r="r" b="b"/>
            <a:pathLst>
              <a:path w="6553200" h="1028700">
                <a:moveTo>
                  <a:pt x="152402" y="0"/>
                </a:moveTo>
                <a:lnTo>
                  <a:pt x="6400798" y="0"/>
                </a:lnTo>
                <a:cubicBezTo>
                  <a:pt x="6484967" y="0"/>
                  <a:pt x="6553200" y="68233"/>
                  <a:pt x="6553200" y="152402"/>
                </a:cubicBezTo>
                <a:lnTo>
                  <a:pt x="6553200" y="876298"/>
                </a:lnTo>
                <a:cubicBezTo>
                  <a:pt x="6553200" y="960467"/>
                  <a:pt x="6484967" y="1028700"/>
                  <a:pt x="6400798" y="1028700"/>
                </a:cubicBezTo>
                <a:lnTo>
                  <a:pt x="152402" y="1028700"/>
                </a:lnTo>
                <a:cubicBezTo>
                  <a:pt x="68233" y="1028700"/>
                  <a:pt x="0" y="960467"/>
                  <a:pt x="0" y="8762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1500" y="5669281"/>
            <a:ext cx="78807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Classes: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71500" y="5981700"/>
            <a:ext cx="685800" cy="304800"/>
          </a:xfrm>
          <a:custGeom>
            <a:avLst/>
            <a:gdLst/>
            <a:ahLst/>
            <a:cxnLst/>
            <a:rect l="l" t="t" r="r" b="b"/>
            <a:pathLst>
              <a:path w="685800" h="304800">
                <a:moveTo>
                  <a:pt x="76200" y="0"/>
                </a:moveTo>
                <a:lnTo>
                  <a:pt x="609600" y="0"/>
                </a:lnTo>
                <a:cubicBezTo>
                  <a:pt x="651656" y="0"/>
                  <a:pt x="685800" y="34144"/>
                  <a:pt x="685800" y="76200"/>
                </a:cubicBezTo>
                <a:lnTo>
                  <a:pt x="685800" y="228600"/>
                </a:lnTo>
                <a:cubicBezTo>
                  <a:pt x="685800" y="270656"/>
                  <a:pt x="651656" y="304800"/>
                  <a:pt x="609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1500" y="5981700"/>
            <a:ext cx="7524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airplane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336953" y="5981700"/>
            <a:ext cx="885825" cy="304800"/>
          </a:xfrm>
          <a:custGeom>
            <a:avLst/>
            <a:gdLst/>
            <a:ahLst/>
            <a:cxnLst/>
            <a:rect l="l" t="t" r="r" b="b"/>
            <a:pathLst>
              <a:path w="885825" h="304800">
                <a:moveTo>
                  <a:pt x="76200" y="0"/>
                </a:moveTo>
                <a:lnTo>
                  <a:pt x="809625" y="0"/>
                </a:lnTo>
                <a:cubicBezTo>
                  <a:pt x="851681" y="0"/>
                  <a:pt x="885825" y="34144"/>
                  <a:pt x="885825" y="76200"/>
                </a:cubicBezTo>
                <a:lnTo>
                  <a:pt x="885825" y="228600"/>
                </a:lnTo>
                <a:cubicBezTo>
                  <a:pt x="885825" y="270656"/>
                  <a:pt x="851681" y="304800"/>
                  <a:pt x="8096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336953" y="5981700"/>
            <a:ext cx="95250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automobile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294215" y="59817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76200" y="0"/>
                </a:moveTo>
                <a:lnTo>
                  <a:pt x="381000" y="0"/>
                </a:lnTo>
                <a:cubicBezTo>
                  <a:pt x="423056" y="0"/>
                  <a:pt x="457200" y="34144"/>
                  <a:pt x="457200" y="76200"/>
                </a:cubicBezTo>
                <a:lnTo>
                  <a:pt x="457200" y="228600"/>
                </a:lnTo>
                <a:cubicBezTo>
                  <a:pt x="457200" y="270656"/>
                  <a:pt x="423056" y="304800"/>
                  <a:pt x="381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94215" y="5981700"/>
            <a:ext cx="5238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830116" y="5981700"/>
            <a:ext cx="400050" cy="304800"/>
          </a:xfrm>
          <a:custGeom>
            <a:avLst/>
            <a:gdLst/>
            <a:ahLst/>
            <a:cxnLst/>
            <a:rect l="l" t="t" r="r" b="b"/>
            <a:pathLst>
              <a:path w="400050" h="304800">
                <a:moveTo>
                  <a:pt x="76200" y="0"/>
                </a:moveTo>
                <a:lnTo>
                  <a:pt x="323850" y="0"/>
                </a:lnTo>
                <a:cubicBezTo>
                  <a:pt x="365906" y="0"/>
                  <a:pt x="400050" y="34144"/>
                  <a:pt x="400050" y="76200"/>
                </a:cubicBezTo>
                <a:lnTo>
                  <a:pt x="400050" y="228600"/>
                </a:lnTo>
                <a:cubicBezTo>
                  <a:pt x="400050" y="270656"/>
                  <a:pt x="365906" y="304800"/>
                  <a:pt x="3238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830116" y="5981700"/>
            <a:ext cx="46672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09819" y="5981700"/>
            <a:ext cx="495300" cy="304800"/>
          </a:xfrm>
          <a:custGeom>
            <a:avLst/>
            <a:gdLst/>
            <a:ahLst/>
            <a:cxnLst/>
            <a:rect l="l" t="t" r="r" b="b"/>
            <a:pathLst>
              <a:path w="495300" h="304800">
                <a:moveTo>
                  <a:pt x="76200" y="0"/>
                </a:moveTo>
                <a:lnTo>
                  <a:pt x="419100" y="0"/>
                </a:lnTo>
                <a:cubicBezTo>
                  <a:pt x="461156" y="0"/>
                  <a:pt x="495300" y="34144"/>
                  <a:pt x="495300" y="76200"/>
                </a:cubicBezTo>
                <a:lnTo>
                  <a:pt x="495300" y="228600"/>
                </a:lnTo>
                <a:cubicBezTo>
                  <a:pt x="495300" y="270656"/>
                  <a:pt x="461156" y="304800"/>
                  <a:pt x="4191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09819" y="5981700"/>
            <a:ext cx="5619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deer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3876794" y="5981700"/>
            <a:ext cx="447675" cy="304800"/>
          </a:xfrm>
          <a:custGeom>
            <a:avLst/>
            <a:gdLst/>
            <a:ahLst/>
            <a:cxnLst/>
            <a:rect l="l" t="t" r="r" b="b"/>
            <a:pathLst>
              <a:path w="447675" h="304800">
                <a:moveTo>
                  <a:pt x="76200" y="0"/>
                </a:moveTo>
                <a:lnTo>
                  <a:pt x="371475" y="0"/>
                </a:lnTo>
                <a:cubicBezTo>
                  <a:pt x="413531" y="0"/>
                  <a:pt x="447675" y="34144"/>
                  <a:pt x="447675" y="76200"/>
                </a:cubicBezTo>
                <a:lnTo>
                  <a:pt x="447675" y="228600"/>
                </a:lnTo>
                <a:cubicBezTo>
                  <a:pt x="447675" y="270656"/>
                  <a:pt x="413531" y="304800"/>
                  <a:pt x="3714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876794" y="5981700"/>
            <a:ext cx="5143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00907" y="5981700"/>
            <a:ext cx="457200" cy="304800"/>
          </a:xfrm>
          <a:custGeom>
            <a:avLst/>
            <a:gdLst/>
            <a:ahLst/>
            <a:cxnLst/>
            <a:rect l="l" t="t" r="r" b="b"/>
            <a:pathLst>
              <a:path w="457200" h="304800">
                <a:moveTo>
                  <a:pt x="76200" y="0"/>
                </a:moveTo>
                <a:lnTo>
                  <a:pt x="381000" y="0"/>
                </a:lnTo>
                <a:cubicBezTo>
                  <a:pt x="423056" y="0"/>
                  <a:pt x="457200" y="34144"/>
                  <a:pt x="457200" y="76200"/>
                </a:cubicBezTo>
                <a:lnTo>
                  <a:pt x="457200" y="228600"/>
                </a:lnTo>
                <a:cubicBezTo>
                  <a:pt x="457200" y="270656"/>
                  <a:pt x="423056" y="304800"/>
                  <a:pt x="381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400907" y="5981700"/>
            <a:ext cx="52387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935617" y="5981700"/>
            <a:ext cx="552450" cy="304800"/>
          </a:xfrm>
          <a:custGeom>
            <a:avLst/>
            <a:gdLst/>
            <a:ahLst/>
            <a:cxnLst/>
            <a:rect l="l" t="t" r="r" b="b"/>
            <a:pathLst>
              <a:path w="552450" h="304800">
                <a:moveTo>
                  <a:pt x="76200" y="0"/>
                </a:moveTo>
                <a:lnTo>
                  <a:pt x="476250" y="0"/>
                </a:lnTo>
                <a:cubicBezTo>
                  <a:pt x="518306" y="0"/>
                  <a:pt x="552450" y="34144"/>
                  <a:pt x="552450" y="76200"/>
                </a:cubicBezTo>
                <a:lnTo>
                  <a:pt x="552450" y="228600"/>
                </a:lnTo>
                <a:cubicBezTo>
                  <a:pt x="552450" y="270656"/>
                  <a:pt x="518306" y="304800"/>
                  <a:pt x="47625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35617" y="5981700"/>
            <a:ext cx="619125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horse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63314" y="5981700"/>
            <a:ext cx="466725" cy="304800"/>
          </a:xfrm>
          <a:custGeom>
            <a:avLst/>
            <a:gdLst/>
            <a:ahLst/>
            <a:cxnLst/>
            <a:rect l="l" t="t" r="r" b="b"/>
            <a:pathLst>
              <a:path w="466725" h="304800">
                <a:moveTo>
                  <a:pt x="76200" y="0"/>
                </a:moveTo>
                <a:lnTo>
                  <a:pt x="390525" y="0"/>
                </a:lnTo>
                <a:cubicBezTo>
                  <a:pt x="432581" y="0"/>
                  <a:pt x="466725" y="34144"/>
                  <a:pt x="466725" y="76200"/>
                </a:cubicBezTo>
                <a:lnTo>
                  <a:pt x="466725" y="228600"/>
                </a:lnTo>
                <a:cubicBezTo>
                  <a:pt x="466725" y="270656"/>
                  <a:pt x="432581" y="304800"/>
                  <a:pt x="39052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63314" y="5981700"/>
            <a:ext cx="53340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06478" y="5981700"/>
            <a:ext cx="523875" cy="304800"/>
          </a:xfrm>
          <a:custGeom>
            <a:avLst/>
            <a:gdLst/>
            <a:ahLst/>
            <a:cxnLst/>
            <a:rect l="l" t="t" r="r" b="b"/>
            <a:pathLst>
              <a:path w="523875" h="304800">
                <a:moveTo>
                  <a:pt x="76200" y="0"/>
                </a:moveTo>
                <a:lnTo>
                  <a:pt x="447675" y="0"/>
                </a:lnTo>
                <a:cubicBezTo>
                  <a:pt x="489731" y="0"/>
                  <a:pt x="523875" y="34144"/>
                  <a:pt x="523875" y="76200"/>
                </a:cubicBezTo>
                <a:lnTo>
                  <a:pt x="523875" y="228600"/>
                </a:lnTo>
                <a:cubicBezTo>
                  <a:pt x="523875" y="270656"/>
                  <a:pt x="489731" y="304800"/>
                  <a:pt x="447675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7FAFC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06478" y="5981700"/>
            <a:ext cx="590550" cy="30480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truck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242810" y="1184910"/>
            <a:ext cx="4560570" cy="5284470"/>
          </a:xfrm>
          <a:custGeom>
            <a:avLst/>
            <a:gdLst/>
            <a:ahLst/>
            <a:cxnLst/>
            <a:rect l="l" t="t" r="r" b="b"/>
            <a:pathLst>
              <a:path w="4560570" h="5284470">
                <a:moveTo>
                  <a:pt x="152414" y="0"/>
                </a:moveTo>
                <a:lnTo>
                  <a:pt x="4408156" y="0"/>
                </a:lnTo>
                <a:cubicBezTo>
                  <a:pt x="4492332" y="0"/>
                  <a:pt x="4560570" y="68238"/>
                  <a:pt x="4560570" y="152414"/>
                </a:cubicBezTo>
                <a:lnTo>
                  <a:pt x="4560570" y="5132056"/>
                </a:lnTo>
                <a:cubicBezTo>
                  <a:pt x="4560570" y="5216232"/>
                  <a:pt x="4492332" y="5284470"/>
                  <a:pt x="4408156" y="5284470"/>
                </a:cubicBezTo>
                <a:lnTo>
                  <a:pt x="152414" y="5284470"/>
                </a:lnTo>
                <a:cubicBezTo>
                  <a:pt x="68238" y="5284470"/>
                  <a:pt x="0" y="5216232"/>
                  <a:pt x="0" y="5132056"/>
                </a:cubicBezTo>
                <a:lnTo>
                  <a:pt x="0" y="152414"/>
                </a:lnTo>
                <a:cubicBezTo>
                  <a:pt x="0" y="68295"/>
                  <a:pt x="68295" y="0"/>
                  <a:pt x="15241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394257" y="1379220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CIFAR-10 Sample Images</a:t>
            </a:r>
            <a:endParaRPr lang="en-US" sz="1600" dirty="0"/>
          </a:p>
        </p:txBody>
      </p:sp>
      <p:pic>
        <p:nvPicPr>
          <p:cNvPr id="5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825" y="1642110"/>
            <a:ext cx="4572000" cy="4572000"/>
          </a:xfrm>
          <a:prstGeom prst="roundRect">
            <a:avLst>
              <a:gd name="adj" fmla="val 0"/>
            </a:avLst>
          </a:prstGeom>
        </p:spPr>
      </p:pic>
      <p:sp>
        <p:nvSpPr>
          <p:cNvPr id="55" name="Text 52"/>
          <p:cNvSpPr/>
          <p:nvPr/>
        </p:nvSpPr>
        <p:spPr>
          <a:xfrm>
            <a:off x="7403782" y="6088381"/>
            <a:ext cx="423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representative image per class (32×32 pixels)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0321" y="391369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163" y="510482"/>
            <a:ext cx="212701" cy="170161"/>
          </a:xfrm>
          <a:custGeom>
            <a:avLst/>
            <a:gdLst/>
            <a:ahLst/>
            <a:cxnLst/>
            <a:rect l="l" t="t" r="r" b="b"/>
            <a:pathLst>
              <a:path w="212701" h="170161">
                <a:moveTo>
                  <a:pt x="138222" y="69959"/>
                </a:moveTo>
                <a:cubicBezTo>
                  <a:pt x="142277" y="68862"/>
                  <a:pt x="146531" y="70789"/>
                  <a:pt x="148359" y="74545"/>
                </a:cubicBezTo>
                <a:lnTo>
                  <a:pt x="154540" y="87041"/>
                </a:lnTo>
                <a:cubicBezTo>
                  <a:pt x="157963" y="87506"/>
                  <a:pt x="161320" y="88437"/>
                  <a:pt x="164477" y="89733"/>
                </a:cubicBezTo>
                <a:lnTo>
                  <a:pt x="176109" y="81989"/>
                </a:lnTo>
                <a:cubicBezTo>
                  <a:pt x="179599" y="79663"/>
                  <a:pt x="184219" y="80128"/>
                  <a:pt x="187177" y="83086"/>
                </a:cubicBezTo>
                <a:lnTo>
                  <a:pt x="193558" y="89467"/>
                </a:lnTo>
                <a:cubicBezTo>
                  <a:pt x="196515" y="92425"/>
                  <a:pt x="196981" y="97078"/>
                  <a:pt x="194654" y="100534"/>
                </a:cubicBezTo>
                <a:lnTo>
                  <a:pt x="186911" y="112133"/>
                </a:lnTo>
                <a:cubicBezTo>
                  <a:pt x="187542" y="113695"/>
                  <a:pt x="188107" y="115324"/>
                  <a:pt x="188572" y="117019"/>
                </a:cubicBezTo>
                <a:cubicBezTo>
                  <a:pt x="189038" y="118714"/>
                  <a:pt x="189337" y="120375"/>
                  <a:pt x="189569" y="122070"/>
                </a:cubicBezTo>
                <a:lnTo>
                  <a:pt x="202099" y="128252"/>
                </a:lnTo>
                <a:cubicBezTo>
                  <a:pt x="205854" y="130113"/>
                  <a:pt x="207782" y="134367"/>
                  <a:pt x="206685" y="138388"/>
                </a:cubicBezTo>
                <a:lnTo>
                  <a:pt x="204359" y="147096"/>
                </a:lnTo>
                <a:cubicBezTo>
                  <a:pt x="203262" y="151117"/>
                  <a:pt x="199507" y="153842"/>
                  <a:pt x="195319" y="153577"/>
                </a:cubicBezTo>
                <a:lnTo>
                  <a:pt x="181361" y="152679"/>
                </a:lnTo>
                <a:cubicBezTo>
                  <a:pt x="179267" y="155371"/>
                  <a:pt x="176841" y="157864"/>
                  <a:pt x="174082" y="159991"/>
                </a:cubicBezTo>
                <a:lnTo>
                  <a:pt x="174980" y="173916"/>
                </a:lnTo>
                <a:cubicBezTo>
                  <a:pt x="175245" y="178104"/>
                  <a:pt x="172520" y="181892"/>
                  <a:pt x="168499" y="182956"/>
                </a:cubicBezTo>
                <a:lnTo>
                  <a:pt x="159791" y="185282"/>
                </a:lnTo>
                <a:cubicBezTo>
                  <a:pt x="155737" y="186379"/>
                  <a:pt x="151516" y="184451"/>
                  <a:pt x="149655" y="180696"/>
                </a:cubicBezTo>
                <a:lnTo>
                  <a:pt x="143473" y="168200"/>
                </a:lnTo>
                <a:cubicBezTo>
                  <a:pt x="140050" y="167734"/>
                  <a:pt x="136693" y="166804"/>
                  <a:pt x="133536" y="165508"/>
                </a:cubicBezTo>
                <a:lnTo>
                  <a:pt x="121904" y="173251"/>
                </a:lnTo>
                <a:cubicBezTo>
                  <a:pt x="118414" y="175578"/>
                  <a:pt x="113795" y="175112"/>
                  <a:pt x="110837" y="172155"/>
                </a:cubicBezTo>
                <a:lnTo>
                  <a:pt x="104456" y="165774"/>
                </a:lnTo>
                <a:cubicBezTo>
                  <a:pt x="101498" y="162816"/>
                  <a:pt x="101033" y="158196"/>
                  <a:pt x="103359" y="154706"/>
                </a:cubicBezTo>
                <a:lnTo>
                  <a:pt x="111103" y="143074"/>
                </a:lnTo>
                <a:cubicBezTo>
                  <a:pt x="110471" y="141512"/>
                  <a:pt x="109906" y="139884"/>
                  <a:pt x="109441" y="138189"/>
                </a:cubicBezTo>
                <a:cubicBezTo>
                  <a:pt x="108976" y="136494"/>
                  <a:pt x="108677" y="134799"/>
                  <a:pt x="108444" y="133137"/>
                </a:cubicBezTo>
                <a:lnTo>
                  <a:pt x="95915" y="126956"/>
                </a:lnTo>
                <a:cubicBezTo>
                  <a:pt x="92159" y="125095"/>
                  <a:pt x="90265" y="120841"/>
                  <a:pt x="91328" y="116819"/>
                </a:cubicBezTo>
                <a:lnTo>
                  <a:pt x="93655" y="108112"/>
                </a:lnTo>
                <a:cubicBezTo>
                  <a:pt x="94751" y="104090"/>
                  <a:pt x="98507" y="101365"/>
                  <a:pt x="102695" y="101631"/>
                </a:cubicBezTo>
                <a:lnTo>
                  <a:pt x="116620" y="102528"/>
                </a:lnTo>
                <a:cubicBezTo>
                  <a:pt x="118714" y="99836"/>
                  <a:pt x="121140" y="97344"/>
                  <a:pt x="123898" y="95217"/>
                </a:cubicBezTo>
                <a:lnTo>
                  <a:pt x="123001" y="81325"/>
                </a:lnTo>
                <a:cubicBezTo>
                  <a:pt x="122735" y="77137"/>
                  <a:pt x="125460" y="73348"/>
                  <a:pt x="129482" y="72285"/>
                </a:cubicBezTo>
                <a:lnTo>
                  <a:pt x="138189" y="69959"/>
                </a:lnTo>
                <a:close/>
                <a:moveTo>
                  <a:pt x="149023" y="112997"/>
                </a:moveTo>
                <a:cubicBezTo>
                  <a:pt x="140953" y="113006"/>
                  <a:pt x="134408" y="119566"/>
                  <a:pt x="134417" y="127637"/>
                </a:cubicBezTo>
                <a:cubicBezTo>
                  <a:pt x="134426" y="135708"/>
                  <a:pt x="140986" y="142253"/>
                  <a:pt x="149057" y="142244"/>
                </a:cubicBezTo>
                <a:cubicBezTo>
                  <a:pt x="157127" y="142234"/>
                  <a:pt x="163672" y="135675"/>
                  <a:pt x="163663" y="127604"/>
                </a:cubicBezTo>
                <a:cubicBezTo>
                  <a:pt x="163654" y="119533"/>
                  <a:pt x="157094" y="112988"/>
                  <a:pt x="149023" y="112997"/>
                </a:cubicBezTo>
                <a:close/>
                <a:moveTo>
                  <a:pt x="74744" y="-15122"/>
                </a:moveTo>
                <a:lnTo>
                  <a:pt x="83452" y="-12795"/>
                </a:lnTo>
                <a:cubicBezTo>
                  <a:pt x="87473" y="-11699"/>
                  <a:pt x="90198" y="-7910"/>
                  <a:pt x="89932" y="-3755"/>
                </a:cubicBezTo>
                <a:lnTo>
                  <a:pt x="89035" y="10137"/>
                </a:lnTo>
                <a:cubicBezTo>
                  <a:pt x="91794" y="12264"/>
                  <a:pt x="94220" y="14723"/>
                  <a:pt x="96314" y="17448"/>
                </a:cubicBezTo>
                <a:lnTo>
                  <a:pt x="110272" y="16551"/>
                </a:lnTo>
                <a:cubicBezTo>
                  <a:pt x="114426" y="16285"/>
                  <a:pt x="118215" y="19010"/>
                  <a:pt x="119312" y="23031"/>
                </a:cubicBezTo>
                <a:lnTo>
                  <a:pt x="121638" y="31739"/>
                </a:lnTo>
                <a:cubicBezTo>
                  <a:pt x="122702" y="35760"/>
                  <a:pt x="120807" y="40014"/>
                  <a:pt x="117052" y="41875"/>
                </a:cubicBezTo>
                <a:lnTo>
                  <a:pt x="104522" y="48057"/>
                </a:lnTo>
                <a:cubicBezTo>
                  <a:pt x="104290" y="49752"/>
                  <a:pt x="103957" y="51447"/>
                  <a:pt x="103525" y="53109"/>
                </a:cubicBezTo>
                <a:cubicBezTo>
                  <a:pt x="103093" y="54770"/>
                  <a:pt x="102495" y="56432"/>
                  <a:pt x="101864" y="57994"/>
                </a:cubicBezTo>
                <a:lnTo>
                  <a:pt x="109607" y="69626"/>
                </a:lnTo>
                <a:cubicBezTo>
                  <a:pt x="111934" y="73116"/>
                  <a:pt x="111468" y="77735"/>
                  <a:pt x="108511" y="80693"/>
                </a:cubicBezTo>
                <a:lnTo>
                  <a:pt x="102130" y="87074"/>
                </a:lnTo>
                <a:cubicBezTo>
                  <a:pt x="99172" y="90032"/>
                  <a:pt x="94552" y="90497"/>
                  <a:pt x="91062" y="88171"/>
                </a:cubicBezTo>
                <a:lnTo>
                  <a:pt x="79430" y="80427"/>
                </a:lnTo>
                <a:cubicBezTo>
                  <a:pt x="76273" y="81724"/>
                  <a:pt x="72916" y="82654"/>
                  <a:pt x="69493" y="83119"/>
                </a:cubicBezTo>
                <a:lnTo>
                  <a:pt x="63312" y="95616"/>
                </a:lnTo>
                <a:cubicBezTo>
                  <a:pt x="61451" y="99371"/>
                  <a:pt x="57197" y="101265"/>
                  <a:pt x="53175" y="100202"/>
                </a:cubicBezTo>
                <a:lnTo>
                  <a:pt x="44468" y="97876"/>
                </a:lnTo>
                <a:cubicBezTo>
                  <a:pt x="40413" y="96779"/>
                  <a:pt x="37721" y="92990"/>
                  <a:pt x="37987" y="88836"/>
                </a:cubicBezTo>
                <a:lnTo>
                  <a:pt x="38884" y="74911"/>
                </a:lnTo>
                <a:cubicBezTo>
                  <a:pt x="36126" y="72783"/>
                  <a:pt x="33700" y="70324"/>
                  <a:pt x="31606" y="67599"/>
                </a:cubicBezTo>
                <a:lnTo>
                  <a:pt x="17648" y="68496"/>
                </a:lnTo>
                <a:cubicBezTo>
                  <a:pt x="13493" y="68762"/>
                  <a:pt x="9704" y="66037"/>
                  <a:pt x="8608" y="62016"/>
                </a:cubicBezTo>
                <a:lnTo>
                  <a:pt x="6281" y="53308"/>
                </a:lnTo>
                <a:cubicBezTo>
                  <a:pt x="5218" y="49287"/>
                  <a:pt x="7112" y="45033"/>
                  <a:pt x="10868" y="43172"/>
                </a:cubicBezTo>
                <a:lnTo>
                  <a:pt x="23397" y="36990"/>
                </a:lnTo>
                <a:cubicBezTo>
                  <a:pt x="23630" y="35295"/>
                  <a:pt x="23962" y="33633"/>
                  <a:pt x="24394" y="31938"/>
                </a:cubicBezTo>
                <a:cubicBezTo>
                  <a:pt x="24859" y="30243"/>
                  <a:pt x="25391" y="28615"/>
                  <a:pt x="26056" y="27053"/>
                </a:cubicBezTo>
                <a:lnTo>
                  <a:pt x="18312" y="15454"/>
                </a:lnTo>
                <a:cubicBezTo>
                  <a:pt x="15986" y="11964"/>
                  <a:pt x="16451" y="7345"/>
                  <a:pt x="19409" y="4387"/>
                </a:cubicBezTo>
                <a:lnTo>
                  <a:pt x="25790" y="-1994"/>
                </a:lnTo>
                <a:cubicBezTo>
                  <a:pt x="28748" y="-4952"/>
                  <a:pt x="33367" y="-5417"/>
                  <a:pt x="36857" y="-3091"/>
                </a:cubicBezTo>
                <a:lnTo>
                  <a:pt x="48489" y="4653"/>
                </a:lnTo>
                <a:cubicBezTo>
                  <a:pt x="51646" y="3357"/>
                  <a:pt x="55003" y="2426"/>
                  <a:pt x="58426" y="1961"/>
                </a:cubicBezTo>
                <a:lnTo>
                  <a:pt x="64608" y="-10535"/>
                </a:lnTo>
                <a:cubicBezTo>
                  <a:pt x="66469" y="-14291"/>
                  <a:pt x="70690" y="-16185"/>
                  <a:pt x="74744" y="-15122"/>
                </a:cubicBezTo>
                <a:close/>
                <a:moveTo>
                  <a:pt x="63943" y="27917"/>
                </a:moveTo>
                <a:cubicBezTo>
                  <a:pt x="55872" y="27917"/>
                  <a:pt x="49320" y="34469"/>
                  <a:pt x="49320" y="42540"/>
                </a:cubicBezTo>
                <a:cubicBezTo>
                  <a:pt x="49320" y="50611"/>
                  <a:pt x="55872" y="57163"/>
                  <a:pt x="63943" y="57163"/>
                </a:cubicBezTo>
                <a:cubicBezTo>
                  <a:pt x="72014" y="57163"/>
                  <a:pt x="78566" y="50611"/>
                  <a:pt x="78566" y="42540"/>
                </a:cubicBezTo>
                <a:cubicBezTo>
                  <a:pt x="78566" y="34469"/>
                  <a:pt x="72014" y="27917"/>
                  <a:pt x="63943" y="2791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4835" y="340321"/>
            <a:ext cx="626190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b="1" kern="0" spc="47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84835" y="510482"/>
            <a:ext cx="6355495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1: Classical ML with Feature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3724" y="1058398"/>
            <a:ext cx="7723585" cy="2805947"/>
          </a:xfrm>
          <a:custGeom>
            <a:avLst/>
            <a:gdLst/>
            <a:ahLst/>
            <a:cxnLst/>
            <a:rect l="l" t="t" r="r" b="b"/>
            <a:pathLst>
              <a:path w="7723585" h="2805947">
                <a:moveTo>
                  <a:pt x="136116" y="0"/>
                </a:moveTo>
                <a:lnTo>
                  <a:pt x="7587469" y="0"/>
                </a:lnTo>
                <a:cubicBezTo>
                  <a:pt x="7662644" y="0"/>
                  <a:pt x="7723585" y="60941"/>
                  <a:pt x="7723585" y="136116"/>
                </a:cubicBezTo>
                <a:lnTo>
                  <a:pt x="7723585" y="2669830"/>
                </a:lnTo>
                <a:cubicBezTo>
                  <a:pt x="7723585" y="2745005"/>
                  <a:pt x="7662644" y="2805947"/>
                  <a:pt x="7587469" y="2805947"/>
                </a:cubicBezTo>
                <a:lnTo>
                  <a:pt x="136116" y="2805947"/>
                </a:lnTo>
                <a:cubicBezTo>
                  <a:pt x="60941" y="2805947"/>
                  <a:pt x="0" y="2745005"/>
                  <a:pt x="0" y="2669830"/>
                </a:cubicBezTo>
                <a:lnTo>
                  <a:pt x="0" y="136116"/>
                </a:lnTo>
                <a:cubicBezTo>
                  <a:pt x="0" y="60992"/>
                  <a:pt x="60992" y="0"/>
                  <a:pt x="13611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524" dist="850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51320" y="1282904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0432" y="1402016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0" y="26588"/>
                </a:moveTo>
                <a:cubicBezTo>
                  <a:pt x="0" y="17780"/>
                  <a:pt x="7145" y="10635"/>
                  <a:pt x="15953" y="10635"/>
                </a:cubicBezTo>
                <a:lnTo>
                  <a:pt x="47858" y="10635"/>
                </a:lnTo>
                <a:cubicBezTo>
                  <a:pt x="56665" y="10635"/>
                  <a:pt x="63810" y="17780"/>
                  <a:pt x="63810" y="26588"/>
                </a:cubicBezTo>
                <a:lnTo>
                  <a:pt x="63810" y="31905"/>
                </a:lnTo>
                <a:lnTo>
                  <a:pt x="106350" y="31905"/>
                </a:lnTo>
                <a:lnTo>
                  <a:pt x="106350" y="26588"/>
                </a:lnTo>
                <a:cubicBezTo>
                  <a:pt x="106350" y="17780"/>
                  <a:pt x="113496" y="10635"/>
                  <a:pt x="122303" y="10635"/>
                </a:cubicBezTo>
                <a:lnTo>
                  <a:pt x="154208" y="10635"/>
                </a:lnTo>
                <a:cubicBezTo>
                  <a:pt x="163015" y="10635"/>
                  <a:pt x="170161" y="17780"/>
                  <a:pt x="170161" y="26588"/>
                </a:cubicBezTo>
                <a:lnTo>
                  <a:pt x="170161" y="58493"/>
                </a:lnTo>
                <a:cubicBezTo>
                  <a:pt x="170161" y="67300"/>
                  <a:pt x="163015" y="74445"/>
                  <a:pt x="154208" y="74445"/>
                </a:cubicBezTo>
                <a:lnTo>
                  <a:pt x="122303" y="74445"/>
                </a:lnTo>
                <a:cubicBezTo>
                  <a:pt x="113496" y="74445"/>
                  <a:pt x="106350" y="67300"/>
                  <a:pt x="106350" y="58493"/>
                </a:cubicBezTo>
                <a:lnTo>
                  <a:pt x="106350" y="53175"/>
                </a:lnTo>
                <a:lnTo>
                  <a:pt x="63810" y="53175"/>
                </a:lnTo>
                <a:lnTo>
                  <a:pt x="63810" y="58493"/>
                </a:lnTo>
                <a:cubicBezTo>
                  <a:pt x="63810" y="60919"/>
                  <a:pt x="63245" y="63245"/>
                  <a:pt x="62281" y="65306"/>
                </a:cubicBezTo>
                <a:lnTo>
                  <a:pt x="85080" y="95715"/>
                </a:lnTo>
                <a:lnTo>
                  <a:pt x="111668" y="95715"/>
                </a:lnTo>
                <a:cubicBezTo>
                  <a:pt x="120475" y="95715"/>
                  <a:pt x="127620" y="102861"/>
                  <a:pt x="127620" y="111668"/>
                </a:cubicBezTo>
                <a:lnTo>
                  <a:pt x="127620" y="143573"/>
                </a:lnTo>
                <a:cubicBezTo>
                  <a:pt x="127620" y="152380"/>
                  <a:pt x="120475" y="159525"/>
                  <a:pt x="111668" y="159525"/>
                </a:cubicBezTo>
                <a:lnTo>
                  <a:pt x="79763" y="159525"/>
                </a:lnTo>
                <a:cubicBezTo>
                  <a:pt x="70956" y="159525"/>
                  <a:pt x="63810" y="152380"/>
                  <a:pt x="63810" y="143573"/>
                </a:cubicBezTo>
                <a:lnTo>
                  <a:pt x="63810" y="111668"/>
                </a:lnTo>
                <a:cubicBezTo>
                  <a:pt x="63810" y="109242"/>
                  <a:pt x="64375" y="106915"/>
                  <a:pt x="65339" y="104855"/>
                </a:cubicBezTo>
                <a:lnTo>
                  <a:pt x="42540" y="74445"/>
                </a:lnTo>
                <a:lnTo>
                  <a:pt x="15953" y="74445"/>
                </a:lnTo>
                <a:cubicBezTo>
                  <a:pt x="7145" y="74445"/>
                  <a:pt x="0" y="67300"/>
                  <a:pt x="0" y="58493"/>
                </a:cubicBezTo>
                <a:lnTo>
                  <a:pt x="0" y="2658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61802" y="1265995"/>
            <a:ext cx="1769669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1802" y="1538144"/>
            <a:ext cx="1727129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Histogram of Oriented Gradients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1320" y="1844433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68064" y="0"/>
                </a:moveTo>
                <a:lnTo>
                  <a:pt x="204193" y="0"/>
                </a:lnTo>
                <a:cubicBezTo>
                  <a:pt x="241783" y="0"/>
                  <a:pt x="272257" y="30473"/>
                  <a:pt x="272257" y="68064"/>
                </a:cubicBezTo>
                <a:lnTo>
                  <a:pt x="272257" y="204193"/>
                </a:lnTo>
                <a:cubicBezTo>
                  <a:pt x="272257" y="241783"/>
                  <a:pt x="241783" y="272257"/>
                  <a:pt x="204193" y="272257"/>
                </a:cubicBezTo>
                <a:lnTo>
                  <a:pt x="68064" y="272257"/>
                </a:lnTo>
                <a:cubicBezTo>
                  <a:pt x="30473" y="272257"/>
                  <a:pt x="0" y="241783"/>
                  <a:pt x="0" y="204193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7892" y="1912497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5673" y="1844433"/>
            <a:ext cx="2875712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edge orientations &amp; shape information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5673" y="2048626"/>
            <a:ext cx="286720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Identifies object boundaries and contours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1320" y="2320883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68064" y="0"/>
                </a:moveTo>
                <a:lnTo>
                  <a:pt x="204193" y="0"/>
                </a:lnTo>
                <a:cubicBezTo>
                  <a:pt x="241783" y="0"/>
                  <a:pt x="272257" y="30473"/>
                  <a:pt x="272257" y="68064"/>
                </a:cubicBezTo>
                <a:lnTo>
                  <a:pt x="272257" y="204193"/>
                </a:lnTo>
                <a:cubicBezTo>
                  <a:pt x="272257" y="241783"/>
                  <a:pt x="241783" y="272257"/>
                  <a:pt x="204193" y="272257"/>
                </a:cubicBezTo>
                <a:lnTo>
                  <a:pt x="68064" y="272257"/>
                </a:lnTo>
                <a:cubicBezTo>
                  <a:pt x="30473" y="272257"/>
                  <a:pt x="0" y="241783"/>
                  <a:pt x="0" y="204193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7892" y="2388947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5673" y="2320883"/>
            <a:ext cx="2960793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to illumination changes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5673" y="2525075"/>
            <a:ext cx="2952285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Focuses on gradient directions, not absolute pixel values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1320" y="2797332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68064" y="0"/>
                </a:moveTo>
                <a:lnTo>
                  <a:pt x="204193" y="0"/>
                </a:lnTo>
                <a:cubicBezTo>
                  <a:pt x="241783" y="0"/>
                  <a:pt x="272257" y="30473"/>
                  <a:pt x="272257" y="68064"/>
                </a:cubicBezTo>
                <a:lnTo>
                  <a:pt x="272257" y="204193"/>
                </a:lnTo>
                <a:cubicBezTo>
                  <a:pt x="272257" y="241783"/>
                  <a:pt x="241783" y="272257"/>
                  <a:pt x="204193" y="272257"/>
                </a:cubicBezTo>
                <a:lnTo>
                  <a:pt x="68064" y="272257"/>
                </a:lnTo>
                <a:cubicBezTo>
                  <a:pt x="30473" y="272257"/>
                  <a:pt x="0" y="241783"/>
                  <a:pt x="0" y="204193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7892" y="2865396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5673" y="2797332"/>
            <a:ext cx="187176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9.48× dimensionality reduction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5673" y="3001525"/>
            <a:ext cx="1863258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3,072 pixels → 324 HOG features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3724" y="4042801"/>
            <a:ext cx="7723585" cy="2805947"/>
          </a:xfrm>
          <a:custGeom>
            <a:avLst/>
            <a:gdLst/>
            <a:ahLst/>
            <a:cxnLst/>
            <a:rect l="l" t="t" r="r" b="b"/>
            <a:pathLst>
              <a:path w="7723585" h="2805947">
                <a:moveTo>
                  <a:pt x="136116" y="0"/>
                </a:moveTo>
                <a:lnTo>
                  <a:pt x="7587469" y="0"/>
                </a:lnTo>
                <a:cubicBezTo>
                  <a:pt x="7662644" y="0"/>
                  <a:pt x="7723585" y="60941"/>
                  <a:pt x="7723585" y="136116"/>
                </a:cubicBezTo>
                <a:lnTo>
                  <a:pt x="7723585" y="2669830"/>
                </a:lnTo>
                <a:cubicBezTo>
                  <a:pt x="7723585" y="2745005"/>
                  <a:pt x="7662644" y="2805947"/>
                  <a:pt x="7587469" y="2805947"/>
                </a:cubicBezTo>
                <a:lnTo>
                  <a:pt x="136116" y="2805947"/>
                </a:lnTo>
                <a:cubicBezTo>
                  <a:pt x="60941" y="2805947"/>
                  <a:pt x="0" y="2745005"/>
                  <a:pt x="0" y="2669830"/>
                </a:cubicBezTo>
                <a:lnTo>
                  <a:pt x="0" y="136116"/>
                </a:lnTo>
                <a:cubicBezTo>
                  <a:pt x="0" y="60992"/>
                  <a:pt x="60992" y="0"/>
                  <a:pt x="13611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524" dist="850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1320" y="4267306"/>
            <a:ext cx="408385" cy="408385"/>
          </a:xfrm>
          <a:custGeom>
            <a:avLst/>
            <a:gdLst/>
            <a:ahLst/>
            <a:cxnLst/>
            <a:rect l="l" t="t" r="r" b="b"/>
            <a:pathLst>
              <a:path w="408385" h="408385">
                <a:moveTo>
                  <a:pt x="102096" y="0"/>
                </a:moveTo>
                <a:lnTo>
                  <a:pt x="306289" y="0"/>
                </a:lnTo>
                <a:cubicBezTo>
                  <a:pt x="362675" y="0"/>
                  <a:pt x="408385" y="45710"/>
                  <a:pt x="408385" y="102096"/>
                </a:cubicBezTo>
                <a:lnTo>
                  <a:pt x="408385" y="306289"/>
                </a:lnTo>
                <a:cubicBezTo>
                  <a:pt x="408385" y="362675"/>
                  <a:pt x="362675" y="408385"/>
                  <a:pt x="306289" y="408385"/>
                </a:cubicBezTo>
                <a:lnTo>
                  <a:pt x="102096" y="408385"/>
                </a:lnTo>
                <a:cubicBezTo>
                  <a:pt x="45710" y="408385"/>
                  <a:pt x="0" y="362675"/>
                  <a:pt x="0" y="306289"/>
                </a:cubicBezTo>
                <a:lnTo>
                  <a:pt x="0" y="102096"/>
                </a:lnTo>
                <a:cubicBezTo>
                  <a:pt x="0" y="45748"/>
                  <a:pt x="45748" y="0"/>
                  <a:pt x="102096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2E"/>
              </a:gs>
              <a:gs pos="100000">
                <a:srgbClr val="2D374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70432" y="4386419"/>
            <a:ext cx="170161" cy="170161"/>
          </a:xfrm>
          <a:custGeom>
            <a:avLst/>
            <a:gdLst/>
            <a:ahLst/>
            <a:cxnLst/>
            <a:rect l="l" t="t" r="r" b="b"/>
            <a:pathLst>
              <a:path w="170161" h="170161">
                <a:moveTo>
                  <a:pt x="21902" y="75941"/>
                </a:moveTo>
                <a:cubicBezTo>
                  <a:pt x="26322" y="45033"/>
                  <a:pt x="52943" y="21270"/>
                  <a:pt x="85080" y="21270"/>
                </a:cubicBezTo>
                <a:cubicBezTo>
                  <a:pt x="102695" y="21270"/>
                  <a:pt x="118647" y="28415"/>
                  <a:pt x="130213" y="39948"/>
                </a:cubicBezTo>
                <a:cubicBezTo>
                  <a:pt x="130279" y="40014"/>
                  <a:pt x="130346" y="40081"/>
                  <a:pt x="130412" y="40147"/>
                </a:cubicBezTo>
                <a:lnTo>
                  <a:pt x="132938" y="42540"/>
                </a:lnTo>
                <a:lnTo>
                  <a:pt x="117019" y="42540"/>
                </a:lnTo>
                <a:cubicBezTo>
                  <a:pt x="111136" y="42540"/>
                  <a:pt x="106384" y="47293"/>
                  <a:pt x="106384" y="53175"/>
                </a:cubicBezTo>
                <a:cubicBezTo>
                  <a:pt x="106384" y="59058"/>
                  <a:pt x="111136" y="63810"/>
                  <a:pt x="117019" y="63810"/>
                </a:cubicBezTo>
                <a:lnTo>
                  <a:pt x="159559" y="63810"/>
                </a:lnTo>
                <a:cubicBezTo>
                  <a:pt x="165441" y="63810"/>
                  <a:pt x="170194" y="59058"/>
                  <a:pt x="170194" y="53175"/>
                </a:cubicBezTo>
                <a:lnTo>
                  <a:pt x="170194" y="10635"/>
                </a:lnTo>
                <a:cubicBezTo>
                  <a:pt x="170194" y="4753"/>
                  <a:pt x="165441" y="0"/>
                  <a:pt x="159559" y="0"/>
                </a:cubicBezTo>
                <a:cubicBezTo>
                  <a:pt x="153676" y="0"/>
                  <a:pt x="148924" y="4753"/>
                  <a:pt x="148924" y="10635"/>
                </a:cubicBezTo>
                <a:lnTo>
                  <a:pt x="148924" y="28382"/>
                </a:lnTo>
                <a:lnTo>
                  <a:pt x="145168" y="24826"/>
                </a:lnTo>
                <a:cubicBezTo>
                  <a:pt x="129781" y="9505"/>
                  <a:pt x="108511" y="0"/>
                  <a:pt x="85080" y="0"/>
                </a:cubicBezTo>
                <a:cubicBezTo>
                  <a:pt x="42208" y="0"/>
                  <a:pt x="6747" y="31706"/>
                  <a:pt x="864" y="72950"/>
                </a:cubicBezTo>
                <a:cubicBezTo>
                  <a:pt x="33" y="78766"/>
                  <a:pt x="4055" y="84150"/>
                  <a:pt x="9871" y="84981"/>
                </a:cubicBezTo>
                <a:cubicBezTo>
                  <a:pt x="15687" y="85811"/>
                  <a:pt x="21071" y="81757"/>
                  <a:pt x="21902" y="75974"/>
                </a:cubicBezTo>
                <a:close/>
                <a:moveTo>
                  <a:pt x="169296" y="97211"/>
                </a:moveTo>
                <a:cubicBezTo>
                  <a:pt x="170127" y="91395"/>
                  <a:pt x="166073" y="86011"/>
                  <a:pt x="160290" y="85180"/>
                </a:cubicBezTo>
                <a:cubicBezTo>
                  <a:pt x="154507" y="84349"/>
                  <a:pt x="149090" y="88404"/>
                  <a:pt x="148259" y="94186"/>
                </a:cubicBezTo>
                <a:cubicBezTo>
                  <a:pt x="143839" y="125095"/>
                  <a:pt x="117218" y="148857"/>
                  <a:pt x="85080" y="148857"/>
                </a:cubicBezTo>
                <a:cubicBezTo>
                  <a:pt x="67466" y="148857"/>
                  <a:pt x="51513" y="141712"/>
                  <a:pt x="39948" y="130179"/>
                </a:cubicBezTo>
                <a:cubicBezTo>
                  <a:pt x="39881" y="130113"/>
                  <a:pt x="39815" y="130046"/>
                  <a:pt x="39748" y="129980"/>
                </a:cubicBezTo>
                <a:lnTo>
                  <a:pt x="37223" y="127587"/>
                </a:lnTo>
                <a:lnTo>
                  <a:pt x="53142" y="127587"/>
                </a:lnTo>
                <a:cubicBezTo>
                  <a:pt x="59024" y="127587"/>
                  <a:pt x="63777" y="122835"/>
                  <a:pt x="63777" y="116952"/>
                </a:cubicBezTo>
                <a:cubicBezTo>
                  <a:pt x="63777" y="111070"/>
                  <a:pt x="59024" y="106317"/>
                  <a:pt x="53142" y="106317"/>
                </a:cubicBezTo>
                <a:lnTo>
                  <a:pt x="10635" y="106350"/>
                </a:lnTo>
                <a:cubicBezTo>
                  <a:pt x="7810" y="106350"/>
                  <a:pt x="5085" y="107480"/>
                  <a:pt x="3091" y="109508"/>
                </a:cubicBezTo>
                <a:cubicBezTo>
                  <a:pt x="1097" y="111535"/>
                  <a:pt x="-33" y="114227"/>
                  <a:pt x="0" y="117085"/>
                </a:cubicBezTo>
                <a:lnTo>
                  <a:pt x="332" y="159293"/>
                </a:lnTo>
                <a:cubicBezTo>
                  <a:pt x="366" y="165175"/>
                  <a:pt x="5185" y="169895"/>
                  <a:pt x="11067" y="169828"/>
                </a:cubicBezTo>
                <a:cubicBezTo>
                  <a:pt x="16950" y="169762"/>
                  <a:pt x="21669" y="164976"/>
                  <a:pt x="21602" y="159093"/>
                </a:cubicBezTo>
                <a:lnTo>
                  <a:pt x="21469" y="141978"/>
                </a:lnTo>
                <a:lnTo>
                  <a:pt x="25026" y="145334"/>
                </a:lnTo>
                <a:cubicBezTo>
                  <a:pt x="40413" y="160655"/>
                  <a:pt x="61650" y="170161"/>
                  <a:pt x="85080" y="170161"/>
                </a:cubicBezTo>
                <a:cubicBezTo>
                  <a:pt x="127953" y="170161"/>
                  <a:pt x="163414" y="138455"/>
                  <a:pt x="169296" y="972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61802" y="4250396"/>
            <a:ext cx="1352776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SVM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61802" y="4522547"/>
            <a:ext cx="131023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Vector Machine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1320" y="4828836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68064" y="0"/>
                </a:moveTo>
                <a:lnTo>
                  <a:pt x="204193" y="0"/>
                </a:lnTo>
                <a:cubicBezTo>
                  <a:pt x="241783" y="0"/>
                  <a:pt x="272257" y="30473"/>
                  <a:pt x="272257" y="68064"/>
                </a:cubicBezTo>
                <a:lnTo>
                  <a:pt x="272257" y="204193"/>
                </a:lnTo>
                <a:cubicBezTo>
                  <a:pt x="272257" y="241783"/>
                  <a:pt x="241783" y="272257"/>
                  <a:pt x="204193" y="272257"/>
                </a:cubicBezTo>
                <a:lnTo>
                  <a:pt x="68064" y="272257"/>
                </a:lnTo>
                <a:cubicBezTo>
                  <a:pt x="30473" y="272257"/>
                  <a:pt x="0" y="241783"/>
                  <a:pt x="0" y="204193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1A1A2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7892" y="4896900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5673" y="4828836"/>
            <a:ext cx="239075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Excels in high-dimensional spaces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25673" y="5033029"/>
            <a:ext cx="2382247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with 324-dimensional HOG features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1320" y="5305285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68064" y="0"/>
                </a:moveTo>
                <a:lnTo>
                  <a:pt x="204193" y="0"/>
                </a:lnTo>
                <a:cubicBezTo>
                  <a:pt x="241783" y="0"/>
                  <a:pt x="272257" y="30473"/>
                  <a:pt x="272257" y="68064"/>
                </a:cubicBezTo>
                <a:lnTo>
                  <a:pt x="272257" y="204193"/>
                </a:lnTo>
                <a:cubicBezTo>
                  <a:pt x="272257" y="241783"/>
                  <a:pt x="241783" y="272257"/>
                  <a:pt x="204193" y="272257"/>
                </a:cubicBezTo>
                <a:lnTo>
                  <a:pt x="68064" y="272257"/>
                </a:lnTo>
                <a:cubicBezTo>
                  <a:pt x="30473" y="272257"/>
                  <a:pt x="0" y="241783"/>
                  <a:pt x="0" y="204193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1A1A2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7892" y="5373350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25673" y="5305285"/>
            <a:ext cx="243329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margin = better generalization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25673" y="5509478"/>
            <a:ext cx="2424787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Finds optimal decision boundary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1320" y="5781735"/>
            <a:ext cx="272257" cy="272257"/>
          </a:xfrm>
          <a:custGeom>
            <a:avLst/>
            <a:gdLst/>
            <a:ahLst/>
            <a:cxnLst/>
            <a:rect l="l" t="t" r="r" b="b"/>
            <a:pathLst>
              <a:path w="272257" h="272257">
                <a:moveTo>
                  <a:pt x="68064" y="0"/>
                </a:moveTo>
                <a:lnTo>
                  <a:pt x="204193" y="0"/>
                </a:lnTo>
                <a:cubicBezTo>
                  <a:pt x="241783" y="0"/>
                  <a:pt x="272257" y="30473"/>
                  <a:pt x="272257" y="68064"/>
                </a:cubicBezTo>
                <a:lnTo>
                  <a:pt x="272257" y="204193"/>
                </a:lnTo>
                <a:cubicBezTo>
                  <a:pt x="272257" y="241783"/>
                  <a:pt x="241783" y="272257"/>
                  <a:pt x="204193" y="272257"/>
                </a:cubicBezTo>
                <a:lnTo>
                  <a:pt x="68064" y="272257"/>
                </a:lnTo>
                <a:cubicBezTo>
                  <a:pt x="30473" y="272257"/>
                  <a:pt x="0" y="241783"/>
                  <a:pt x="0" y="204193"/>
                </a:cubicBezTo>
                <a:lnTo>
                  <a:pt x="0" y="68064"/>
                </a:lnTo>
                <a:cubicBezTo>
                  <a:pt x="0" y="30473"/>
                  <a:pt x="30473" y="0"/>
                  <a:pt x="68064" y="0"/>
                </a:cubicBezTo>
                <a:close/>
              </a:path>
            </a:pathLst>
          </a:custGeom>
          <a:solidFill>
            <a:srgbClr val="1A1A2E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7892" y="5849799"/>
            <a:ext cx="119112" cy="136128"/>
          </a:xfrm>
          <a:custGeom>
            <a:avLst/>
            <a:gdLst/>
            <a:ahLst/>
            <a:cxnLst/>
            <a:rect l="l" t="t" r="r" b="b"/>
            <a:pathLst>
              <a:path w="119112" h="136128">
                <a:moveTo>
                  <a:pt x="115603" y="18638"/>
                </a:moveTo>
                <a:cubicBezTo>
                  <a:pt x="119405" y="21403"/>
                  <a:pt x="120256" y="26721"/>
                  <a:pt x="117491" y="30523"/>
                </a:cubicBezTo>
                <a:lnTo>
                  <a:pt x="49426" y="124111"/>
                </a:lnTo>
                <a:cubicBezTo>
                  <a:pt x="47964" y="126131"/>
                  <a:pt x="45704" y="127381"/>
                  <a:pt x="43205" y="127594"/>
                </a:cubicBezTo>
                <a:cubicBezTo>
                  <a:pt x="40706" y="127806"/>
                  <a:pt x="38286" y="126876"/>
                  <a:pt x="36531" y="125121"/>
                </a:cubicBezTo>
                <a:lnTo>
                  <a:pt x="2499" y="91089"/>
                </a:lnTo>
                <a:cubicBezTo>
                  <a:pt x="-824" y="87766"/>
                  <a:pt x="-824" y="82368"/>
                  <a:pt x="2499" y="79045"/>
                </a:cubicBezTo>
                <a:cubicBezTo>
                  <a:pt x="5823" y="75721"/>
                  <a:pt x="11220" y="75721"/>
                  <a:pt x="14543" y="79045"/>
                </a:cubicBezTo>
                <a:lnTo>
                  <a:pt x="41530" y="106031"/>
                </a:lnTo>
                <a:lnTo>
                  <a:pt x="103745" y="20499"/>
                </a:lnTo>
                <a:cubicBezTo>
                  <a:pt x="106510" y="16697"/>
                  <a:pt x="111827" y="15846"/>
                  <a:pt x="115629" y="18611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25673" y="5781735"/>
            <a:ext cx="2016402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 trick handles non-linearity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25673" y="5985927"/>
            <a:ext cx="2007894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RBF kernel maps to higher dimensions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77351" y="1054995"/>
            <a:ext cx="3573371" cy="1837733"/>
          </a:xfrm>
          <a:custGeom>
            <a:avLst/>
            <a:gdLst/>
            <a:ahLst/>
            <a:cxnLst/>
            <a:rect l="l" t="t" r="r" b="b"/>
            <a:pathLst>
              <a:path w="3573371" h="1837733">
                <a:moveTo>
                  <a:pt x="136121" y="0"/>
                </a:moveTo>
                <a:lnTo>
                  <a:pt x="3437250" y="0"/>
                </a:lnTo>
                <a:cubicBezTo>
                  <a:pt x="3512427" y="0"/>
                  <a:pt x="3573371" y="60943"/>
                  <a:pt x="3573371" y="136121"/>
                </a:cubicBezTo>
                <a:lnTo>
                  <a:pt x="3573371" y="1701613"/>
                </a:lnTo>
                <a:cubicBezTo>
                  <a:pt x="3573371" y="1776790"/>
                  <a:pt x="3512427" y="1837733"/>
                  <a:pt x="3437250" y="1837733"/>
                </a:cubicBezTo>
                <a:lnTo>
                  <a:pt x="136121" y="1837733"/>
                </a:lnTo>
                <a:cubicBezTo>
                  <a:pt x="60943" y="1837733"/>
                  <a:pt x="0" y="1776790"/>
                  <a:pt x="0" y="1701613"/>
                </a:cubicBezTo>
                <a:lnTo>
                  <a:pt x="0" y="136121"/>
                </a:lnTo>
                <a:cubicBezTo>
                  <a:pt x="0" y="60994"/>
                  <a:pt x="60994" y="0"/>
                  <a:pt x="13612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547481" y="1267590"/>
            <a:ext cx="191431" cy="255241"/>
          </a:xfrm>
          <a:custGeom>
            <a:avLst/>
            <a:gdLst/>
            <a:ahLst/>
            <a:cxnLst/>
            <a:rect l="l" t="t" r="r" b="b"/>
            <a:pathLst>
              <a:path w="191431" h="255241">
                <a:moveTo>
                  <a:pt x="146016" y="191431"/>
                </a:moveTo>
                <a:cubicBezTo>
                  <a:pt x="149655" y="180314"/>
                  <a:pt x="156933" y="170244"/>
                  <a:pt x="165159" y="161569"/>
                </a:cubicBezTo>
                <a:cubicBezTo>
                  <a:pt x="181460" y="144420"/>
                  <a:pt x="191431" y="121239"/>
                  <a:pt x="191431" y="95715"/>
                </a:cubicBezTo>
                <a:cubicBezTo>
                  <a:pt x="191431" y="42872"/>
                  <a:pt x="148558" y="0"/>
                  <a:pt x="95715" y="0"/>
                </a:cubicBezTo>
                <a:cubicBezTo>
                  <a:pt x="42872" y="0"/>
                  <a:pt x="0" y="42872"/>
                  <a:pt x="0" y="95715"/>
                </a:cubicBezTo>
                <a:cubicBezTo>
                  <a:pt x="0" y="121239"/>
                  <a:pt x="9970" y="144420"/>
                  <a:pt x="26272" y="161569"/>
                </a:cubicBezTo>
                <a:cubicBezTo>
                  <a:pt x="34497" y="170244"/>
                  <a:pt x="41826" y="180314"/>
                  <a:pt x="45415" y="191431"/>
                </a:cubicBezTo>
                <a:lnTo>
                  <a:pt x="145966" y="191431"/>
                </a:lnTo>
                <a:close/>
                <a:moveTo>
                  <a:pt x="143573" y="215359"/>
                </a:moveTo>
                <a:lnTo>
                  <a:pt x="47858" y="215359"/>
                </a:lnTo>
                <a:lnTo>
                  <a:pt x="47858" y="223336"/>
                </a:lnTo>
                <a:cubicBezTo>
                  <a:pt x="47858" y="245370"/>
                  <a:pt x="65705" y="263217"/>
                  <a:pt x="87739" y="263217"/>
                </a:cubicBezTo>
                <a:lnTo>
                  <a:pt x="103692" y="263217"/>
                </a:lnTo>
                <a:cubicBezTo>
                  <a:pt x="125726" y="263217"/>
                  <a:pt x="143573" y="245370"/>
                  <a:pt x="143573" y="223336"/>
                </a:cubicBezTo>
                <a:lnTo>
                  <a:pt x="143573" y="215359"/>
                </a:lnTo>
                <a:close/>
                <a:moveTo>
                  <a:pt x="91727" y="55834"/>
                </a:moveTo>
                <a:cubicBezTo>
                  <a:pt x="71886" y="55834"/>
                  <a:pt x="55834" y="71886"/>
                  <a:pt x="55834" y="91727"/>
                </a:cubicBezTo>
                <a:cubicBezTo>
                  <a:pt x="55834" y="98357"/>
                  <a:pt x="50500" y="103692"/>
                  <a:pt x="43870" y="103692"/>
                </a:cubicBezTo>
                <a:cubicBezTo>
                  <a:pt x="37239" y="103692"/>
                  <a:pt x="31905" y="98357"/>
                  <a:pt x="31905" y="91727"/>
                </a:cubicBezTo>
                <a:cubicBezTo>
                  <a:pt x="31905" y="58675"/>
                  <a:pt x="58675" y="31905"/>
                  <a:pt x="91727" y="31905"/>
                </a:cubicBezTo>
                <a:cubicBezTo>
                  <a:pt x="98357" y="31905"/>
                  <a:pt x="103692" y="37239"/>
                  <a:pt x="103692" y="43870"/>
                </a:cubicBezTo>
                <a:cubicBezTo>
                  <a:pt x="103692" y="50500"/>
                  <a:pt x="98357" y="55834"/>
                  <a:pt x="91727" y="5583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902692" y="1259188"/>
            <a:ext cx="1820717" cy="2722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Selected Approach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481544" y="1667467"/>
            <a:ext cx="3164985" cy="714674"/>
          </a:xfrm>
          <a:custGeom>
            <a:avLst/>
            <a:gdLst/>
            <a:ahLst/>
            <a:cxnLst/>
            <a:rect l="l" t="t" r="r" b="b"/>
            <a:pathLst>
              <a:path w="3164985" h="714674">
                <a:moveTo>
                  <a:pt x="102098" y="0"/>
                </a:moveTo>
                <a:lnTo>
                  <a:pt x="3062887" y="0"/>
                </a:lnTo>
                <a:cubicBezTo>
                  <a:pt x="3119274" y="0"/>
                  <a:pt x="3164985" y="45711"/>
                  <a:pt x="3164985" y="102098"/>
                </a:cubicBezTo>
                <a:lnTo>
                  <a:pt x="3164985" y="612576"/>
                </a:lnTo>
                <a:cubicBezTo>
                  <a:pt x="3164985" y="668963"/>
                  <a:pt x="3119274" y="714674"/>
                  <a:pt x="3062887" y="714674"/>
                </a:cubicBezTo>
                <a:lnTo>
                  <a:pt x="102098" y="714674"/>
                </a:lnTo>
                <a:cubicBezTo>
                  <a:pt x="45711" y="714674"/>
                  <a:pt x="0" y="668963"/>
                  <a:pt x="0" y="612576"/>
                </a:cubicBezTo>
                <a:lnTo>
                  <a:pt x="0" y="102098"/>
                </a:lnTo>
                <a:cubicBezTo>
                  <a:pt x="0" y="45711"/>
                  <a:pt x="45711" y="0"/>
                  <a:pt x="10209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617672" y="1803595"/>
            <a:ext cx="2969301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HOG + SVM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617672" y="2075852"/>
            <a:ext cx="2952285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extraction + Classification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98560" y="2543794"/>
            <a:ext cx="119112" cy="119112"/>
          </a:xfrm>
          <a:custGeom>
            <a:avLst/>
            <a:gdLst/>
            <a:ahLst/>
            <a:cxnLst/>
            <a:rect l="l" t="t" r="r" b="b"/>
            <a:pathLst>
              <a:path w="119112" h="119112">
                <a:moveTo>
                  <a:pt x="116926" y="64814"/>
                </a:moveTo>
                <a:cubicBezTo>
                  <a:pt x="119834" y="61906"/>
                  <a:pt x="119834" y="57183"/>
                  <a:pt x="116926" y="54275"/>
                </a:cubicBezTo>
                <a:lnTo>
                  <a:pt x="79703" y="17053"/>
                </a:lnTo>
                <a:cubicBezTo>
                  <a:pt x="76795" y="14145"/>
                  <a:pt x="72072" y="14145"/>
                  <a:pt x="69164" y="17053"/>
                </a:cubicBezTo>
                <a:cubicBezTo>
                  <a:pt x="66256" y="19961"/>
                  <a:pt x="66256" y="24683"/>
                  <a:pt x="69164" y="27591"/>
                </a:cubicBezTo>
                <a:lnTo>
                  <a:pt x="93685" y="52112"/>
                </a:lnTo>
                <a:lnTo>
                  <a:pt x="7445" y="52112"/>
                </a:lnTo>
                <a:cubicBezTo>
                  <a:pt x="3327" y="52112"/>
                  <a:pt x="0" y="55438"/>
                  <a:pt x="0" y="59556"/>
                </a:cubicBezTo>
                <a:cubicBezTo>
                  <a:pt x="0" y="63674"/>
                  <a:pt x="3327" y="67001"/>
                  <a:pt x="7445" y="67001"/>
                </a:cubicBezTo>
                <a:lnTo>
                  <a:pt x="93685" y="67001"/>
                </a:lnTo>
                <a:lnTo>
                  <a:pt x="69164" y="91521"/>
                </a:lnTo>
                <a:cubicBezTo>
                  <a:pt x="66256" y="94429"/>
                  <a:pt x="66256" y="99152"/>
                  <a:pt x="69164" y="102060"/>
                </a:cubicBezTo>
                <a:cubicBezTo>
                  <a:pt x="72072" y="104968"/>
                  <a:pt x="76795" y="104968"/>
                  <a:pt x="79703" y="102060"/>
                </a:cubicBezTo>
                <a:lnTo>
                  <a:pt x="116926" y="6483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8698499" y="2518270"/>
            <a:ext cx="2169546" cy="17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Optimal balance of accuracy &amp; efficiency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0755" y="3066186"/>
            <a:ext cx="3563161" cy="2593246"/>
          </a:xfrm>
          <a:custGeom>
            <a:avLst/>
            <a:gdLst/>
            <a:ahLst/>
            <a:cxnLst/>
            <a:rect l="l" t="t" r="r" b="b"/>
            <a:pathLst>
              <a:path w="3563161" h="2593246">
                <a:moveTo>
                  <a:pt x="136119" y="0"/>
                </a:moveTo>
                <a:lnTo>
                  <a:pt x="3427041" y="0"/>
                </a:lnTo>
                <a:cubicBezTo>
                  <a:pt x="3502218" y="0"/>
                  <a:pt x="3563161" y="60943"/>
                  <a:pt x="3563161" y="136119"/>
                </a:cubicBezTo>
                <a:lnTo>
                  <a:pt x="3563161" y="2457127"/>
                </a:lnTo>
                <a:cubicBezTo>
                  <a:pt x="3563161" y="2532303"/>
                  <a:pt x="3502218" y="2593246"/>
                  <a:pt x="3427041" y="2593246"/>
                </a:cubicBezTo>
                <a:lnTo>
                  <a:pt x="136119" y="2593246"/>
                </a:lnTo>
                <a:cubicBezTo>
                  <a:pt x="60943" y="2593246"/>
                  <a:pt x="0" y="2532303"/>
                  <a:pt x="0" y="2457127"/>
                </a:cubicBezTo>
                <a:lnTo>
                  <a:pt x="0" y="136119"/>
                </a:lnTo>
                <a:cubicBezTo>
                  <a:pt x="0" y="60943"/>
                  <a:pt x="60943" y="0"/>
                  <a:pt x="136119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5524" dist="850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8454318" y="3239749"/>
            <a:ext cx="3292606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HOG Feature Visualization</a:t>
            </a:r>
            <a:endParaRPr lang="en-US" sz="1600" dirty="0"/>
          </a:p>
        </p:txBody>
      </p:sp>
      <p:pic>
        <p:nvPicPr>
          <p:cNvPr id="50" name="Image 0" descr="https://kimi-web-img.moonshot.cn/img/learnopencv.com/d780789d6fbedb5961f747028084bdad305f5b1f.png"/>
          <p:cNvPicPr>
            <a:picLocks noChangeAspect="1"/>
          </p:cNvPicPr>
          <p:nvPr/>
        </p:nvPicPr>
        <p:blipFill>
          <a:blip r:embed="rId3"/>
          <a:srcRect t="62" b="62"/>
          <a:stretch/>
        </p:blipFill>
        <p:spPr>
          <a:xfrm>
            <a:off x="8551522" y="3580070"/>
            <a:ext cx="3028857" cy="1701605"/>
          </a:xfrm>
          <a:prstGeom prst="roundRect">
            <a:avLst>
              <a:gd name="adj" fmla="val 6000"/>
            </a:avLst>
          </a:prstGeom>
        </p:spPr>
      </p:pic>
      <p:sp>
        <p:nvSpPr>
          <p:cNvPr id="51" name="Text 48"/>
          <p:cNvSpPr/>
          <p:nvPr/>
        </p:nvSpPr>
        <p:spPr>
          <a:xfrm>
            <a:off x="8428794" y="5349635"/>
            <a:ext cx="3267082" cy="136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04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magnitude and orientation extraction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277351" y="5832783"/>
            <a:ext cx="3573371" cy="1020963"/>
          </a:xfrm>
          <a:custGeom>
            <a:avLst/>
            <a:gdLst/>
            <a:ahLst/>
            <a:cxnLst/>
            <a:rect l="l" t="t" r="r" b="b"/>
            <a:pathLst>
              <a:path w="3573371" h="1020963">
                <a:moveTo>
                  <a:pt x="136125" y="0"/>
                </a:moveTo>
                <a:lnTo>
                  <a:pt x="3437246" y="0"/>
                </a:lnTo>
                <a:cubicBezTo>
                  <a:pt x="3512425" y="0"/>
                  <a:pt x="3573371" y="60945"/>
                  <a:pt x="3573371" y="136125"/>
                </a:cubicBezTo>
                <a:lnTo>
                  <a:pt x="3573371" y="884838"/>
                </a:lnTo>
                <a:cubicBezTo>
                  <a:pt x="3573371" y="960018"/>
                  <a:pt x="3512425" y="1020963"/>
                  <a:pt x="3437246" y="1020963"/>
                </a:cubicBezTo>
                <a:lnTo>
                  <a:pt x="136125" y="1020963"/>
                </a:lnTo>
                <a:cubicBezTo>
                  <a:pt x="60945" y="1020963"/>
                  <a:pt x="0" y="960018"/>
                  <a:pt x="0" y="884838"/>
                </a:cubicBezTo>
                <a:lnTo>
                  <a:pt x="0" y="136125"/>
                </a:lnTo>
                <a:cubicBezTo>
                  <a:pt x="0" y="60996"/>
                  <a:pt x="60996" y="0"/>
                  <a:pt x="136125" y="0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8447512" y="6036976"/>
            <a:ext cx="212701" cy="170161"/>
          </a:xfrm>
          <a:custGeom>
            <a:avLst/>
            <a:gdLst/>
            <a:ahLst/>
            <a:cxnLst/>
            <a:rect l="l" t="t" r="r" b="b"/>
            <a:pathLst>
              <a:path w="212701" h="170161">
                <a:moveTo>
                  <a:pt x="127620" y="10635"/>
                </a:moveTo>
                <a:lnTo>
                  <a:pt x="170161" y="10635"/>
                </a:lnTo>
                <a:cubicBezTo>
                  <a:pt x="176043" y="10635"/>
                  <a:pt x="180796" y="15388"/>
                  <a:pt x="180796" y="21270"/>
                </a:cubicBezTo>
                <a:cubicBezTo>
                  <a:pt x="180796" y="27153"/>
                  <a:pt x="176043" y="31905"/>
                  <a:pt x="170161" y="31905"/>
                </a:cubicBezTo>
                <a:lnTo>
                  <a:pt x="132406" y="31905"/>
                </a:lnTo>
                <a:cubicBezTo>
                  <a:pt x="130678" y="40480"/>
                  <a:pt x="124795" y="47559"/>
                  <a:pt x="116985" y="50948"/>
                </a:cubicBezTo>
                <a:lnTo>
                  <a:pt x="116985" y="148890"/>
                </a:lnTo>
                <a:lnTo>
                  <a:pt x="170161" y="148890"/>
                </a:lnTo>
                <a:cubicBezTo>
                  <a:pt x="176043" y="148890"/>
                  <a:pt x="180796" y="153643"/>
                  <a:pt x="180796" y="159525"/>
                </a:cubicBezTo>
                <a:cubicBezTo>
                  <a:pt x="180796" y="165408"/>
                  <a:pt x="176043" y="170161"/>
                  <a:pt x="170161" y="170161"/>
                </a:cubicBezTo>
                <a:lnTo>
                  <a:pt x="42540" y="170161"/>
                </a:lnTo>
                <a:cubicBezTo>
                  <a:pt x="36658" y="170161"/>
                  <a:pt x="31905" y="165408"/>
                  <a:pt x="31905" y="159525"/>
                </a:cubicBezTo>
                <a:cubicBezTo>
                  <a:pt x="31905" y="153643"/>
                  <a:pt x="36658" y="148890"/>
                  <a:pt x="42540" y="148890"/>
                </a:cubicBezTo>
                <a:lnTo>
                  <a:pt x="95715" y="148890"/>
                </a:lnTo>
                <a:lnTo>
                  <a:pt x="95715" y="50948"/>
                </a:lnTo>
                <a:cubicBezTo>
                  <a:pt x="87905" y="47525"/>
                  <a:pt x="82023" y="40446"/>
                  <a:pt x="80294" y="31905"/>
                </a:cubicBezTo>
                <a:lnTo>
                  <a:pt x="42540" y="31905"/>
                </a:lnTo>
                <a:cubicBezTo>
                  <a:pt x="36658" y="31905"/>
                  <a:pt x="31905" y="27153"/>
                  <a:pt x="31905" y="21270"/>
                </a:cubicBezTo>
                <a:cubicBezTo>
                  <a:pt x="31905" y="15388"/>
                  <a:pt x="36658" y="10635"/>
                  <a:pt x="42540" y="10635"/>
                </a:cubicBezTo>
                <a:lnTo>
                  <a:pt x="85080" y="10635"/>
                </a:lnTo>
                <a:cubicBezTo>
                  <a:pt x="89932" y="4188"/>
                  <a:pt x="97643" y="0"/>
                  <a:pt x="106350" y="0"/>
                </a:cubicBezTo>
                <a:cubicBezTo>
                  <a:pt x="115058" y="0"/>
                  <a:pt x="122768" y="4188"/>
                  <a:pt x="127620" y="10635"/>
                </a:cubicBezTo>
                <a:close/>
                <a:moveTo>
                  <a:pt x="146099" y="106350"/>
                </a:moveTo>
                <a:lnTo>
                  <a:pt x="194222" y="106350"/>
                </a:lnTo>
                <a:lnTo>
                  <a:pt x="170161" y="65073"/>
                </a:lnTo>
                <a:lnTo>
                  <a:pt x="146099" y="106350"/>
                </a:lnTo>
                <a:close/>
                <a:moveTo>
                  <a:pt x="170161" y="138255"/>
                </a:moveTo>
                <a:cubicBezTo>
                  <a:pt x="149256" y="138255"/>
                  <a:pt x="131874" y="126956"/>
                  <a:pt x="128285" y="112033"/>
                </a:cubicBezTo>
                <a:cubicBezTo>
                  <a:pt x="127421" y="108378"/>
                  <a:pt x="128617" y="104622"/>
                  <a:pt x="130512" y="101365"/>
                </a:cubicBezTo>
                <a:lnTo>
                  <a:pt x="162151" y="47126"/>
                </a:lnTo>
                <a:cubicBezTo>
                  <a:pt x="163813" y="44268"/>
                  <a:pt x="166870" y="42540"/>
                  <a:pt x="170161" y="42540"/>
                </a:cubicBezTo>
                <a:cubicBezTo>
                  <a:pt x="173451" y="42540"/>
                  <a:pt x="176508" y="44302"/>
                  <a:pt x="178170" y="47126"/>
                </a:cubicBezTo>
                <a:lnTo>
                  <a:pt x="209809" y="101365"/>
                </a:lnTo>
                <a:cubicBezTo>
                  <a:pt x="211704" y="104622"/>
                  <a:pt x="212900" y="108378"/>
                  <a:pt x="212036" y="112033"/>
                </a:cubicBezTo>
                <a:cubicBezTo>
                  <a:pt x="208447" y="126922"/>
                  <a:pt x="191065" y="138255"/>
                  <a:pt x="170161" y="138255"/>
                </a:cubicBezTo>
                <a:close/>
                <a:moveTo>
                  <a:pt x="42141" y="65073"/>
                </a:moveTo>
                <a:lnTo>
                  <a:pt x="18080" y="106350"/>
                </a:lnTo>
                <a:lnTo>
                  <a:pt x="66236" y="106350"/>
                </a:lnTo>
                <a:lnTo>
                  <a:pt x="42141" y="65073"/>
                </a:lnTo>
                <a:close/>
                <a:moveTo>
                  <a:pt x="299" y="112033"/>
                </a:moveTo>
                <a:cubicBezTo>
                  <a:pt x="-565" y="108378"/>
                  <a:pt x="631" y="104622"/>
                  <a:pt x="2526" y="101365"/>
                </a:cubicBezTo>
                <a:lnTo>
                  <a:pt x="34165" y="47126"/>
                </a:lnTo>
                <a:cubicBezTo>
                  <a:pt x="35827" y="44268"/>
                  <a:pt x="38884" y="42540"/>
                  <a:pt x="42175" y="42540"/>
                </a:cubicBezTo>
                <a:cubicBezTo>
                  <a:pt x="45465" y="42540"/>
                  <a:pt x="48522" y="44302"/>
                  <a:pt x="50184" y="47126"/>
                </a:cubicBezTo>
                <a:lnTo>
                  <a:pt x="81823" y="101365"/>
                </a:lnTo>
                <a:cubicBezTo>
                  <a:pt x="83718" y="104622"/>
                  <a:pt x="84914" y="108378"/>
                  <a:pt x="84050" y="112033"/>
                </a:cubicBezTo>
                <a:cubicBezTo>
                  <a:pt x="80461" y="126922"/>
                  <a:pt x="63079" y="138255"/>
                  <a:pt x="42175" y="138255"/>
                </a:cubicBezTo>
                <a:cubicBezTo>
                  <a:pt x="21270" y="138255"/>
                  <a:pt x="3888" y="126956"/>
                  <a:pt x="299" y="112033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8762309" y="6002943"/>
            <a:ext cx="1029471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Baseline: KNN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447512" y="6343264"/>
            <a:ext cx="3292606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Instance-based classifier for comparison. Simple but computationally expensive at inference time.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0242" y="12799"/>
                </a:moveTo>
                <a:cubicBezTo>
                  <a:pt x="154707" y="10939"/>
                  <a:pt x="159804" y="11981"/>
                  <a:pt x="163227" y="15367"/>
                </a:cubicBezTo>
                <a:lnTo>
                  <a:pt x="187040" y="39179"/>
                </a:lnTo>
                <a:cubicBezTo>
                  <a:pt x="189272" y="41411"/>
                  <a:pt x="190537" y="44425"/>
                  <a:pt x="190537" y="47588"/>
                </a:cubicBezTo>
                <a:cubicBezTo>
                  <a:pt x="190537" y="50750"/>
                  <a:pt x="189272" y="53764"/>
                  <a:pt x="187040" y="55997"/>
                </a:cubicBezTo>
                <a:lnTo>
                  <a:pt x="163227" y="79809"/>
                </a:lnTo>
                <a:cubicBezTo>
                  <a:pt x="159804" y="83232"/>
                  <a:pt x="154707" y="84237"/>
                  <a:pt x="150242" y="82376"/>
                </a:cubicBezTo>
                <a:cubicBezTo>
                  <a:pt x="145777" y="80516"/>
                  <a:pt x="142875" y="76237"/>
                  <a:pt x="142875" y="71438"/>
                </a:cubicBezTo>
                <a:lnTo>
                  <a:pt x="142875" y="59531"/>
                </a:lnTo>
                <a:lnTo>
                  <a:pt x="130969" y="59531"/>
                </a:lnTo>
                <a:cubicBezTo>
                  <a:pt x="127211" y="59531"/>
                  <a:pt x="123676" y="61280"/>
                  <a:pt x="121444" y="64294"/>
                </a:cubicBezTo>
                <a:lnTo>
                  <a:pt x="109389" y="80367"/>
                </a:lnTo>
                <a:lnTo>
                  <a:pt x="94506" y="60536"/>
                </a:lnTo>
                <a:lnTo>
                  <a:pt x="102394" y="50006"/>
                </a:lnTo>
                <a:cubicBezTo>
                  <a:pt x="109128" y="41002"/>
                  <a:pt x="119732" y="35719"/>
                  <a:pt x="130969" y="35719"/>
                </a:cubicBezTo>
                <a:lnTo>
                  <a:pt x="142875" y="35719"/>
                </a:lnTo>
                <a:lnTo>
                  <a:pt x="142875" y="23812"/>
                </a:lnTo>
                <a:cubicBezTo>
                  <a:pt x="142875" y="19013"/>
                  <a:pt x="145777" y="14660"/>
                  <a:pt x="150242" y="12799"/>
                </a:cubicBezTo>
                <a:close/>
                <a:moveTo>
                  <a:pt x="57299" y="110133"/>
                </a:moveTo>
                <a:lnTo>
                  <a:pt x="72182" y="129964"/>
                </a:lnTo>
                <a:lnTo>
                  <a:pt x="64294" y="140494"/>
                </a:lnTo>
                <a:cubicBezTo>
                  <a:pt x="57559" y="149498"/>
                  <a:pt x="46955" y="154781"/>
                  <a:pt x="35719" y="154781"/>
                </a:cubicBezTo>
                <a:lnTo>
                  <a:pt x="11906" y="154781"/>
                </a:lnTo>
                <a:cubicBezTo>
                  <a:pt x="5321" y="154781"/>
                  <a:pt x="0" y="149461"/>
                  <a:pt x="0" y="142875"/>
                </a:cubicBezTo>
                <a:cubicBezTo>
                  <a:pt x="0" y="136289"/>
                  <a:pt x="5321" y="130969"/>
                  <a:pt x="11906" y="130969"/>
                </a:cubicBezTo>
                <a:lnTo>
                  <a:pt x="35719" y="130969"/>
                </a:lnTo>
                <a:cubicBezTo>
                  <a:pt x="39477" y="130969"/>
                  <a:pt x="43011" y="129220"/>
                  <a:pt x="45244" y="126206"/>
                </a:cubicBezTo>
                <a:lnTo>
                  <a:pt x="57299" y="110133"/>
                </a:lnTo>
                <a:close/>
                <a:moveTo>
                  <a:pt x="163190" y="175096"/>
                </a:moveTo>
                <a:cubicBezTo>
                  <a:pt x="159767" y="178519"/>
                  <a:pt x="154670" y="179524"/>
                  <a:pt x="150205" y="177664"/>
                </a:cubicBezTo>
                <a:cubicBezTo>
                  <a:pt x="145740" y="175803"/>
                  <a:pt x="142875" y="171487"/>
                  <a:pt x="142875" y="166688"/>
                </a:cubicBezTo>
                <a:lnTo>
                  <a:pt x="142875" y="154781"/>
                </a:lnTo>
                <a:lnTo>
                  <a:pt x="130969" y="154781"/>
                </a:lnTo>
                <a:cubicBezTo>
                  <a:pt x="119732" y="154781"/>
                  <a:pt x="109128" y="149498"/>
                  <a:pt x="102394" y="140494"/>
                </a:cubicBezTo>
                <a:lnTo>
                  <a:pt x="45244" y="64294"/>
                </a:lnTo>
                <a:cubicBezTo>
                  <a:pt x="43011" y="61280"/>
                  <a:pt x="39477" y="59531"/>
                  <a:pt x="35719" y="59531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cubicBezTo>
                  <a:pt x="46955" y="35719"/>
                  <a:pt x="57559" y="41002"/>
                  <a:pt x="64294" y="50006"/>
                </a:cubicBezTo>
                <a:lnTo>
                  <a:pt x="121444" y="126206"/>
                </a:lnTo>
                <a:cubicBezTo>
                  <a:pt x="123676" y="129220"/>
                  <a:pt x="127211" y="130969"/>
                  <a:pt x="130969" y="130969"/>
                </a:cubicBezTo>
                <a:lnTo>
                  <a:pt x="142875" y="130969"/>
                </a:lnTo>
                <a:lnTo>
                  <a:pt x="142875" y="119063"/>
                </a:lnTo>
                <a:cubicBezTo>
                  <a:pt x="142875" y="114263"/>
                  <a:pt x="145777" y="109910"/>
                  <a:pt x="150242" y="108049"/>
                </a:cubicBezTo>
                <a:cubicBezTo>
                  <a:pt x="154707" y="106189"/>
                  <a:pt x="159804" y="107231"/>
                  <a:pt x="163227" y="110617"/>
                </a:cubicBezTo>
                <a:lnTo>
                  <a:pt x="187040" y="134429"/>
                </a:lnTo>
                <a:cubicBezTo>
                  <a:pt x="189272" y="136661"/>
                  <a:pt x="190537" y="139675"/>
                  <a:pt x="190537" y="142838"/>
                </a:cubicBezTo>
                <a:cubicBezTo>
                  <a:pt x="190537" y="146000"/>
                  <a:pt x="189272" y="149014"/>
                  <a:pt x="187040" y="151247"/>
                </a:cubicBezTo>
                <a:lnTo>
                  <a:pt x="163227" y="175059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3362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3467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Split Strategy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6236970" cy="2503170"/>
          </a:xfrm>
          <a:custGeom>
            <a:avLst/>
            <a:gdLst/>
            <a:ahLst/>
            <a:cxnLst/>
            <a:rect l="l" t="t" r="r" b="b"/>
            <a:pathLst>
              <a:path w="6236970" h="2503170">
                <a:moveTo>
                  <a:pt x="152393" y="0"/>
                </a:moveTo>
                <a:lnTo>
                  <a:pt x="6084577" y="0"/>
                </a:lnTo>
                <a:cubicBezTo>
                  <a:pt x="6168741" y="0"/>
                  <a:pt x="6236970" y="68229"/>
                  <a:pt x="6236970" y="152393"/>
                </a:cubicBezTo>
                <a:lnTo>
                  <a:pt x="6236970" y="2350777"/>
                </a:lnTo>
                <a:cubicBezTo>
                  <a:pt x="6236970" y="2434941"/>
                  <a:pt x="6168741" y="2503170"/>
                  <a:pt x="6084577" y="2503170"/>
                </a:cubicBezTo>
                <a:lnTo>
                  <a:pt x="152393" y="2503170"/>
                </a:lnTo>
                <a:cubicBezTo>
                  <a:pt x="68229" y="2503170"/>
                  <a:pt x="0" y="2434941"/>
                  <a:pt x="0" y="23507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17220" y="1417320"/>
            <a:ext cx="5867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Distribution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" y="1874520"/>
            <a:ext cx="1819275" cy="1581150"/>
          </a:xfrm>
          <a:custGeom>
            <a:avLst/>
            <a:gdLst/>
            <a:ahLst/>
            <a:cxnLst/>
            <a:rect l="l" t="t" r="r" b="b"/>
            <a:pathLst>
              <a:path w="1819275" h="1581150">
                <a:moveTo>
                  <a:pt x="114301" y="0"/>
                </a:moveTo>
                <a:lnTo>
                  <a:pt x="1704974" y="0"/>
                </a:lnTo>
                <a:cubicBezTo>
                  <a:pt x="1768101" y="0"/>
                  <a:pt x="1819275" y="51174"/>
                  <a:pt x="1819275" y="114301"/>
                </a:cubicBezTo>
                <a:lnTo>
                  <a:pt x="1819275" y="1466849"/>
                </a:lnTo>
                <a:cubicBezTo>
                  <a:pt x="1819275" y="1529976"/>
                  <a:pt x="1768101" y="1581150"/>
                  <a:pt x="17049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70648" y="206502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6789" y="109277"/>
                </a:moveTo>
                <a:lnTo>
                  <a:pt x="143545" y="157330"/>
                </a:lnTo>
                <a:cubicBezTo>
                  <a:pt x="149014" y="159562"/>
                  <a:pt x="154818" y="160734"/>
                  <a:pt x="160734" y="160734"/>
                </a:cubicBezTo>
                <a:cubicBezTo>
                  <a:pt x="166650" y="160734"/>
                  <a:pt x="172455" y="159562"/>
                  <a:pt x="177924" y="157330"/>
                </a:cubicBezTo>
                <a:lnTo>
                  <a:pt x="313209" y="101631"/>
                </a:lnTo>
                <a:cubicBezTo>
                  <a:pt x="318232" y="99566"/>
                  <a:pt x="321469" y="94710"/>
                  <a:pt x="321469" y="89297"/>
                </a:cubicBezTo>
                <a:cubicBezTo>
                  <a:pt x="321469" y="83883"/>
                  <a:pt x="318232" y="79028"/>
                  <a:pt x="313209" y="76963"/>
                </a:cubicBezTo>
                <a:lnTo>
                  <a:pt x="177924" y="21264"/>
                </a:lnTo>
                <a:cubicBezTo>
                  <a:pt x="172455" y="19031"/>
                  <a:pt x="166650" y="17859"/>
                  <a:pt x="160734" y="17859"/>
                </a:cubicBezTo>
                <a:cubicBezTo>
                  <a:pt x="154818" y="17859"/>
                  <a:pt x="149014" y="19031"/>
                  <a:pt x="143545" y="21264"/>
                </a:cubicBezTo>
                <a:lnTo>
                  <a:pt x="8260" y="76963"/>
                </a:lnTo>
                <a:cubicBezTo>
                  <a:pt x="3237" y="79028"/>
                  <a:pt x="0" y="83883"/>
                  <a:pt x="0" y="89297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cubicBezTo>
                  <a:pt x="20817" y="267891"/>
                  <a:pt x="26789" y="261919"/>
                  <a:pt x="26789" y="254496"/>
                </a:cubicBezTo>
                <a:lnTo>
                  <a:pt x="26789" y="109277"/>
                </a:lnTo>
                <a:close/>
                <a:moveTo>
                  <a:pt x="53578" y="149293"/>
                </a:moveTo>
                <a:lnTo>
                  <a:pt x="53578" y="214313"/>
                </a:lnTo>
                <a:cubicBezTo>
                  <a:pt x="53578" y="243892"/>
                  <a:pt x="101575" y="267891"/>
                  <a:pt x="160734" y="267891"/>
                </a:cubicBezTo>
                <a:cubicBezTo>
                  <a:pt x="219894" y="267891"/>
                  <a:pt x="267891" y="243892"/>
                  <a:pt x="267891" y="214313"/>
                </a:cubicBezTo>
                <a:lnTo>
                  <a:pt x="267891" y="149237"/>
                </a:lnTo>
                <a:lnTo>
                  <a:pt x="188137" y="182110"/>
                </a:lnTo>
                <a:cubicBezTo>
                  <a:pt x="179431" y="185682"/>
                  <a:pt x="170166" y="187523"/>
                  <a:pt x="160734" y="187523"/>
                </a:cubicBezTo>
                <a:cubicBezTo>
                  <a:pt x="151302" y="187523"/>
                  <a:pt x="142038" y="185682"/>
                  <a:pt x="133331" y="182110"/>
                </a:cubicBezTo>
                <a:lnTo>
                  <a:pt x="53578" y="14923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1995" y="2465070"/>
            <a:ext cx="1609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40,000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383" y="288417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9145" y="3112770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93300" y="1874520"/>
            <a:ext cx="1819275" cy="1581150"/>
          </a:xfrm>
          <a:custGeom>
            <a:avLst/>
            <a:gdLst/>
            <a:ahLst/>
            <a:cxnLst/>
            <a:rect l="l" t="t" r="r" b="b"/>
            <a:pathLst>
              <a:path w="1819275" h="1581150">
                <a:moveTo>
                  <a:pt x="114301" y="0"/>
                </a:moveTo>
                <a:lnTo>
                  <a:pt x="1704974" y="0"/>
                </a:lnTo>
                <a:cubicBezTo>
                  <a:pt x="1768101" y="0"/>
                  <a:pt x="1819275" y="51174"/>
                  <a:pt x="1819275" y="114301"/>
                </a:cubicBezTo>
                <a:lnTo>
                  <a:pt x="1819275" y="1466849"/>
                </a:lnTo>
                <a:cubicBezTo>
                  <a:pt x="1819275" y="1529976"/>
                  <a:pt x="1768101" y="1581150"/>
                  <a:pt x="17049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DD6B20"/>
              </a:gs>
              <a:gs pos="100000">
                <a:srgbClr val="C05621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00306" y="206502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39471" y="37281"/>
                </a:moveTo>
                <a:cubicBezTo>
                  <a:pt x="145275" y="29301"/>
                  <a:pt x="143489" y="18138"/>
                  <a:pt x="135508" y="12334"/>
                </a:cubicBezTo>
                <a:cubicBezTo>
                  <a:pt x="127527" y="6530"/>
                  <a:pt x="116365" y="8316"/>
                  <a:pt x="110561" y="16297"/>
                </a:cubicBezTo>
                <a:lnTo>
                  <a:pt x="51402" y="97613"/>
                </a:lnTo>
                <a:lnTo>
                  <a:pt x="30473" y="76684"/>
                </a:lnTo>
                <a:cubicBezTo>
                  <a:pt x="23496" y="69707"/>
                  <a:pt x="12167" y="69707"/>
                  <a:pt x="5190" y="76684"/>
                </a:cubicBezTo>
                <a:cubicBezTo>
                  <a:pt x="-1786" y="83660"/>
                  <a:pt x="-1786" y="94990"/>
                  <a:pt x="5190" y="101966"/>
                </a:cubicBezTo>
                <a:lnTo>
                  <a:pt x="40909" y="137685"/>
                </a:lnTo>
                <a:cubicBezTo>
                  <a:pt x="44593" y="141368"/>
                  <a:pt x="49727" y="143266"/>
                  <a:pt x="54918" y="142875"/>
                </a:cubicBezTo>
                <a:cubicBezTo>
                  <a:pt x="60108" y="142484"/>
                  <a:pt x="64908" y="139805"/>
                  <a:pt x="67977" y="135564"/>
                </a:cubicBezTo>
                <a:lnTo>
                  <a:pt x="139415" y="37337"/>
                </a:lnTo>
                <a:close/>
                <a:moveTo>
                  <a:pt x="210908" y="113184"/>
                </a:moveTo>
                <a:cubicBezTo>
                  <a:pt x="216712" y="105203"/>
                  <a:pt x="214926" y="94041"/>
                  <a:pt x="206946" y="88236"/>
                </a:cubicBezTo>
                <a:cubicBezTo>
                  <a:pt x="198965" y="82432"/>
                  <a:pt x="187802" y="84218"/>
                  <a:pt x="181998" y="92199"/>
                </a:cubicBezTo>
                <a:lnTo>
                  <a:pt x="87120" y="222628"/>
                </a:lnTo>
                <a:lnTo>
                  <a:pt x="48332" y="183840"/>
                </a:lnTo>
                <a:cubicBezTo>
                  <a:pt x="41356" y="176864"/>
                  <a:pt x="30026" y="176864"/>
                  <a:pt x="23050" y="183840"/>
                </a:cubicBezTo>
                <a:cubicBezTo>
                  <a:pt x="16073" y="190816"/>
                  <a:pt x="16073" y="202146"/>
                  <a:pt x="23050" y="209122"/>
                </a:cubicBezTo>
                <a:lnTo>
                  <a:pt x="76628" y="262700"/>
                </a:lnTo>
                <a:cubicBezTo>
                  <a:pt x="80311" y="266384"/>
                  <a:pt x="85446" y="268281"/>
                  <a:pt x="90636" y="267891"/>
                </a:cubicBezTo>
                <a:cubicBezTo>
                  <a:pt x="95827" y="267500"/>
                  <a:pt x="100626" y="264821"/>
                  <a:pt x="103696" y="260579"/>
                </a:cubicBezTo>
                <a:lnTo>
                  <a:pt x="210852" y="11324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98075" y="2465070"/>
            <a:ext cx="1609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50463" y="288417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755225" y="3112770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69381" y="1874520"/>
            <a:ext cx="1819275" cy="1581150"/>
          </a:xfrm>
          <a:custGeom>
            <a:avLst/>
            <a:gdLst/>
            <a:ahLst/>
            <a:cxnLst/>
            <a:rect l="l" t="t" r="r" b="b"/>
            <a:pathLst>
              <a:path w="1819275" h="1581150">
                <a:moveTo>
                  <a:pt x="114301" y="0"/>
                </a:moveTo>
                <a:lnTo>
                  <a:pt x="1704974" y="0"/>
                </a:lnTo>
                <a:cubicBezTo>
                  <a:pt x="1768101" y="0"/>
                  <a:pt x="1819275" y="51174"/>
                  <a:pt x="1819275" y="114301"/>
                </a:cubicBezTo>
                <a:lnTo>
                  <a:pt x="1819275" y="1466849"/>
                </a:lnTo>
                <a:cubicBezTo>
                  <a:pt x="1819275" y="1529976"/>
                  <a:pt x="1768101" y="1581150"/>
                  <a:pt x="1704974" y="1581150"/>
                </a:cubicBezTo>
                <a:lnTo>
                  <a:pt x="114301" y="1581150"/>
                </a:lnTo>
                <a:cubicBezTo>
                  <a:pt x="51174" y="1581150"/>
                  <a:pt x="0" y="1529976"/>
                  <a:pt x="0" y="14668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2E"/>
              </a:gs>
              <a:gs pos="100000">
                <a:srgbClr val="2D374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58527" y="206502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60734" y="0"/>
                </a:moveTo>
                <a:lnTo>
                  <a:pt x="71438" y="0"/>
                </a:lnTo>
                <a:cubicBezTo>
                  <a:pt x="61559" y="0"/>
                  <a:pt x="53578" y="7981"/>
                  <a:pt x="53578" y="17859"/>
                </a:cubicBezTo>
                <a:cubicBezTo>
                  <a:pt x="53578" y="27738"/>
                  <a:pt x="61559" y="35719"/>
                  <a:pt x="71438" y="35719"/>
                </a:cubicBezTo>
                <a:lnTo>
                  <a:pt x="71438" y="120272"/>
                </a:lnTo>
                <a:lnTo>
                  <a:pt x="4186" y="237920"/>
                </a:lnTo>
                <a:cubicBezTo>
                  <a:pt x="1451" y="242776"/>
                  <a:pt x="0" y="248190"/>
                  <a:pt x="0" y="253771"/>
                </a:cubicBezTo>
                <a:cubicBezTo>
                  <a:pt x="0" y="271463"/>
                  <a:pt x="14288" y="285750"/>
                  <a:pt x="31979" y="285750"/>
                </a:cubicBezTo>
                <a:lnTo>
                  <a:pt x="218052" y="285750"/>
                </a:lnTo>
                <a:cubicBezTo>
                  <a:pt x="235688" y="285750"/>
                  <a:pt x="250031" y="271463"/>
                  <a:pt x="250031" y="253771"/>
                </a:cubicBezTo>
                <a:cubicBezTo>
                  <a:pt x="250031" y="248190"/>
                  <a:pt x="248580" y="242720"/>
                  <a:pt x="245845" y="237920"/>
                </a:cubicBezTo>
                <a:lnTo>
                  <a:pt x="178594" y="120272"/>
                </a:lnTo>
                <a:lnTo>
                  <a:pt x="178594" y="35719"/>
                </a:lnTo>
                <a:cubicBezTo>
                  <a:pt x="188472" y="35719"/>
                  <a:pt x="196453" y="27738"/>
                  <a:pt x="196453" y="17859"/>
                </a:cubicBezTo>
                <a:cubicBezTo>
                  <a:pt x="196453" y="7981"/>
                  <a:pt x="188472" y="0"/>
                  <a:pt x="178594" y="0"/>
                </a:cubicBezTo>
                <a:lnTo>
                  <a:pt x="160734" y="0"/>
                </a:lnTo>
                <a:close/>
                <a:moveTo>
                  <a:pt x="107156" y="120272"/>
                </a:moveTo>
                <a:lnTo>
                  <a:pt x="107156" y="35719"/>
                </a:lnTo>
                <a:lnTo>
                  <a:pt x="142875" y="35719"/>
                </a:lnTo>
                <a:lnTo>
                  <a:pt x="142875" y="120272"/>
                </a:lnTo>
                <a:cubicBezTo>
                  <a:pt x="142875" y="126467"/>
                  <a:pt x="144494" y="132606"/>
                  <a:pt x="147563" y="138019"/>
                </a:cubicBezTo>
                <a:lnTo>
                  <a:pt x="170780" y="178594"/>
                </a:lnTo>
                <a:lnTo>
                  <a:pt x="79251" y="178594"/>
                </a:lnTo>
                <a:lnTo>
                  <a:pt x="102468" y="138019"/>
                </a:lnTo>
                <a:cubicBezTo>
                  <a:pt x="105538" y="132606"/>
                  <a:pt x="107156" y="126523"/>
                  <a:pt x="107156" y="120272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74156" y="2465070"/>
            <a:ext cx="1609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10,000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26543" y="2884170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31306" y="3112770"/>
            <a:ext cx="14954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Held Out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4810" y="3886082"/>
            <a:ext cx="6236970" cy="2903220"/>
          </a:xfrm>
          <a:custGeom>
            <a:avLst/>
            <a:gdLst/>
            <a:ahLst/>
            <a:cxnLst/>
            <a:rect l="l" t="t" r="r" b="b"/>
            <a:pathLst>
              <a:path w="6236970" h="2903220">
                <a:moveTo>
                  <a:pt x="152390" y="0"/>
                </a:moveTo>
                <a:lnTo>
                  <a:pt x="6084580" y="0"/>
                </a:lnTo>
                <a:cubicBezTo>
                  <a:pt x="6168686" y="0"/>
                  <a:pt x="6236970" y="68284"/>
                  <a:pt x="6236970" y="152390"/>
                </a:cubicBezTo>
                <a:lnTo>
                  <a:pt x="6236970" y="2750830"/>
                </a:lnTo>
                <a:cubicBezTo>
                  <a:pt x="6236970" y="2834993"/>
                  <a:pt x="6168743" y="2903220"/>
                  <a:pt x="6084580" y="2903220"/>
                </a:cubicBezTo>
                <a:lnTo>
                  <a:pt x="152390" y="2903220"/>
                </a:lnTo>
                <a:cubicBezTo>
                  <a:pt x="68284" y="2903220"/>
                  <a:pt x="0" y="2834936"/>
                  <a:pt x="0" y="2750830"/>
                </a:cubicBezTo>
                <a:lnTo>
                  <a:pt x="0" y="152390"/>
                </a:lnTo>
                <a:cubicBezTo>
                  <a:pt x="0" y="68284"/>
                  <a:pt x="68284" y="0"/>
                  <a:pt x="152390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41033" y="415659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55345" y="4118490"/>
            <a:ext cx="562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Validation Matters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7220" y="45375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8427" y="459474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36320" y="453759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tuning without data leakage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36320" y="4766190"/>
            <a:ext cx="3009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overfitting to test set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220" y="50709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5568" y="512814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6320" y="507099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selection (SVM vs. KNN)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36320" y="529959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Compare performance on unseen data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" y="56043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3901" y="566154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36320" y="560439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Early stopping detection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36320" y="583299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for convergence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7220" y="613779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35687" y="619494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36320" y="6137790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Unbiased test set for final evaluation only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36320" y="6366390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ONCE at final evaluation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861810" y="1184910"/>
            <a:ext cx="4941570" cy="5608320"/>
          </a:xfrm>
          <a:custGeom>
            <a:avLst/>
            <a:gdLst/>
            <a:ahLst/>
            <a:cxnLst/>
            <a:rect l="l" t="t" r="r" b="b"/>
            <a:pathLst>
              <a:path w="4941570" h="5608320">
                <a:moveTo>
                  <a:pt x="152398" y="0"/>
                </a:moveTo>
                <a:lnTo>
                  <a:pt x="4789172" y="0"/>
                </a:lnTo>
                <a:cubicBezTo>
                  <a:pt x="4873283" y="0"/>
                  <a:pt x="4941570" y="68287"/>
                  <a:pt x="4941570" y="152398"/>
                </a:cubicBezTo>
                <a:lnTo>
                  <a:pt x="4941570" y="5455922"/>
                </a:lnTo>
                <a:cubicBezTo>
                  <a:pt x="4941570" y="5540089"/>
                  <a:pt x="4873339" y="5608320"/>
                  <a:pt x="4789172" y="5608320"/>
                </a:cubicBezTo>
                <a:lnTo>
                  <a:pt x="152398" y="5608320"/>
                </a:lnTo>
                <a:cubicBezTo>
                  <a:pt x="68287" y="5608320"/>
                  <a:pt x="0" y="5540033"/>
                  <a:pt x="0" y="5455922"/>
                </a:cubicBezTo>
                <a:lnTo>
                  <a:pt x="0" y="152398"/>
                </a:lnTo>
                <a:cubicBezTo>
                  <a:pt x="0" y="68231"/>
                  <a:pt x="68231" y="0"/>
                  <a:pt x="15239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013257" y="1379220"/>
            <a:ext cx="463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Stratified Split Visualization</a:t>
            </a:r>
            <a:endParaRPr lang="en-US" sz="1600" dirty="0"/>
          </a:p>
        </p:txBody>
      </p:sp>
      <p:pic>
        <p:nvPicPr>
          <p:cNvPr id="44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964" y="1684020"/>
            <a:ext cx="5102446" cy="469749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911" y="413898"/>
            <a:ext cx="431894" cy="431894"/>
          </a:xfrm>
          <a:custGeom>
            <a:avLst/>
            <a:gdLst/>
            <a:ahLst/>
            <a:cxnLst/>
            <a:rect l="l" t="t" r="r" b="b"/>
            <a:pathLst>
              <a:path w="431894" h="431894">
                <a:moveTo>
                  <a:pt x="107973" y="0"/>
                </a:moveTo>
                <a:lnTo>
                  <a:pt x="323920" y="0"/>
                </a:lnTo>
                <a:cubicBezTo>
                  <a:pt x="383552" y="0"/>
                  <a:pt x="431894" y="48341"/>
                  <a:pt x="431894" y="107973"/>
                </a:cubicBezTo>
                <a:lnTo>
                  <a:pt x="431894" y="323920"/>
                </a:lnTo>
                <a:cubicBezTo>
                  <a:pt x="431894" y="383552"/>
                  <a:pt x="383552" y="431894"/>
                  <a:pt x="323920" y="431894"/>
                </a:cubicBezTo>
                <a:lnTo>
                  <a:pt x="107973" y="431894"/>
                </a:lnTo>
                <a:cubicBezTo>
                  <a:pt x="48341" y="431894"/>
                  <a:pt x="0" y="383552"/>
                  <a:pt x="0" y="323920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85880" y="539867"/>
            <a:ext cx="179956" cy="179956"/>
          </a:xfrm>
          <a:custGeom>
            <a:avLst/>
            <a:gdLst/>
            <a:ahLst/>
            <a:cxnLst/>
            <a:rect l="l" t="t" r="r" b="b"/>
            <a:pathLst>
              <a:path w="179956" h="179956">
                <a:moveTo>
                  <a:pt x="0" y="33742"/>
                </a:moveTo>
                <a:cubicBezTo>
                  <a:pt x="0" y="27521"/>
                  <a:pt x="5026" y="22494"/>
                  <a:pt x="11247" y="22494"/>
                </a:cubicBezTo>
                <a:lnTo>
                  <a:pt x="146214" y="22494"/>
                </a:lnTo>
                <a:cubicBezTo>
                  <a:pt x="152435" y="22494"/>
                  <a:pt x="157461" y="27521"/>
                  <a:pt x="157461" y="33742"/>
                </a:cubicBezTo>
                <a:cubicBezTo>
                  <a:pt x="157461" y="39963"/>
                  <a:pt x="152435" y="44989"/>
                  <a:pt x="146214" y="44989"/>
                </a:cubicBezTo>
                <a:lnTo>
                  <a:pt x="11247" y="44989"/>
                </a:lnTo>
                <a:cubicBezTo>
                  <a:pt x="5026" y="44989"/>
                  <a:pt x="0" y="39963"/>
                  <a:pt x="0" y="33742"/>
                </a:cubicBezTo>
                <a:close/>
                <a:moveTo>
                  <a:pt x="22494" y="89978"/>
                </a:moveTo>
                <a:cubicBezTo>
                  <a:pt x="22494" y="83757"/>
                  <a:pt x="27521" y="78731"/>
                  <a:pt x="33742" y="78731"/>
                </a:cubicBezTo>
                <a:lnTo>
                  <a:pt x="168708" y="78731"/>
                </a:lnTo>
                <a:cubicBezTo>
                  <a:pt x="174930" y="78731"/>
                  <a:pt x="179956" y="83757"/>
                  <a:pt x="179956" y="89978"/>
                </a:cubicBezTo>
                <a:cubicBezTo>
                  <a:pt x="179956" y="96199"/>
                  <a:pt x="174930" y="101225"/>
                  <a:pt x="168708" y="101225"/>
                </a:cubicBezTo>
                <a:lnTo>
                  <a:pt x="33742" y="101225"/>
                </a:lnTo>
                <a:cubicBezTo>
                  <a:pt x="27521" y="101225"/>
                  <a:pt x="22494" y="96199"/>
                  <a:pt x="22494" y="89978"/>
                </a:cubicBezTo>
                <a:close/>
                <a:moveTo>
                  <a:pt x="157461" y="146214"/>
                </a:moveTo>
                <a:cubicBezTo>
                  <a:pt x="157461" y="152435"/>
                  <a:pt x="152435" y="157461"/>
                  <a:pt x="146214" y="157461"/>
                </a:cubicBezTo>
                <a:lnTo>
                  <a:pt x="11247" y="157461"/>
                </a:lnTo>
                <a:cubicBezTo>
                  <a:pt x="5026" y="157461"/>
                  <a:pt x="0" y="152435"/>
                  <a:pt x="0" y="146214"/>
                </a:cubicBezTo>
                <a:cubicBezTo>
                  <a:pt x="0" y="139993"/>
                  <a:pt x="5026" y="134967"/>
                  <a:pt x="11247" y="134967"/>
                </a:cubicBezTo>
                <a:lnTo>
                  <a:pt x="146214" y="134967"/>
                </a:lnTo>
                <a:cubicBezTo>
                  <a:pt x="152435" y="134967"/>
                  <a:pt x="157461" y="139993"/>
                  <a:pt x="157461" y="14621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35770" y="359911"/>
            <a:ext cx="520072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b="1" kern="0" spc="50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5770" y="539867"/>
            <a:ext cx="5299696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51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1 Feature Engineering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3511" y="1119325"/>
            <a:ext cx="7466363" cy="799003"/>
          </a:xfrm>
          <a:custGeom>
            <a:avLst/>
            <a:gdLst/>
            <a:ahLst/>
            <a:cxnLst/>
            <a:rect l="l" t="t" r="r" b="b"/>
            <a:pathLst>
              <a:path w="7466363" h="799003">
                <a:moveTo>
                  <a:pt x="107977" y="0"/>
                </a:moveTo>
                <a:lnTo>
                  <a:pt x="7358385" y="0"/>
                </a:lnTo>
                <a:cubicBezTo>
                  <a:pt x="7418020" y="0"/>
                  <a:pt x="7466363" y="48343"/>
                  <a:pt x="7466363" y="107977"/>
                </a:cubicBezTo>
                <a:lnTo>
                  <a:pt x="7466363" y="691026"/>
                </a:lnTo>
                <a:cubicBezTo>
                  <a:pt x="7466363" y="750660"/>
                  <a:pt x="7418020" y="799003"/>
                  <a:pt x="7358385" y="799003"/>
                </a:cubicBezTo>
                <a:lnTo>
                  <a:pt x="107977" y="799003"/>
                </a:lnTo>
                <a:cubicBezTo>
                  <a:pt x="48343" y="799003"/>
                  <a:pt x="0" y="750660"/>
                  <a:pt x="0" y="691026"/>
                </a:cubicBezTo>
                <a:lnTo>
                  <a:pt x="0" y="107977"/>
                </a:lnTo>
                <a:cubicBezTo>
                  <a:pt x="0" y="48383"/>
                  <a:pt x="48383" y="0"/>
                  <a:pt x="10797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6993" dist="899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11074" y="1266889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8708" y="1374862"/>
            <a:ext cx="179956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8915" y="1302880"/>
            <a:ext cx="5812570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Image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8915" y="1554818"/>
            <a:ext cx="5794574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32×32×3 = 3,072 pixels (RGB)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01864" y="1284884"/>
            <a:ext cx="782807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25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3,072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2844" y="1608805"/>
            <a:ext cx="701827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15937" y="2029901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71448" y="211982"/>
                </a:moveTo>
                <a:cubicBezTo>
                  <a:pt x="76720" y="217254"/>
                  <a:pt x="85282" y="217254"/>
                  <a:pt x="90554" y="211982"/>
                </a:cubicBezTo>
                <a:lnTo>
                  <a:pt x="158038" y="144499"/>
                </a:lnTo>
                <a:cubicBezTo>
                  <a:pt x="163310" y="139227"/>
                  <a:pt x="163310" y="130665"/>
                  <a:pt x="158038" y="125393"/>
                </a:cubicBezTo>
                <a:cubicBezTo>
                  <a:pt x="152766" y="120120"/>
                  <a:pt x="144204" y="120120"/>
                  <a:pt x="138931" y="125393"/>
                </a:cubicBezTo>
                <a:lnTo>
                  <a:pt x="94477" y="169847"/>
                </a:lnTo>
                <a:lnTo>
                  <a:pt x="94477" y="13497"/>
                </a:lnTo>
                <a:cubicBezTo>
                  <a:pt x="94477" y="6031"/>
                  <a:pt x="88445" y="0"/>
                  <a:pt x="80980" y="0"/>
                </a:cubicBezTo>
                <a:cubicBezTo>
                  <a:pt x="73515" y="0"/>
                  <a:pt x="67483" y="6031"/>
                  <a:pt x="67483" y="13497"/>
                </a:cubicBezTo>
                <a:lnTo>
                  <a:pt x="67483" y="169847"/>
                </a:lnTo>
                <a:lnTo>
                  <a:pt x="23029" y="125393"/>
                </a:lnTo>
                <a:cubicBezTo>
                  <a:pt x="17757" y="120120"/>
                  <a:pt x="9195" y="120120"/>
                  <a:pt x="3922" y="125393"/>
                </a:cubicBezTo>
                <a:cubicBezTo>
                  <a:pt x="-1350" y="130665"/>
                  <a:pt x="-1350" y="139227"/>
                  <a:pt x="3922" y="144499"/>
                </a:cubicBezTo>
                <a:lnTo>
                  <a:pt x="71406" y="211982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3511" y="2357421"/>
            <a:ext cx="7466363" cy="799003"/>
          </a:xfrm>
          <a:custGeom>
            <a:avLst/>
            <a:gdLst/>
            <a:ahLst/>
            <a:cxnLst/>
            <a:rect l="l" t="t" r="r" b="b"/>
            <a:pathLst>
              <a:path w="7466363" h="799003">
                <a:moveTo>
                  <a:pt x="107977" y="0"/>
                </a:moveTo>
                <a:lnTo>
                  <a:pt x="7358385" y="0"/>
                </a:lnTo>
                <a:cubicBezTo>
                  <a:pt x="7418020" y="0"/>
                  <a:pt x="7466363" y="48343"/>
                  <a:pt x="7466363" y="107977"/>
                </a:cubicBezTo>
                <a:lnTo>
                  <a:pt x="7466363" y="691026"/>
                </a:lnTo>
                <a:cubicBezTo>
                  <a:pt x="7466363" y="750660"/>
                  <a:pt x="7418020" y="799003"/>
                  <a:pt x="7358385" y="799003"/>
                </a:cubicBezTo>
                <a:lnTo>
                  <a:pt x="107977" y="799003"/>
                </a:lnTo>
                <a:cubicBezTo>
                  <a:pt x="48343" y="799003"/>
                  <a:pt x="0" y="750660"/>
                  <a:pt x="0" y="691026"/>
                </a:cubicBezTo>
                <a:lnTo>
                  <a:pt x="0" y="107977"/>
                </a:lnTo>
                <a:cubicBezTo>
                  <a:pt x="0" y="48383"/>
                  <a:pt x="48383" y="0"/>
                  <a:pt x="10797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6993" dist="899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1074" y="2504985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013" y="2612958"/>
            <a:ext cx="21594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8915" y="2540976"/>
            <a:ext cx="5857559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Grayscale Conversion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8915" y="2792914"/>
            <a:ext cx="583956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color dependency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6966" y="2522981"/>
            <a:ext cx="737818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25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1,024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027946" y="2846901"/>
            <a:ext cx="656838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15937" y="3267995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71448" y="211982"/>
                </a:moveTo>
                <a:cubicBezTo>
                  <a:pt x="76720" y="217254"/>
                  <a:pt x="85282" y="217254"/>
                  <a:pt x="90554" y="211982"/>
                </a:cubicBezTo>
                <a:lnTo>
                  <a:pt x="158038" y="144499"/>
                </a:lnTo>
                <a:cubicBezTo>
                  <a:pt x="163310" y="139227"/>
                  <a:pt x="163310" y="130665"/>
                  <a:pt x="158038" y="125393"/>
                </a:cubicBezTo>
                <a:cubicBezTo>
                  <a:pt x="152766" y="120120"/>
                  <a:pt x="144204" y="120120"/>
                  <a:pt x="138931" y="125393"/>
                </a:cubicBezTo>
                <a:lnTo>
                  <a:pt x="94477" y="169847"/>
                </a:lnTo>
                <a:lnTo>
                  <a:pt x="94477" y="13497"/>
                </a:lnTo>
                <a:cubicBezTo>
                  <a:pt x="94477" y="6031"/>
                  <a:pt x="88445" y="0"/>
                  <a:pt x="80980" y="0"/>
                </a:cubicBezTo>
                <a:cubicBezTo>
                  <a:pt x="73515" y="0"/>
                  <a:pt x="67483" y="6031"/>
                  <a:pt x="67483" y="13497"/>
                </a:cubicBezTo>
                <a:lnTo>
                  <a:pt x="67483" y="169847"/>
                </a:lnTo>
                <a:lnTo>
                  <a:pt x="23029" y="125393"/>
                </a:lnTo>
                <a:cubicBezTo>
                  <a:pt x="17757" y="120120"/>
                  <a:pt x="9195" y="120120"/>
                  <a:pt x="3922" y="125393"/>
                </a:cubicBezTo>
                <a:cubicBezTo>
                  <a:pt x="-1350" y="130665"/>
                  <a:pt x="-1350" y="139227"/>
                  <a:pt x="3922" y="144499"/>
                </a:cubicBezTo>
                <a:lnTo>
                  <a:pt x="71406" y="211982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3511" y="3595515"/>
            <a:ext cx="7466363" cy="799003"/>
          </a:xfrm>
          <a:custGeom>
            <a:avLst/>
            <a:gdLst/>
            <a:ahLst/>
            <a:cxnLst/>
            <a:rect l="l" t="t" r="r" b="b"/>
            <a:pathLst>
              <a:path w="7466363" h="799003">
                <a:moveTo>
                  <a:pt x="107977" y="0"/>
                </a:moveTo>
                <a:lnTo>
                  <a:pt x="7358385" y="0"/>
                </a:lnTo>
                <a:cubicBezTo>
                  <a:pt x="7418020" y="0"/>
                  <a:pt x="7466363" y="48343"/>
                  <a:pt x="7466363" y="107977"/>
                </a:cubicBezTo>
                <a:lnTo>
                  <a:pt x="7466363" y="691026"/>
                </a:lnTo>
                <a:cubicBezTo>
                  <a:pt x="7466363" y="750660"/>
                  <a:pt x="7418020" y="799003"/>
                  <a:pt x="7358385" y="799003"/>
                </a:cubicBezTo>
                <a:lnTo>
                  <a:pt x="107977" y="799003"/>
                </a:lnTo>
                <a:cubicBezTo>
                  <a:pt x="48343" y="799003"/>
                  <a:pt x="0" y="750660"/>
                  <a:pt x="0" y="691026"/>
                </a:cubicBezTo>
                <a:lnTo>
                  <a:pt x="0" y="107977"/>
                </a:lnTo>
                <a:cubicBezTo>
                  <a:pt x="0" y="48383"/>
                  <a:pt x="48383" y="0"/>
                  <a:pt x="10797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6993" dist="899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1074" y="3743079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5201" y="3851052"/>
            <a:ext cx="224945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8915" y="3779070"/>
            <a:ext cx="60465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HOG Feature Extraction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58915" y="4031008"/>
            <a:ext cx="602851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 orientations • 8×8 cells • 2×2 blocks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28946" y="3761075"/>
            <a:ext cx="557863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25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09926" y="4084995"/>
            <a:ext cx="476883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15937" y="4506092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71448" y="211982"/>
                </a:moveTo>
                <a:cubicBezTo>
                  <a:pt x="76720" y="217254"/>
                  <a:pt x="85282" y="217254"/>
                  <a:pt x="90554" y="211982"/>
                </a:cubicBezTo>
                <a:lnTo>
                  <a:pt x="158038" y="144499"/>
                </a:lnTo>
                <a:cubicBezTo>
                  <a:pt x="163310" y="139227"/>
                  <a:pt x="163310" y="130665"/>
                  <a:pt x="158038" y="125393"/>
                </a:cubicBezTo>
                <a:cubicBezTo>
                  <a:pt x="152766" y="120120"/>
                  <a:pt x="144204" y="120120"/>
                  <a:pt x="138931" y="125393"/>
                </a:cubicBezTo>
                <a:lnTo>
                  <a:pt x="94477" y="169847"/>
                </a:lnTo>
                <a:lnTo>
                  <a:pt x="94477" y="13497"/>
                </a:lnTo>
                <a:cubicBezTo>
                  <a:pt x="94477" y="6031"/>
                  <a:pt x="88445" y="0"/>
                  <a:pt x="80980" y="0"/>
                </a:cubicBezTo>
                <a:cubicBezTo>
                  <a:pt x="73515" y="0"/>
                  <a:pt x="67483" y="6031"/>
                  <a:pt x="67483" y="13497"/>
                </a:cubicBezTo>
                <a:lnTo>
                  <a:pt x="67483" y="169847"/>
                </a:lnTo>
                <a:lnTo>
                  <a:pt x="23029" y="125393"/>
                </a:lnTo>
                <a:cubicBezTo>
                  <a:pt x="17757" y="120120"/>
                  <a:pt x="9195" y="120120"/>
                  <a:pt x="3922" y="125393"/>
                </a:cubicBezTo>
                <a:cubicBezTo>
                  <a:pt x="-1350" y="130665"/>
                  <a:pt x="-1350" y="139227"/>
                  <a:pt x="3922" y="144499"/>
                </a:cubicBezTo>
                <a:lnTo>
                  <a:pt x="71406" y="211982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63511" y="4833611"/>
            <a:ext cx="7466363" cy="799003"/>
          </a:xfrm>
          <a:custGeom>
            <a:avLst/>
            <a:gdLst/>
            <a:ahLst/>
            <a:cxnLst/>
            <a:rect l="l" t="t" r="r" b="b"/>
            <a:pathLst>
              <a:path w="7466363" h="799003">
                <a:moveTo>
                  <a:pt x="107977" y="0"/>
                </a:moveTo>
                <a:lnTo>
                  <a:pt x="7358385" y="0"/>
                </a:lnTo>
                <a:cubicBezTo>
                  <a:pt x="7418020" y="0"/>
                  <a:pt x="7466363" y="48343"/>
                  <a:pt x="7466363" y="107977"/>
                </a:cubicBezTo>
                <a:lnTo>
                  <a:pt x="7466363" y="691026"/>
                </a:lnTo>
                <a:cubicBezTo>
                  <a:pt x="7466363" y="750660"/>
                  <a:pt x="7418020" y="799003"/>
                  <a:pt x="7358385" y="799003"/>
                </a:cubicBezTo>
                <a:lnTo>
                  <a:pt x="107977" y="799003"/>
                </a:lnTo>
                <a:cubicBezTo>
                  <a:pt x="48343" y="799003"/>
                  <a:pt x="0" y="750660"/>
                  <a:pt x="0" y="691026"/>
                </a:cubicBezTo>
                <a:lnTo>
                  <a:pt x="0" y="107977"/>
                </a:lnTo>
                <a:cubicBezTo>
                  <a:pt x="0" y="48383"/>
                  <a:pt x="48383" y="0"/>
                  <a:pt x="10797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6993" dist="899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11074" y="4981175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solidFill>
            <a:srgbClr val="DD6B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8126" y="5089149"/>
            <a:ext cx="215947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58915" y="5017166"/>
            <a:ext cx="6046512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58915" y="5269104"/>
            <a:ext cx="6028517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mean, unit variance normalization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28946" y="4999171"/>
            <a:ext cx="557863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25" b="1" dirty="0">
                <a:solidFill>
                  <a:srgbClr val="DD6B2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09926" y="5323091"/>
            <a:ext cx="476883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015937" y="5744188"/>
            <a:ext cx="161960" cy="215947"/>
          </a:xfrm>
          <a:custGeom>
            <a:avLst/>
            <a:gdLst/>
            <a:ahLst/>
            <a:cxnLst/>
            <a:rect l="l" t="t" r="r" b="b"/>
            <a:pathLst>
              <a:path w="161960" h="215947">
                <a:moveTo>
                  <a:pt x="71448" y="211982"/>
                </a:moveTo>
                <a:cubicBezTo>
                  <a:pt x="76720" y="217254"/>
                  <a:pt x="85282" y="217254"/>
                  <a:pt x="90554" y="211982"/>
                </a:cubicBezTo>
                <a:lnTo>
                  <a:pt x="158038" y="144499"/>
                </a:lnTo>
                <a:cubicBezTo>
                  <a:pt x="163310" y="139227"/>
                  <a:pt x="163310" y="130665"/>
                  <a:pt x="158038" y="125393"/>
                </a:cubicBezTo>
                <a:cubicBezTo>
                  <a:pt x="152766" y="120120"/>
                  <a:pt x="144204" y="120120"/>
                  <a:pt x="138931" y="125393"/>
                </a:cubicBezTo>
                <a:lnTo>
                  <a:pt x="94477" y="169847"/>
                </a:lnTo>
                <a:lnTo>
                  <a:pt x="94477" y="13497"/>
                </a:lnTo>
                <a:cubicBezTo>
                  <a:pt x="94477" y="6031"/>
                  <a:pt x="88445" y="0"/>
                  <a:pt x="80980" y="0"/>
                </a:cubicBezTo>
                <a:cubicBezTo>
                  <a:pt x="73515" y="0"/>
                  <a:pt x="67483" y="6031"/>
                  <a:pt x="67483" y="13497"/>
                </a:cubicBezTo>
                <a:lnTo>
                  <a:pt x="67483" y="169847"/>
                </a:lnTo>
                <a:lnTo>
                  <a:pt x="23029" y="125393"/>
                </a:lnTo>
                <a:cubicBezTo>
                  <a:pt x="17757" y="120120"/>
                  <a:pt x="9195" y="120120"/>
                  <a:pt x="3922" y="125393"/>
                </a:cubicBezTo>
                <a:cubicBezTo>
                  <a:pt x="-1350" y="130665"/>
                  <a:pt x="-1350" y="139227"/>
                  <a:pt x="3922" y="144499"/>
                </a:cubicBezTo>
                <a:lnTo>
                  <a:pt x="71406" y="211982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59911" y="6068108"/>
            <a:ext cx="7477160" cy="791805"/>
          </a:xfrm>
          <a:custGeom>
            <a:avLst/>
            <a:gdLst/>
            <a:ahLst/>
            <a:cxnLst/>
            <a:rect l="l" t="t" r="r" b="b"/>
            <a:pathLst>
              <a:path w="7477160" h="791805">
                <a:moveTo>
                  <a:pt x="107971" y="0"/>
                </a:moveTo>
                <a:lnTo>
                  <a:pt x="7369190" y="0"/>
                </a:lnTo>
                <a:cubicBezTo>
                  <a:pt x="7428820" y="0"/>
                  <a:pt x="7477160" y="48340"/>
                  <a:pt x="7477160" y="107971"/>
                </a:cubicBezTo>
                <a:lnTo>
                  <a:pt x="7477160" y="683835"/>
                </a:lnTo>
                <a:cubicBezTo>
                  <a:pt x="7477160" y="743465"/>
                  <a:pt x="7428820" y="791805"/>
                  <a:pt x="7369190" y="791805"/>
                </a:cubicBezTo>
                <a:lnTo>
                  <a:pt x="107971" y="791805"/>
                </a:lnTo>
                <a:cubicBezTo>
                  <a:pt x="48380" y="791805"/>
                  <a:pt x="0" y="743425"/>
                  <a:pt x="0" y="683835"/>
                </a:cubicBezTo>
                <a:lnTo>
                  <a:pt x="0" y="107971"/>
                </a:lnTo>
                <a:cubicBezTo>
                  <a:pt x="0" y="48380"/>
                  <a:pt x="48380" y="0"/>
                  <a:pt x="10797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03876" y="6212073"/>
            <a:ext cx="503876" cy="503876"/>
          </a:xfrm>
          <a:custGeom>
            <a:avLst/>
            <a:gdLst/>
            <a:ahLst/>
            <a:cxnLst/>
            <a:rect l="l" t="t" r="r" b="b"/>
            <a:pathLst>
              <a:path w="503876" h="503876">
                <a:moveTo>
                  <a:pt x="107976" y="0"/>
                </a:moveTo>
                <a:lnTo>
                  <a:pt x="395900" y="0"/>
                </a:lnTo>
                <a:cubicBezTo>
                  <a:pt x="455494" y="0"/>
                  <a:pt x="503876" y="48382"/>
                  <a:pt x="503876" y="107976"/>
                </a:cubicBezTo>
                <a:lnTo>
                  <a:pt x="503876" y="395900"/>
                </a:lnTo>
                <a:cubicBezTo>
                  <a:pt x="503876" y="455494"/>
                  <a:pt x="455494" y="503876"/>
                  <a:pt x="395900" y="503876"/>
                </a:cubicBezTo>
                <a:lnTo>
                  <a:pt x="107976" y="503876"/>
                </a:lnTo>
                <a:cubicBezTo>
                  <a:pt x="48382" y="503876"/>
                  <a:pt x="0" y="455494"/>
                  <a:pt x="0" y="395900"/>
                </a:cubicBezTo>
                <a:lnTo>
                  <a:pt x="0" y="107976"/>
                </a:lnTo>
                <a:cubicBezTo>
                  <a:pt x="0" y="48382"/>
                  <a:pt x="48382" y="0"/>
                  <a:pt x="10797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97666" y="6320046"/>
            <a:ext cx="224945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51717" y="6248064"/>
            <a:ext cx="6145488" cy="25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RBF SVM Classification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51717" y="6500002"/>
            <a:ext cx="612749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10-class multi-class prediction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22973" y="6230068"/>
            <a:ext cx="467885" cy="32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125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03953" y="6553989"/>
            <a:ext cx="386905" cy="143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85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classes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8049982" y="4376636"/>
            <a:ext cx="3779070" cy="2483389"/>
          </a:xfrm>
          <a:custGeom>
            <a:avLst/>
            <a:gdLst/>
            <a:ahLst/>
            <a:cxnLst/>
            <a:rect l="l" t="t" r="r" b="b"/>
            <a:pathLst>
              <a:path w="3779070" h="2483389">
                <a:moveTo>
                  <a:pt x="143962" y="0"/>
                </a:moveTo>
                <a:lnTo>
                  <a:pt x="3635108" y="0"/>
                </a:lnTo>
                <a:cubicBezTo>
                  <a:pt x="3714616" y="0"/>
                  <a:pt x="3779070" y="64454"/>
                  <a:pt x="3779070" y="143962"/>
                </a:cubicBezTo>
                <a:lnTo>
                  <a:pt x="3779070" y="2339427"/>
                </a:lnTo>
                <a:cubicBezTo>
                  <a:pt x="3779070" y="2418935"/>
                  <a:pt x="3714616" y="2483389"/>
                  <a:pt x="3635108" y="2483389"/>
                </a:cubicBezTo>
                <a:lnTo>
                  <a:pt x="143962" y="2483389"/>
                </a:lnTo>
                <a:cubicBezTo>
                  <a:pt x="64454" y="2483389"/>
                  <a:pt x="0" y="2418935"/>
                  <a:pt x="0" y="2339427"/>
                </a:cubicBezTo>
                <a:lnTo>
                  <a:pt x="0" y="143962"/>
                </a:lnTo>
                <a:cubicBezTo>
                  <a:pt x="0" y="64507"/>
                  <a:pt x="64507" y="0"/>
                  <a:pt x="143962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8301920" y="4601469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240410" y="118096"/>
                </a:moveTo>
                <a:lnTo>
                  <a:pt x="164491" y="118096"/>
                </a:lnTo>
                <a:cubicBezTo>
                  <a:pt x="157479" y="118096"/>
                  <a:pt x="151838" y="112455"/>
                  <a:pt x="151838" y="105443"/>
                </a:cubicBezTo>
                <a:lnTo>
                  <a:pt x="151838" y="29524"/>
                </a:lnTo>
                <a:cubicBezTo>
                  <a:pt x="151838" y="24410"/>
                  <a:pt x="154895" y="19771"/>
                  <a:pt x="159640" y="17820"/>
                </a:cubicBezTo>
                <a:cubicBezTo>
                  <a:pt x="164385" y="15869"/>
                  <a:pt x="169816" y="16976"/>
                  <a:pt x="173453" y="20561"/>
                </a:cubicBezTo>
                <a:lnTo>
                  <a:pt x="194542" y="41650"/>
                </a:lnTo>
                <a:lnTo>
                  <a:pt x="233239" y="2952"/>
                </a:lnTo>
                <a:cubicBezTo>
                  <a:pt x="235137" y="1054"/>
                  <a:pt x="237721" y="0"/>
                  <a:pt x="240410" y="0"/>
                </a:cubicBezTo>
                <a:cubicBezTo>
                  <a:pt x="243098" y="0"/>
                  <a:pt x="245682" y="1054"/>
                  <a:pt x="247632" y="3005"/>
                </a:cubicBezTo>
                <a:lnTo>
                  <a:pt x="266981" y="22354"/>
                </a:lnTo>
                <a:cubicBezTo>
                  <a:pt x="268879" y="24252"/>
                  <a:pt x="269934" y="26835"/>
                  <a:pt x="269934" y="29524"/>
                </a:cubicBezTo>
                <a:cubicBezTo>
                  <a:pt x="269934" y="32213"/>
                  <a:pt x="268879" y="34796"/>
                  <a:pt x="266928" y="36747"/>
                </a:cubicBezTo>
                <a:lnTo>
                  <a:pt x="228284" y="75392"/>
                </a:lnTo>
                <a:lnTo>
                  <a:pt x="249372" y="96480"/>
                </a:lnTo>
                <a:cubicBezTo>
                  <a:pt x="253010" y="100118"/>
                  <a:pt x="254064" y="105548"/>
                  <a:pt x="252114" y="110293"/>
                </a:cubicBezTo>
                <a:cubicBezTo>
                  <a:pt x="250163" y="115038"/>
                  <a:pt x="245524" y="118096"/>
                  <a:pt x="240410" y="118096"/>
                </a:cubicBezTo>
                <a:close/>
                <a:moveTo>
                  <a:pt x="240410" y="151838"/>
                </a:moveTo>
                <a:cubicBezTo>
                  <a:pt x="245524" y="151838"/>
                  <a:pt x="250163" y="154895"/>
                  <a:pt x="252114" y="159640"/>
                </a:cubicBezTo>
                <a:cubicBezTo>
                  <a:pt x="254064" y="164385"/>
                  <a:pt x="253010" y="169816"/>
                  <a:pt x="249372" y="173453"/>
                </a:cubicBezTo>
                <a:lnTo>
                  <a:pt x="228284" y="194542"/>
                </a:lnTo>
                <a:lnTo>
                  <a:pt x="266981" y="233239"/>
                </a:lnTo>
                <a:cubicBezTo>
                  <a:pt x="268879" y="235137"/>
                  <a:pt x="269986" y="237721"/>
                  <a:pt x="269986" y="240462"/>
                </a:cubicBezTo>
                <a:cubicBezTo>
                  <a:pt x="269986" y="243204"/>
                  <a:pt x="268932" y="245734"/>
                  <a:pt x="266981" y="247685"/>
                </a:cubicBezTo>
                <a:lnTo>
                  <a:pt x="247632" y="267034"/>
                </a:lnTo>
                <a:cubicBezTo>
                  <a:pt x="245682" y="268879"/>
                  <a:pt x="243098" y="269934"/>
                  <a:pt x="240410" y="269934"/>
                </a:cubicBezTo>
                <a:cubicBezTo>
                  <a:pt x="237721" y="269934"/>
                  <a:pt x="235137" y="268879"/>
                  <a:pt x="233187" y="266928"/>
                </a:cubicBezTo>
                <a:lnTo>
                  <a:pt x="194542" y="228284"/>
                </a:lnTo>
                <a:lnTo>
                  <a:pt x="173453" y="249372"/>
                </a:lnTo>
                <a:cubicBezTo>
                  <a:pt x="169816" y="253010"/>
                  <a:pt x="164385" y="254064"/>
                  <a:pt x="159640" y="252114"/>
                </a:cubicBezTo>
                <a:cubicBezTo>
                  <a:pt x="154895" y="250163"/>
                  <a:pt x="151838" y="245524"/>
                  <a:pt x="151838" y="240410"/>
                </a:cubicBezTo>
                <a:lnTo>
                  <a:pt x="151838" y="164491"/>
                </a:lnTo>
                <a:cubicBezTo>
                  <a:pt x="151838" y="157479"/>
                  <a:pt x="157479" y="151838"/>
                  <a:pt x="164491" y="151838"/>
                </a:cubicBezTo>
                <a:lnTo>
                  <a:pt x="240410" y="151838"/>
                </a:lnTo>
                <a:close/>
                <a:moveTo>
                  <a:pt x="105443" y="151838"/>
                </a:moveTo>
                <a:cubicBezTo>
                  <a:pt x="112455" y="151838"/>
                  <a:pt x="118096" y="157479"/>
                  <a:pt x="118096" y="164491"/>
                </a:cubicBezTo>
                <a:lnTo>
                  <a:pt x="118096" y="240410"/>
                </a:lnTo>
                <a:cubicBezTo>
                  <a:pt x="118096" y="245524"/>
                  <a:pt x="115038" y="250163"/>
                  <a:pt x="110293" y="252114"/>
                </a:cubicBezTo>
                <a:cubicBezTo>
                  <a:pt x="105548" y="254064"/>
                  <a:pt x="100118" y="253010"/>
                  <a:pt x="96480" y="249372"/>
                </a:cubicBezTo>
                <a:lnTo>
                  <a:pt x="75392" y="228284"/>
                </a:lnTo>
                <a:lnTo>
                  <a:pt x="36694" y="266981"/>
                </a:lnTo>
                <a:cubicBezTo>
                  <a:pt x="34796" y="268879"/>
                  <a:pt x="32213" y="269934"/>
                  <a:pt x="29524" y="269934"/>
                </a:cubicBezTo>
                <a:cubicBezTo>
                  <a:pt x="26835" y="269934"/>
                  <a:pt x="24252" y="268879"/>
                  <a:pt x="22301" y="266928"/>
                </a:cubicBezTo>
                <a:lnTo>
                  <a:pt x="3005" y="247632"/>
                </a:lnTo>
                <a:cubicBezTo>
                  <a:pt x="1054" y="245682"/>
                  <a:pt x="0" y="243098"/>
                  <a:pt x="0" y="240410"/>
                </a:cubicBezTo>
                <a:cubicBezTo>
                  <a:pt x="0" y="237721"/>
                  <a:pt x="1054" y="235137"/>
                  <a:pt x="3005" y="233187"/>
                </a:cubicBezTo>
                <a:lnTo>
                  <a:pt x="41650" y="194542"/>
                </a:lnTo>
                <a:lnTo>
                  <a:pt x="20561" y="173453"/>
                </a:lnTo>
                <a:cubicBezTo>
                  <a:pt x="16924" y="169816"/>
                  <a:pt x="15869" y="164385"/>
                  <a:pt x="17820" y="159640"/>
                </a:cubicBezTo>
                <a:cubicBezTo>
                  <a:pt x="19771" y="154895"/>
                  <a:pt x="24410" y="151838"/>
                  <a:pt x="29524" y="151838"/>
                </a:cubicBezTo>
                <a:lnTo>
                  <a:pt x="105443" y="151838"/>
                </a:lnTo>
                <a:close/>
                <a:moveTo>
                  <a:pt x="29524" y="118096"/>
                </a:moveTo>
                <a:cubicBezTo>
                  <a:pt x="24410" y="118096"/>
                  <a:pt x="19771" y="115038"/>
                  <a:pt x="17820" y="110293"/>
                </a:cubicBezTo>
                <a:cubicBezTo>
                  <a:pt x="15869" y="105548"/>
                  <a:pt x="16976" y="100118"/>
                  <a:pt x="20561" y="96480"/>
                </a:cubicBezTo>
                <a:lnTo>
                  <a:pt x="41650" y="75392"/>
                </a:lnTo>
                <a:lnTo>
                  <a:pt x="3005" y="36747"/>
                </a:lnTo>
                <a:cubicBezTo>
                  <a:pt x="1054" y="34796"/>
                  <a:pt x="0" y="32213"/>
                  <a:pt x="0" y="29524"/>
                </a:cubicBezTo>
                <a:cubicBezTo>
                  <a:pt x="0" y="26835"/>
                  <a:pt x="1054" y="24252"/>
                  <a:pt x="3005" y="22301"/>
                </a:cubicBezTo>
                <a:lnTo>
                  <a:pt x="22301" y="3005"/>
                </a:lnTo>
                <a:cubicBezTo>
                  <a:pt x="24252" y="1054"/>
                  <a:pt x="26835" y="0"/>
                  <a:pt x="29524" y="0"/>
                </a:cubicBezTo>
                <a:cubicBezTo>
                  <a:pt x="32213" y="0"/>
                  <a:pt x="34796" y="1054"/>
                  <a:pt x="36747" y="3005"/>
                </a:cubicBezTo>
                <a:lnTo>
                  <a:pt x="75392" y="41650"/>
                </a:lnTo>
                <a:lnTo>
                  <a:pt x="96480" y="20561"/>
                </a:lnTo>
                <a:cubicBezTo>
                  <a:pt x="100118" y="16924"/>
                  <a:pt x="105548" y="15869"/>
                  <a:pt x="110293" y="17820"/>
                </a:cubicBezTo>
                <a:cubicBezTo>
                  <a:pt x="115038" y="19771"/>
                  <a:pt x="118096" y="24410"/>
                  <a:pt x="118096" y="29524"/>
                </a:cubicBezTo>
                <a:lnTo>
                  <a:pt x="118096" y="105443"/>
                </a:lnTo>
                <a:cubicBezTo>
                  <a:pt x="118096" y="112455"/>
                  <a:pt x="112455" y="118096"/>
                  <a:pt x="105443" y="118096"/>
                </a:cubicBezTo>
                <a:lnTo>
                  <a:pt x="29524" y="11809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8711319" y="4592583"/>
            <a:ext cx="2537376" cy="2879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Dimensionality Reduction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8560831" y="5024365"/>
            <a:ext cx="1250692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0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3,072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637312" y="5456259"/>
            <a:ext cx="1097730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pixels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9954363" y="5195323"/>
            <a:ext cx="269934" cy="269934"/>
          </a:xfrm>
          <a:custGeom>
            <a:avLst/>
            <a:gdLst/>
            <a:ahLst/>
            <a:cxnLst/>
            <a:rect l="l" t="t" r="r" b="b"/>
            <a:pathLst>
              <a:path w="269934" h="269934">
                <a:moveTo>
                  <a:pt x="264978" y="146882"/>
                </a:moveTo>
                <a:cubicBezTo>
                  <a:pt x="271568" y="140292"/>
                  <a:pt x="271568" y="129589"/>
                  <a:pt x="264978" y="122999"/>
                </a:cubicBezTo>
                <a:lnTo>
                  <a:pt x="180624" y="38645"/>
                </a:lnTo>
                <a:cubicBezTo>
                  <a:pt x="174033" y="32055"/>
                  <a:pt x="163331" y="32055"/>
                  <a:pt x="156741" y="38645"/>
                </a:cubicBezTo>
                <a:cubicBezTo>
                  <a:pt x="150151" y="45235"/>
                  <a:pt x="150151" y="55937"/>
                  <a:pt x="156741" y="62528"/>
                </a:cubicBezTo>
                <a:lnTo>
                  <a:pt x="212309" y="118096"/>
                </a:lnTo>
                <a:lnTo>
                  <a:pt x="16871" y="118096"/>
                </a:lnTo>
                <a:cubicBezTo>
                  <a:pt x="7539" y="118096"/>
                  <a:pt x="0" y="125635"/>
                  <a:pt x="0" y="134967"/>
                </a:cubicBezTo>
                <a:cubicBezTo>
                  <a:pt x="0" y="144298"/>
                  <a:pt x="7539" y="151838"/>
                  <a:pt x="16871" y="151838"/>
                </a:cubicBezTo>
                <a:lnTo>
                  <a:pt x="212309" y="151838"/>
                </a:lnTo>
                <a:lnTo>
                  <a:pt x="156741" y="207406"/>
                </a:lnTo>
                <a:cubicBezTo>
                  <a:pt x="150151" y="213996"/>
                  <a:pt x="150151" y="224699"/>
                  <a:pt x="156741" y="231289"/>
                </a:cubicBezTo>
                <a:cubicBezTo>
                  <a:pt x="163331" y="237879"/>
                  <a:pt x="174033" y="237879"/>
                  <a:pt x="180624" y="231289"/>
                </a:cubicBezTo>
                <a:lnTo>
                  <a:pt x="264978" y="146935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10363762" y="5024365"/>
            <a:ext cx="953765" cy="4318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0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324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10440244" y="5456259"/>
            <a:ext cx="800803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HOG features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265929" y="5780179"/>
            <a:ext cx="3347176" cy="863787"/>
          </a:xfrm>
          <a:custGeom>
            <a:avLst/>
            <a:gdLst/>
            <a:ahLst/>
            <a:cxnLst/>
            <a:rect l="l" t="t" r="r" b="b"/>
            <a:pathLst>
              <a:path w="3347176" h="863787">
                <a:moveTo>
                  <a:pt x="107973" y="0"/>
                </a:moveTo>
                <a:lnTo>
                  <a:pt x="3239203" y="0"/>
                </a:lnTo>
                <a:cubicBezTo>
                  <a:pt x="3298835" y="0"/>
                  <a:pt x="3347176" y="48341"/>
                  <a:pt x="3347176" y="107973"/>
                </a:cubicBezTo>
                <a:lnTo>
                  <a:pt x="3347176" y="755814"/>
                </a:lnTo>
                <a:cubicBezTo>
                  <a:pt x="3347176" y="815446"/>
                  <a:pt x="3298835" y="863787"/>
                  <a:pt x="3239203" y="863787"/>
                </a:cubicBezTo>
                <a:lnTo>
                  <a:pt x="107973" y="863787"/>
                </a:lnTo>
                <a:cubicBezTo>
                  <a:pt x="48341" y="863787"/>
                  <a:pt x="0" y="815446"/>
                  <a:pt x="0" y="755814"/>
                </a:cubicBezTo>
                <a:lnTo>
                  <a:pt x="0" y="107973"/>
                </a:lnTo>
                <a:cubicBezTo>
                  <a:pt x="0" y="48381"/>
                  <a:pt x="48381" y="0"/>
                  <a:pt x="10797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8328913" y="5924144"/>
            <a:ext cx="3221207" cy="3599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51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9.48×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378401" y="6320046"/>
            <a:ext cx="3122232" cy="17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92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Compression ratio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609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SELECTION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6200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Validation Set Performance Comparison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5513070" cy="5455920"/>
          </a:xfrm>
          <a:custGeom>
            <a:avLst/>
            <a:gdLst/>
            <a:ahLst/>
            <a:cxnLst/>
            <a:rect l="l" t="t" r="r" b="b"/>
            <a:pathLst>
              <a:path w="5513070" h="5455920">
                <a:moveTo>
                  <a:pt x="152384" y="0"/>
                </a:moveTo>
                <a:lnTo>
                  <a:pt x="5360686" y="0"/>
                </a:lnTo>
                <a:cubicBezTo>
                  <a:pt x="5444845" y="0"/>
                  <a:pt x="5513070" y="68225"/>
                  <a:pt x="5513070" y="152384"/>
                </a:cubicBezTo>
                <a:lnTo>
                  <a:pt x="5513070" y="5303536"/>
                </a:lnTo>
                <a:cubicBezTo>
                  <a:pt x="5513070" y="5387695"/>
                  <a:pt x="5444845" y="5455920"/>
                  <a:pt x="5360686" y="5455920"/>
                </a:cubicBezTo>
                <a:lnTo>
                  <a:pt x="152384" y="5455920"/>
                </a:lnTo>
                <a:cubicBezTo>
                  <a:pt x="68225" y="5455920"/>
                  <a:pt x="0" y="5387695"/>
                  <a:pt x="0" y="5303536"/>
                </a:cubicBezTo>
                <a:lnTo>
                  <a:pt x="0" y="152384"/>
                </a:lnTo>
                <a:cubicBezTo>
                  <a:pt x="0" y="68281"/>
                  <a:pt x="68281" y="0"/>
                  <a:pt x="152384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6257" y="1379223"/>
            <a:ext cx="521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on Validation Set</a:t>
            </a:r>
            <a:endParaRPr lang="en-US" sz="1600" dirty="0"/>
          </a:p>
        </p:txBody>
      </p:sp>
      <p:pic>
        <p:nvPicPr>
          <p:cNvPr id="8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371600"/>
            <a:ext cx="5303520" cy="4572000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545782" y="6255544"/>
            <a:ext cx="519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HOG features + Different classifiers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37910" y="1184910"/>
            <a:ext cx="5665470" cy="3512820"/>
          </a:xfrm>
          <a:custGeom>
            <a:avLst/>
            <a:gdLst/>
            <a:ahLst/>
            <a:cxnLst/>
            <a:rect l="l" t="t" r="r" b="b"/>
            <a:pathLst>
              <a:path w="5665470" h="3512820">
                <a:moveTo>
                  <a:pt x="152386" y="0"/>
                </a:moveTo>
                <a:lnTo>
                  <a:pt x="5513084" y="0"/>
                </a:lnTo>
                <a:cubicBezTo>
                  <a:pt x="5597244" y="0"/>
                  <a:pt x="5665470" y="68226"/>
                  <a:pt x="5665470" y="152386"/>
                </a:cubicBezTo>
                <a:lnTo>
                  <a:pt x="5665470" y="3360434"/>
                </a:lnTo>
                <a:cubicBezTo>
                  <a:pt x="5665470" y="3444594"/>
                  <a:pt x="5597244" y="3512820"/>
                  <a:pt x="5513084" y="3512820"/>
                </a:cubicBezTo>
                <a:lnTo>
                  <a:pt x="152386" y="3512820"/>
                </a:lnTo>
                <a:cubicBezTo>
                  <a:pt x="68226" y="3512820"/>
                  <a:pt x="0" y="3444594"/>
                  <a:pt x="0" y="3360434"/>
                </a:cubicBezTo>
                <a:lnTo>
                  <a:pt x="0" y="152386"/>
                </a:lnTo>
                <a:cubicBezTo>
                  <a:pt x="0" y="68282"/>
                  <a:pt x="68282" y="0"/>
                  <a:pt x="152386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70320" y="1417323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Summary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389370" y="1836423"/>
            <a:ext cx="5181600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38100" y="0"/>
                </a:moveTo>
                <a:lnTo>
                  <a:pt x="5067298" y="0"/>
                </a:lnTo>
                <a:cubicBezTo>
                  <a:pt x="5130383" y="0"/>
                  <a:pt x="5181600" y="51217"/>
                  <a:pt x="5181600" y="114302"/>
                </a:cubicBezTo>
                <a:lnTo>
                  <a:pt x="5181600" y="685798"/>
                </a:lnTo>
                <a:cubicBezTo>
                  <a:pt x="5181600" y="748883"/>
                  <a:pt x="5130383" y="800100"/>
                  <a:pt x="50672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89370" y="1836423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46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560820" y="2007752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KNN (k=9)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60820" y="2274452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Instance-based, slow inference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344745" y="1988823"/>
            <a:ext cx="1076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49.02%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30470" y="2331723"/>
            <a:ext cx="990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 sec training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89370" y="2750702"/>
            <a:ext cx="5181600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38100" y="0"/>
                </a:moveTo>
                <a:lnTo>
                  <a:pt x="5067298" y="0"/>
                </a:lnTo>
                <a:cubicBezTo>
                  <a:pt x="5130383" y="0"/>
                  <a:pt x="5181600" y="51217"/>
                  <a:pt x="5181600" y="114302"/>
                </a:cubicBezTo>
                <a:lnTo>
                  <a:pt x="5181600" y="685798"/>
                </a:lnTo>
                <a:cubicBezTo>
                  <a:pt x="5181600" y="748883"/>
                  <a:pt x="5130383" y="800100"/>
                  <a:pt x="50672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389370" y="2750702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1A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60820" y="2922031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SVM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60820" y="3188731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Fast, limited by linear boundary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320457" y="2903102"/>
            <a:ext cx="1104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2B7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50.88%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406182" y="3246002"/>
            <a:ext cx="10191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71 sec training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389370" y="3664981"/>
            <a:ext cx="5181600" cy="800100"/>
          </a:xfrm>
          <a:custGeom>
            <a:avLst/>
            <a:gdLst/>
            <a:ahLst/>
            <a:cxnLst/>
            <a:rect l="l" t="t" r="r" b="b"/>
            <a:pathLst>
              <a:path w="5181600" h="800100">
                <a:moveTo>
                  <a:pt x="38100" y="0"/>
                </a:moveTo>
                <a:lnTo>
                  <a:pt x="5067298" y="0"/>
                </a:lnTo>
                <a:cubicBezTo>
                  <a:pt x="5130383" y="0"/>
                  <a:pt x="5181600" y="51217"/>
                  <a:pt x="5181600" y="114302"/>
                </a:cubicBezTo>
                <a:lnTo>
                  <a:pt x="5181600" y="685798"/>
                </a:lnTo>
                <a:cubicBezTo>
                  <a:pt x="5181600" y="748883"/>
                  <a:pt x="5130383" y="800100"/>
                  <a:pt x="5067298" y="800100"/>
                </a:cubicBez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0FD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389370" y="3664981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3810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38100" y="800100"/>
                </a:lnTo>
                <a:cubicBezTo>
                  <a:pt x="17072" y="800100"/>
                  <a:pt x="0" y="783028"/>
                  <a:pt x="0" y="762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6589395" y="395061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960870" y="3836315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RBF SVM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960870" y="4103015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Non-linear, best performance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425589" y="3817381"/>
            <a:ext cx="1000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61.82%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511314" y="4160281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~16 min training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134100" y="4891683"/>
            <a:ext cx="5676900" cy="1752600"/>
          </a:xfrm>
          <a:custGeom>
            <a:avLst/>
            <a:gdLst/>
            <a:ahLst/>
            <a:cxnLst/>
            <a:rect l="l" t="t" r="r" b="b"/>
            <a:pathLst>
              <a:path w="5676900" h="1752600">
                <a:moveTo>
                  <a:pt x="152406" y="0"/>
                </a:moveTo>
                <a:lnTo>
                  <a:pt x="5524494" y="0"/>
                </a:lnTo>
                <a:cubicBezTo>
                  <a:pt x="5608665" y="0"/>
                  <a:pt x="5676900" y="68235"/>
                  <a:pt x="5676900" y="152406"/>
                </a:cubicBezTo>
                <a:lnTo>
                  <a:pt x="5676900" y="1600194"/>
                </a:lnTo>
                <a:cubicBezTo>
                  <a:pt x="5676900" y="1684365"/>
                  <a:pt x="5608665" y="1752600"/>
                  <a:pt x="5524494" y="1752600"/>
                </a:cubicBezTo>
                <a:lnTo>
                  <a:pt x="152406" y="1752600"/>
                </a:lnTo>
                <a:cubicBezTo>
                  <a:pt x="68235" y="1752600"/>
                  <a:pt x="0" y="1684365"/>
                  <a:pt x="0" y="16001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6382941" y="5129692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4687" y="48667"/>
                </a:moveTo>
                <a:cubicBezTo>
                  <a:pt x="179822" y="44593"/>
                  <a:pt x="183059" y="38286"/>
                  <a:pt x="183059" y="31254"/>
                </a:cubicBezTo>
                <a:cubicBezTo>
                  <a:pt x="183059" y="18920"/>
                  <a:pt x="173069" y="8930"/>
                  <a:pt x="160734" y="8930"/>
                </a:cubicBezTo>
                <a:cubicBezTo>
                  <a:pt x="148400" y="8930"/>
                  <a:pt x="138410" y="18920"/>
                  <a:pt x="138410" y="31254"/>
                </a:cubicBezTo>
                <a:cubicBezTo>
                  <a:pt x="138410" y="38286"/>
                  <a:pt x="141703" y="44593"/>
                  <a:pt x="146782" y="48667"/>
                </a:cubicBezTo>
                <a:lnTo>
                  <a:pt x="108607" y="108719"/>
                </a:lnTo>
                <a:cubicBezTo>
                  <a:pt x="103026" y="117481"/>
                  <a:pt x="91139" y="119658"/>
                  <a:pt x="82823" y="113407"/>
                </a:cubicBezTo>
                <a:lnTo>
                  <a:pt x="49616" y="88571"/>
                </a:lnTo>
                <a:cubicBezTo>
                  <a:pt x="52127" y="84999"/>
                  <a:pt x="53578" y="80590"/>
                  <a:pt x="53578" y="75902"/>
                </a:cubicBezTo>
                <a:cubicBezTo>
                  <a:pt x="53578" y="63568"/>
                  <a:pt x="43588" y="53578"/>
                  <a:pt x="31254" y="53578"/>
                </a:cubicBezTo>
                <a:cubicBezTo>
                  <a:pt x="18920" y="53578"/>
                  <a:pt x="8930" y="63568"/>
                  <a:pt x="8930" y="75902"/>
                </a:cubicBezTo>
                <a:cubicBezTo>
                  <a:pt x="8930" y="88069"/>
                  <a:pt x="18697" y="98003"/>
                  <a:pt x="30807" y="98227"/>
                </a:cubicBezTo>
                <a:lnTo>
                  <a:pt x="49002" y="219615"/>
                </a:lnTo>
                <a:cubicBezTo>
                  <a:pt x="51625" y="237083"/>
                  <a:pt x="66638" y="250031"/>
                  <a:pt x="84330" y="250031"/>
                </a:cubicBezTo>
                <a:lnTo>
                  <a:pt x="237139" y="250031"/>
                </a:lnTo>
                <a:cubicBezTo>
                  <a:pt x="254831" y="250031"/>
                  <a:pt x="269844" y="237083"/>
                  <a:pt x="272467" y="219615"/>
                </a:cubicBezTo>
                <a:lnTo>
                  <a:pt x="290661" y="98227"/>
                </a:lnTo>
                <a:cubicBezTo>
                  <a:pt x="302772" y="98003"/>
                  <a:pt x="312539" y="88069"/>
                  <a:pt x="312539" y="75902"/>
                </a:cubicBezTo>
                <a:cubicBezTo>
                  <a:pt x="312539" y="63568"/>
                  <a:pt x="302549" y="53578"/>
                  <a:pt x="290215" y="53578"/>
                </a:cubicBezTo>
                <a:cubicBezTo>
                  <a:pt x="277881" y="53578"/>
                  <a:pt x="267891" y="63568"/>
                  <a:pt x="267891" y="75902"/>
                </a:cubicBezTo>
                <a:cubicBezTo>
                  <a:pt x="267891" y="80590"/>
                  <a:pt x="269342" y="84999"/>
                  <a:pt x="271853" y="88571"/>
                </a:cubicBezTo>
                <a:lnTo>
                  <a:pt x="238702" y="113463"/>
                </a:lnTo>
                <a:cubicBezTo>
                  <a:pt x="230386" y="119714"/>
                  <a:pt x="218498" y="117537"/>
                  <a:pt x="212917" y="108775"/>
                </a:cubicBezTo>
                <a:lnTo>
                  <a:pt x="174687" y="4866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6834188" y="5120283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Winner: RBF SVM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381750" y="561546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667500" y="5577367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+10.94 pp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Linear SVM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381750" y="592026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667500" y="5882167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+12.8 pp</a:t>
            </a: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KNN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6381750" y="622506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6667500" y="6186967"/>
            <a:ext cx="2105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Justifies increased training time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4552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46577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Hyperparameter Optimization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6617970" cy="2236470"/>
          </a:xfrm>
          <a:custGeom>
            <a:avLst/>
            <a:gdLst/>
            <a:ahLst/>
            <a:cxnLst/>
            <a:rect l="l" t="t" r="r" b="b"/>
            <a:pathLst>
              <a:path w="6617970" h="2236470">
                <a:moveTo>
                  <a:pt x="152393" y="0"/>
                </a:moveTo>
                <a:lnTo>
                  <a:pt x="6465577" y="0"/>
                </a:lnTo>
                <a:cubicBezTo>
                  <a:pt x="6549741" y="0"/>
                  <a:pt x="6617970" y="68229"/>
                  <a:pt x="6617970" y="152393"/>
                </a:cubicBezTo>
                <a:lnTo>
                  <a:pt x="6617970" y="2084077"/>
                </a:lnTo>
                <a:cubicBezTo>
                  <a:pt x="6617970" y="2168241"/>
                  <a:pt x="6549741" y="2236470"/>
                  <a:pt x="6465577" y="2236470"/>
                </a:cubicBezTo>
                <a:lnTo>
                  <a:pt x="152393" y="2236470"/>
                </a:lnTo>
                <a:cubicBezTo>
                  <a:pt x="68229" y="2236470"/>
                  <a:pt x="0" y="2168241"/>
                  <a:pt x="0" y="2084077"/>
                </a:cubicBezTo>
                <a:lnTo>
                  <a:pt x="0" y="152393"/>
                </a:lnTo>
                <a:cubicBezTo>
                  <a:pt x="0" y="68285"/>
                  <a:pt x="68285" y="0"/>
                  <a:pt x="152393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7220" y="14362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0570" y="156960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417323"/>
            <a:ext cx="1552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GridSearchCV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1722002"/>
            <a:ext cx="1504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3-fold cross-validation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2103002"/>
            <a:ext cx="3000375" cy="1085850"/>
          </a:xfrm>
          <a:custGeom>
            <a:avLst/>
            <a:gdLst/>
            <a:ahLst/>
            <a:cxnLst/>
            <a:rect l="l" t="t" r="r" b="b"/>
            <a:pathLst>
              <a:path w="3000375" h="1085850">
                <a:moveTo>
                  <a:pt x="114297" y="0"/>
                </a:moveTo>
                <a:lnTo>
                  <a:pt x="2886078" y="0"/>
                </a:lnTo>
                <a:cubicBezTo>
                  <a:pt x="2949203" y="0"/>
                  <a:pt x="3000375" y="51172"/>
                  <a:pt x="3000375" y="114297"/>
                </a:cubicBezTo>
                <a:lnTo>
                  <a:pt x="3000375" y="971553"/>
                </a:lnTo>
                <a:cubicBezTo>
                  <a:pt x="3000375" y="1034678"/>
                  <a:pt x="2949203" y="1085850"/>
                  <a:pt x="288607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9620" y="2255402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(Regularization)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3430" y="2525912"/>
            <a:ext cx="398145" cy="274320"/>
          </a:xfrm>
          <a:custGeom>
            <a:avLst/>
            <a:gdLst/>
            <a:ahLst/>
            <a:cxnLst/>
            <a:rect l="l" t="t" r="r" b="b"/>
            <a:pathLst>
              <a:path w="398145" h="274320">
                <a:moveTo>
                  <a:pt x="76201" y="0"/>
                </a:moveTo>
                <a:lnTo>
                  <a:pt x="321944" y="0"/>
                </a:lnTo>
                <a:cubicBezTo>
                  <a:pt x="364001" y="0"/>
                  <a:pt x="398145" y="34144"/>
                  <a:pt x="398145" y="76201"/>
                </a:cubicBezTo>
                <a:lnTo>
                  <a:pt x="398145" y="198119"/>
                </a:lnTo>
                <a:cubicBezTo>
                  <a:pt x="398145" y="240176"/>
                  <a:pt x="364001" y="274320"/>
                  <a:pt x="321944" y="274320"/>
                </a:cubicBezTo>
                <a:lnTo>
                  <a:pt x="76201" y="274320"/>
                </a:lnTo>
                <a:cubicBezTo>
                  <a:pt x="34144" y="274320"/>
                  <a:pt x="0" y="240176"/>
                  <a:pt x="0" y="198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9620" y="2522102"/>
            <a:ext cx="457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53728" y="25259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76201" y="0"/>
                </a:moveTo>
                <a:lnTo>
                  <a:pt x="198119" y="0"/>
                </a:lnTo>
                <a:cubicBezTo>
                  <a:pt x="240176" y="0"/>
                  <a:pt x="274320" y="34144"/>
                  <a:pt x="274320" y="76201"/>
                </a:cubicBezTo>
                <a:lnTo>
                  <a:pt x="274320" y="198119"/>
                </a:lnTo>
                <a:cubicBezTo>
                  <a:pt x="274320" y="240176"/>
                  <a:pt x="240176" y="274320"/>
                  <a:pt x="198119" y="274320"/>
                </a:cubicBezTo>
                <a:lnTo>
                  <a:pt x="76201" y="274320"/>
                </a:lnTo>
                <a:cubicBezTo>
                  <a:pt x="34144" y="274320"/>
                  <a:pt x="0" y="240176"/>
                  <a:pt x="0" y="198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49918" y="2522102"/>
            <a:ext cx="333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12344" y="2522102"/>
            <a:ext cx="485775" cy="285750"/>
          </a:xfrm>
          <a:custGeom>
            <a:avLst/>
            <a:gdLst/>
            <a:ahLst/>
            <a:cxnLst/>
            <a:rect l="l" t="t" r="r" b="b"/>
            <a:pathLst>
              <a:path w="485775" h="285750">
                <a:moveTo>
                  <a:pt x="76201" y="0"/>
                </a:moveTo>
                <a:lnTo>
                  <a:pt x="409574" y="0"/>
                </a:lnTo>
                <a:cubicBezTo>
                  <a:pt x="451659" y="0"/>
                  <a:pt x="485775" y="34116"/>
                  <a:pt x="485775" y="76201"/>
                </a:cubicBezTo>
                <a:lnTo>
                  <a:pt x="485775" y="209549"/>
                </a:lnTo>
                <a:cubicBezTo>
                  <a:pt x="485775" y="251634"/>
                  <a:pt x="451659" y="285750"/>
                  <a:pt x="409574" y="285750"/>
                </a:cubicBezTo>
                <a:lnTo>
                  <a:pt x="76201" y="285750"/>
                </a:lnTo>
                <a:cubicBezTo>
                  <a:pt x="34116" y="285750"/>
                  <a:pt x="0" y="251634"/>
                  <a:pt x="0" y="2095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12344" y="2522102"/>
            <a:ext cx="552450" cy="2857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9620" y="2880243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Controls margin width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71900" y="2103002"/>
            <a:ext cx="3000375" cy="1085850"/>
          </a:xfrm>
          <a:custGeom>
            <a:avLst/>
            <a:gdLst/>
            <a:ahLst/>
            <a:cxnLst/>
            <a:rect l="l" t="t" r="r" b="b"/>
            <a:pathLst>
              <a:path w="3000375" h="1085850">
                <a:moveTo>
                  <a:pt x="114297" y="0"/>
                </a:moveTo>
                <a:lnTo>
                  <a:pt x="2886078" y="0"/>
                </a:lnTo>
                <a:cubicBezTo>
                  <a:pt x="2949203" y="0"/>
                  <a:pt x="3000375" y="51172"/>
                  <a:pt x="3000375" y="114297"/>
                </a:cubicBezTo>
                <a:lnTo>
                  <a:pt x="3000375" y="971553"/>
                </a:lnTo>
                <a:cubicBezTo>
                  <a:pt x="3000375" y="1034678"/>
                  <a:pt x="2949203" y="1085850"/>
                  <a:pt x="2886078" y="1085850"/>
                </a:cubicBezTo>
                <a:lnTo>
                  <a:pt x="114297" y="1085850"/>
                </a:lnTo>
                <a:cubicBezTo>
                  <a:pt x="51172" y="1085850"/>
                  <a:pt x="0" y="1034678"/>
                  <a:pt x="0" y="97155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24300" y="2255402"/>
            <a:ext cx="2762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Gamma (Kernel)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28110" y="2525912"/>
            <a:ext cx="531495" cy="274320"/>
          </a:xfrm>
          <a:custGeom>
            <a:avLst/>
            <a:gdLst/>
            <a:ahLst/>
            <a:cxnLst/>
            <a:rect l="l" t="t" r="r" b="b"/>
            <a:pathLst>
              <a:path w="531495" h="274320">
                <a:moveTo>
                  <a:pt x="76201" y="0"/>
                </a:moveTo>
                <a:lnTo>
                  <a:pt x="455294" y="0"/>
                </a:lnTo>
                <a:cubicBezTo>
                  <a:pt x="497351" y="0"/>
                  <a:pt x="531495" y="34144"/>
                  <a:pt x="531495" y="76201"/>
                </a:cubicBezTo>
                <a:lnTo>
                  <a:pt x="531495" y="198119"/>
                </a:lnTo>
                <a:cubicBezTo>
                  <a:pt x="531495" y="240176"/>
                  <a:pt x="497351" y="274320"/>
                  <a:pt x="455294" y="274320"/>
                </a:cubicBezTo>
                <a:lnTo>
                  <a:pt x="76201" y="274320"/>
                </a:lnTo>
                <a:cubicBezTo>
                  <a:pt x="34144" y="274320"/>
                  <a:pt x="0" y="240176"/>
                  <a:pt x="0" y="198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924300" y="2522102"/>
            <a:ext cx="5905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36996" y="2522102"/>
            <a:ext cx="619125" cy="285750"/>
          </a:xfrm>
          <a:custGeom>
            <a:avLst/>
            <a:gdLst/>
            <a:ahLst/>
            <a:cxnLst/>
            <a:rect l="l" t="t" r="r" b="b"/>
            <a:pathLst>
              <a:path w="619125" h="285750">
                <a:moveTo>
                  <a:pt x="76201" y="0"/>
                </a:moveTo>
                <a:lnTo>
                  <a:pt x="542924" y="0"/>
                </a:lnTo>
                <a:cubicBezTo>
                  <a:pt x="585009" y="0"/>
                  <a:pt x="619125" y="34116"/>
                  <a:pt x="619125" y="76201"/>
                </a:cubicBezTo>
                <a:lnTo>
                  <a:pt x="619125" y="209549"/>
                </a:lnTo>
                <a:cubicBezTo>
                  <a:pt x="619125" y="251634"/>
                  <a:pt x="585009" y="285750"/>
                  <a:pt x="542924" y="285750"/>
                </a:cubicBezTo>
                <a:lnTo>
                  <a:pt x="76201" y="285750"/>
                </a:lnTo>
                <a:cubicBezTo>
                  <a:pt x="34116" y="285750"/>
                  <a:pt x="0" y="251634"/>
                  <a:pt x="0" y="2095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36996" y="2522102"/>
            <a:ext cx="685800" cy="28575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33749" y="2525912"/>
            <a:ext cx="569595" cy="274320"/>
          </a:xfrm>
          <a:custGeom>
            <a:avLst/>
            <a:gdLst/>
            <a:ahLst/>
            <a:cxnLst/>
            <a:rect l="l" t="t" r="r" b="b"/>
            <a:pathLst>
              <a:path w="569595" h="274320">
                <a:moveTo>
                  <a:pt x="76201" y="0"/>
                </a:moveTo>
                <a:lnTo>
                  <a:pt x="493394" y="0"/>
                </a:lnTo>
                <a:cubicBezTo>
                  <a:pt x="535451" y="0"/>
                  <a:pt x="569595" y="34144"/>
                  <a:pt x="569595" y="76201"/>
                </a:cubicBezTo>
                <a:lnTo>
                  <a:pt x="569595" y="198119"/>
                </a:lnTo>
                <a:cubicBezTo>
                  <a:pt x="569595" y="240176"/>
                  <a:pt x="535451" y="274320"/>
                  <a:pt x="493394" y="274320"/>
                </a:cubicBezTo>
                <a:lnTo>
                  <a:pt x="76201" y="274320"/>
                </a:lnTo>
                <a:cubicBezTo>
                  <a:pt x="34144" y="274320"/>
                  <a:pt x="0" y="240176"/>
                  <a:pt x="0" y="198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29939" y="2522102"/>
            <a:ext cx="628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0.001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87046" y="2525912"/>
            <a:ext cx="483870" cy="274320"/>
          </a:xfrm>
          <a:custGeom>
            <a:avLst/>
            <a:gdLst/>
            <a:ahLst/>
            <a:cxnLst/>
            <a:rect l="l" t="t" r="r" b="b"/>
            <a:pathLst>
              <a:path w="483870" h="274320">
                <a:moveTo>
                  <a:pt x="76201" y="0"/>
                </a:moveTo>
                <a:lnTo>
                  <a:pt x="407669" y="0"/>
                </a:lnTo>
                <a:cubicBezTo>
                  <a:pt x="449726" y="0"/>
                  <a:pt x="483870" y="34144"/>
                  <a:pt x="483870" y="76201"/>
                </a:cubicBezTo>
                <a:lnTo>
                  <a:pt x="483870" y="198119"/>
                </a:lnTo>
                <a:cubicBezTo>
                  <a:pt x="483870" y="240176"/>
                  <a:pt x="449726" y="274320"/>
                  <a:pt x="407669" y="274320"/>
                </a:cubicBezTo>
                <a:lnTo>
                  <a:pt x="76201" y="274320"/>
                </a:lnTo>
                <a:cubicBezTo>
                  <a:pt x="34144" y="274320"/>
                  <a:pt x="0" y="240176"/>
                  <a:pt x="0" y="1981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83236" y="2522102"/>
            <a:ext cx="542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24300" y="2880243"/>
            <a:ext cx="2752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Kernel coefficient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3611645"/>
            <a:ext cx="6629400" cy="2895600"/>
          </a:xfrm>
          <a:custGeom>
            <a:avLst/>
            <a:gdLst/>
            <a:ahLst/>
            <a:cxnLst/>
            <a:rect l="l" t="t" r="r" b="b"/>
            <a:pathLst>
              <a:path w="6629400" h="2895600">
                <a:moveTo>
                  <a:pt x="152395" y="0"/>
                </a:moveTo>
                <a:lnTo>
                  <a:pt x="6477005" y="0"/>
                </a:lnTo>
                <a:cubicBezTo>
                  <a:pt x="6561114" y="0"/>
                  <a:pt x="6629400" y="68286"/>
                  <a:pt x="6629400" y="152395"/>
                </a:cubicBezTo>
                <a:lnTo>
                  <a:pt x="6629400" y="2743205"/>
                </a:lnTo>
                <a:cubicBezTo>
                  <a:pt x="6629400" y="2827314"/>
                  <a:pt x="6561114" y="2895600"/>
                  <a:pt x="6477005" y="2895600"/>
                </a:cubicBezTo>
                <a:lnTo>
                  <a:pt x="152395" y="2895600"/>
                </a:lnTo>
                <a:cubicBezTo>
                  <a:pt x="68286" y="2895600"/>
                  <a:pt x="0" y="2827314"/>
                  <a:pt x="0" y="2743205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9841" y="3849649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81088" y="3840245"/>
            <a:ext cx="2000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Configuration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9600" y="4335424"/>
            <a:ext cx="3009900" cy="1104900"/>
          </a:xfrm>
          <a:custGeom>
            <a:avLst/>
            <a:gdLst/>
            <a:ahLst/>
            <a:cxnLst/>
            <a:rect l="l" t="t" r="r" b="b"/>
            <a:pathLst>
              <a:path w="3009900" h="1104900">
                <a:moveTo>
                  <a:pt x="114302" y="0"/>
                </a:moveTo>
                <a:lnTo>
                  <a:pt x="2895598" y="0"/>
                </a:lnTo>
                <a:cubicBezTo>
                  <a:pt x="2958725" y="0"/>
                  <a:pt x="3009900" y="51175"/>
                  <a:pt x="3009900" y="114302"/>
                </a:cubicBezTo>
                <a:lnTo>
                  <a:pt x="3009900" y="990598"/>
                </a:lnTo>
                <a:cubicBezTo>
                  <a:pt x="3009900" y="1053725"/>
                  <a:pt x="2958725" y="1104900"/>
                  <a:pt x="28955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8663" y="4487824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 Value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6275" y="4716424"/>
            <a:ext cx="2876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3425" y="5135524"/>
            <a:ext cx="2762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regularization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771900" y="4335424"/>
            <a:ext cx="3009900" cy="1104900"/>
          </a:xfrm>
          <a:custGeom>
            <a:avLst/>
            <a:gdLst/>
            <a:ahLst/>
            <a:cxnLst/>
            <a:rect l="l" t="t" r="r" b="b"/>
            <a:pathLst>
              <a:path w="3009900" h="1104900">
                <a:moveTo>
                  <a:pt x="114302" y="0"/>
                </a:moveTo>
                <a:lnTo>
                  <a:pt x="2895598" y="0"/>
                </a:lnTo>
                <a:cubicBezTo>
                  <a:pt x="2958725" y="0"/>
                  <a:pt x="3009900" y="51175"/>
                  <a:pt x="3009900" y="114302"/>
                </a:cubicBezTo>
                <a:lnTo>
                  <a:pt x="3009900" y="990598"/>
                </a:lnTo>
                <a:cubicBezTo>
                  <a:pt x="3009900" y="1053725"/>
                  <a:pt x="2958725" y="1104900"/>
                  <a:pt x="28955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890962" y="4487824"/>
            <a:ext cx="2771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Gamma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3838575" y="4716424"/>
            <a:ext cx="28765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895725" y="5135524"/>
            <a:ext cx="2762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Adaptive scaling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9600" y="5630703"/>
            <a:ext cx="6172200" cy="647700"/>
          </a:xfrm>
          <a:custGeom>
            <a:avLst/>
            <a:gdLst/>
            <a:ahLst/>
            <a:cxnLst/>
            <a:rect l="l" t="t" r="r" b="b"/>
            <a:pathLst>
              <a:path w="6172200" h="647700">
                <a:moveTo>
                  <a:pt x="114300" y="0"/>
                </a:moveTo>
                <a:lnTo>
                  <a:pt x="6057900" y="0"/>
                </a:lnTo>
                <a:cubicBezTo>
                  <a:pt x="6121026" y="0"/>
                  <a:pt x="6172200" y="51174"/>
                  <a:pt x="6172200" y="114300"/>
                </a:cubicBezTo>
                <a:lnTo>
                  <a:pt x="6172200" y="533400"/>
                </a:lnTo>
                <a:cubicBezTo>
                  <a:pt x="6172200" y="596526"/>
                  <a:pt x="6121026" y="647700"/>
                  <a:pt x="6057900" y="647700"/>
                </a:cubicBezTo>
                <a:lnTo>
                  <a:pt x="114300" y="647700"/>
                </a:lnTo>
                <a:cubicBezTo>
                  <a:pt x="51216" y="647700"/>
                  <a:pt x="0" y="596484"/>
                  <a:pt x="0" y="5334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62000" y="5840253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 accuracy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678091" y="5783103"/>
            <a:ext cx="1095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55.60%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242810" y="1184910"/>
            <a:ext cx="4560570" cy="2722245"/>
          </a:xfrm>
          <a:custGeom>
            <a:avLst/>
            <a:gdLst/>
            <a:ahLst/>
            <a:cxnLst/>
            <a:rect l="l" t="t" r="r" b="b"/>
            <a:pathLst>
              <a:path w="4560570" h="2722245">
                <a:moveTo>
                  <a:pt x="152391" y="0"/>
                </a:moveTo>
                <a:lnTo>
                  <a:pt x="4408179" y="0"/>
                </a:lnTo>
                <a:cubicBezTo>
                  <a:pt x="4492342" y="0"/>
                  <a:pt x="4560570" y="68228"/>
                  <a:pt x="4560570" y="152391"/>
                </a:cubicBezTo>
                <a:lnTo>
                  <a:pt x="4560570" y="2569854"/>
                </a:lnTo>
                <a:cubicBezTo>
                  <a:pt x="4560570" y="2654017"/>
                  <a:pt x="4492342" y="2722245"/>
                  <a:pt x="4408179" y="2722245"/>
                </a:cubicBezTo>
                <a:lnTo>
                  <a:pt x="152391" y="2722245"/>
                </a:lnTo>
                <a:cubicBezTo>
                  <a:pt x="68228" y="2722245"/>
                  <a:pt x="0" y="2654017"/>
                  <a:pt x="0" y="2569854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22845" y="145542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713345" y="1417323"/>
            <a:ext cx="3952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These Work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475220" y="18364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616786" y="1912623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970520" y="1836423"/>
            <a:ext cx="3514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C = Complex Boundaries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970520" y="2065023"/>
            <a:ext cx="3505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Allows model to fit training data more closely, reducing bias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475220" y="24079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628573" y="2503173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γ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970520" y="2407923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Gamma = Adaptive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970520" y="2636523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Scales automatically with feature dimensions (1/n_features)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475220" y="29794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599402" y="3074673"/>
            <a:ext cx="200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3×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970520" y="2979423"/>
            <a:ext cx="3343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3-Fold CV = Balance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970520" y="3208023"/>
            <a:ext cx="3333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Balances speed and reliability for hyperparameter search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7239000" y="4099085"/>
            <a:ext cx="4572000" cy="2409825"/>
          </a:xfrm>
          <a:custGeom>
            <a:avLst/>
            <a:gdLst/>
            <a:ahLst/>
            <a:cxnLst/>
            <a:rect l="l" t="t" r="r" b="b"/>
            <a:pathLst>
              <a:path w="4572000" h="2409825">
                <a:moveTo>
                  <a:pt x="152397" y="0"/>
                </a:moveTo>
                <a:lnTo>
                  <a:pt x="4419603" y="0"/>
                </a:lnTo>
                <a:cubicBezTo>
                  <a:pt x="4503769" y="0"/>
                  <a:pt x="4572000" y="68231"/>
                  <a:pt x="4572000" y="152397"/>
                </a:cubicBezTo>
                <a:lnTo>
                  <a:pt x="4572000" y="2257428"/>
                </a:lnTo>
                <a:cubicBezTo>
                  <a:pt x="4572000" y="2341594"/>
                  <a:pt x="4503769" y="2409825"/>
                  <a:pt x="4419603" y="2409825"/>
                </a:cubicBezTo>
                <a:lnTo>
                  <a:pt x="152397" y="2409825"/>
                </a:lnTo>
                <a:cubicBezTo>
                  <a:pt x="68231" y="2409825"/>
                  <a:pt x="0" y="2341594"/>
                  <a:pt x="0" y="2257428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496175" y="434673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867650" y="4327685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Computational Cost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67600" y="4765835"/>
            <a:ext cx="1685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Parameter combinations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1424999" y="4746785"/>
            <a:ext cx="257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467600" y="514683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Cross-validation folds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1480483" y="5127785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7467600" y="5527835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fits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1375470" y="5508785"/>
            <a:ext cx="304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36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467600" y="5893595"/>
            <a:ext cx="4114800" cy="7620"/>
          </a:xfrm>
          <a:custGeom>
            <a:avLst/>
            <a:gdLst/>
            <a:ahLst/>
            <a:cxnLst/>
            <a:rect l="l" t="t" r="r" b="b"/>
            <a:pathLst>
              <a:path w="4114800" h="7620">
                <a:moveTo>
                  <a:pt x="0" y="0"/>
                </a:moveTo>
                <a:lnTo>
                  <a:pt x="4114800" y="0"/>
                </a:lnTo>
                <a:lnTo>
                  <a:pt x="41148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7FAF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7467600" y="6030753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search time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931366" y="6011703"/>
            <a:ext cx="742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~45 min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9790" y="367759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95937" y="0"/>
                </a:moveTo>
                <a:lnTo>
                  <a:pt x="287811" y="0"/>
                </a:lnTo>
                <a:cubicBezTo>
                  <a:pt x="340760" y="0"/>
                  <a:pt x="383748" y="42988"/>
                  <a:pt x="383748" y="95937"/>
                </a:cubicBezTo>
                <a:lnTo>
                  <a:pt x="383748" y="287811"/>
                </a:lnTo>
                <a:cubicBezTo>
                  <a:pt x="383748" y="340796"/>
                  <a:pt x="340796" y="383748"/>
                  <a:pt x="287811" y="383748"/>
                </a:cubicBezTo>
                <a:lnTo>
                  <a:pt x="95937" y="383748"/>
                </a:lnTo>
                <a:cubicBezTo>
                  <a:pt x="42988" y="383748"/>
                  <a:pt x="0" y="340760"/>
                  <a:pt x="0" y="287811"/>
                </a:cubicBezTo>
                <a:lnTo>
                  <a:pt x="0" y="95937"/>
                </a:lnTo>
                <a:cubicBezTo>
                  <a:pt x="0" y="42988"/>
                  <a:pt x="42988" y="0"/>
                  <a:pt x="95937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1717" y="479685"/>
            <a:ext cx="159895" cy="159895"/>
          </a:xfrm>
          <a:custGeom>
            <a:avLst/>
            <a:gdLst/>
            <a:ahLst/>
            <a:cxnLst/>
            <a:rect l="l" t="t" r="r" b="b"/>
            <a:pathLst>
              <a:path w="159895" h="159895">
                <a:moveTo>
                  <a:pt x="45064" y="0"/>
                </a:moveTo>
                <a:lnTo>
                  <a:pt x="115018" y="0"/>
                </a:lnTo>
                <a:cubicBezTo>
                  <a:pt x="123294" y="0"/>
                  <a:pt x="130040" y="6808"/>
                  <a:pt x="129727" y="15053"/>
                </a:cubicBezTo>
                <a:cubicBezTo>
                  <a:pt x="129665" y="16708"/>
                  <a:pt x="129602" y="18363"/>
                  <a:pt x="129509" y="19987"/>
                </a:cubicBezTo>
                <a:lnTo>
                  <a:pt x="144999" y="19987"/>
                </a:lnTo>
                <a:cubicBezTo>
                  <a:pt x="153150" y="19987"/>
                  <a:pt x="160332" y="26732"/>
                  <a:pt x="159708" y="35539"/>
                </a:cubicBezTo>
                <a:cubicBezTo>
                  <a:pt x="157365" y="67924"/>
                  <a:pt x="140814" y="85725"/>
                  <a:pt x="122857" y="95031"/>
                </a:cubicBezTo>
                <a:cubicBezTo>
                  <a:pt x="117923" y="97592"/>
                  <a:pt x="112895" y="99497"/>
                  <a:pt x="108117" y="100903"/>
                </a:cubicBezTo>
                <a:cubicBezTo>
                  <a:pt x="101808" y="109834"/>
                  <a:pt x="95250" y="114550"/>
                  <a:pt x="90035" y="117079"/>
                </a:cubicBezTo>
                <a:lnTo>
                  <a:pt x="90035" y="139908"/>
                </a:lnTo>
                <a:lnTo>
                  <a:pt x="110022" y="139908"/>
                </a:lnTo>
                <a:cubicBezTo>
                  <a:pt x="115549" y="139908"/>
                  <a:pt x="120015" y="144374"/>
                  <a:pt x="120015" y="149902"/>
                </a:cubicBezTo>
                <a:cubicBezTo>
                  <a:pt x="120015" y="155429"/>
                  <a:pt x="115549" y="159895"/>
                  <a:pt x="110022" y="159895"/>
                </a:cubicBezTo>
                <a:lnTo>
                  <a:pt x="50061" y="159895"/>
                </a:lnTo>
                <a:cubicBezTo>
                  <a:pt x="44533" y="159895"/>
                  <a:pt x="40067" y="155429"/>
                  <a:pt x="40067" y="149902"/>
                </a:cubicBezTo>
                <a:cubicBezTo>
                  <a:pt x="40067" y="144374"/>
                  <a:pt x="44533" y="139908"/>
                  <a:pt x="50061" y="139908"/>
                </a:cubicBezTo>
                <a:lnTo>
                  <a:pt x="70048" y="139908"/>
                </a:lnTo>
                <a:lnTo>
                  <a:pt x="70048" y="117079"/>
                </a:lnTo>
                <a:cubicBezTo>
                  <a:pt x="65051" y="114675"/>
                  <a:pt x="58836" y="110209"/>
                  <a:pt x="52778" y="101996"/>
                </a:cubicBezTo>
                <a:cubicBezTo>
                  <a:pt x="47032" y="100497"/>
                  <a:pt x="40786" y="98217"/>
                  <a:pt x="34696" y="94782"/>
                </a:cubicBezTo>
                <a:cubicBezTo>
                  <a:pt x="17801" y="85319"/>
                  <a:pt x="2561" y="67487"/>
                  <a:pt x="375" y="35477"/>
                </a:cubicBezTo>
                <a:cubicBezTo>
                  <a:pt x="-219" y="26701"/>
                  <a:pt x="6933" y="19956"/>
                  <a:pt x="15084" y="19956"/>
                </a:cubicBezTo>
                <a:lnTo>
                  <a:pt x="30574" y="19956"/>
                </a:lnTo>
                <a:cubicBezTo>
                  <a:pt x="30480" y="18332"/>
                  <a:pt x="30418" y="16708"/>
                  <a:pt x="30355" y="15021"/>
                </a:cubicBezTo>
                <a:cubicBezTo>
                  <a:pt x="30043" y="6746"/>
                  <a:pt x="36788" y="-31"/>
                  <a:pt x="45064" y="-31"/>
                </a:cubicBezTo>
                <a:close/>
                <a:moveTo>
                  <a:pt x="31698" y="34977"/>
                </a:moveTo>
                <a:lnTo>
                  <a:pt x="15334" y="34977"/>
                </a:lnTo>
                <a:cubicBezTo>
                  <a:pt x="17270" y="61428"/>
                  <a:pt x="29418" y="74670"/>
                  <a:pt x="41941" y="81696"/>
                </a:cubicBezTo>
                <a:cubicBezTo>
                  <a:pt x="37444" y="70048"/>
                  <a:pt x="33728" y="54839"/>
                  <a:pt x="31698" y="34977"/>
                </a:cubicBezTo>
                <a:close/>
                <a:moveTo>
                  <a:pt x="118672" y="80197"/>
                </a:moveTo>
                <a:cubicBezTo>
                  <a:pt x="131320" y="72765"/>
                  <a:pt x="142750" y="59555"/>
                  <a:pt x="144686" y="34977"/>
                </a:cubicBezTo>
                <a:lnTo>
                  <a:pt x="128353" y="34977"/>
                </a:lnTo>
                <a:cubicBezTo>
                  <a:pt x="126417" y="53996"/>
                  <a:pt x="122919" y="68767"/>
                  <a:pt x="118672" y="8019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1454" y="319790"/>
            <a:ext cx="4796852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kern="0" spc="44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1454" y="479685"/>
            <a:ext cx="4884795" cy="3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6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Test Set Performance: RBF SVM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9790" y="991350"/>
            <a:ext cx="7203273" cy="2558321"/>
          </a:xfrm>
          <a:custGeom>
            <a:avLst/>
            <a:gdLst/>
            <a:ahLst/>
            <a:cxnLst/>
            <a:rect l="l" t="t" r="r" b="b"/>
            <a:pathLst>
              <a:path w="7203273" h="2558321">
                <a:moveTo>
                  <a:pt x="127916" y="0"/>
                </a:moveTo>
                <a:lnTo>
                  <a:pt x="7075357" y="0"/>
                </a:lnTo>
                <a:cubicBezTo>
                  <a:pt x="7146003" y="0"/>
                  <a:pt x="7203273" y="57270"/>
                  <a:pt x="7203273" y="127916"/>
                </a:cubicBezTo>
                <a:lnTo>
                  <a:pt x="7203273" y="2430405"/>
                </a:lnTo>
                <a:cubicBezTo>
                  <a:pt x="7203273" y="2501051"/>
                  <a:pt x="7146003" y="2558321"/>
                  <a:pt x="7075357" y="2558321"/>
                </a:cubicBezTo>
                <a:lnTo>
                  <a:pt x="127916" y="2558321"/>
                </a:lnTo>
                <a:cubicBezTo>
                  <a:pt x="57270" y="2558321"/>
                  <a:pt x="0" y="2501051"/>
                  <a:pt x="0" y="2430405"/>
                </a:cubicBezTo>
                <a:lnTo>
                  <a:pt x="0" y="127916"/>
                </a:lnTo>
                <a:cubicBezTo>
                  <a:pt x="0" y="57317"/>
                  <a:pt x="57317" y="0"/>
                  <a:pt x="127916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3643" y="1191121"/>
            <a:ext cx="239843" cy="239843"/>
          </a:xfrm>
          <a:custGeom>
            <a:avLst/>
            <a:gdLst/>
            <a:ahLst/>
            <a:cxnLst/>
            <a:rect l="l" t="t" r="r" b="b"/>
            <a:pathLst>
              <a:path w="239843" h="239843">
                <a:moveTo>
                  <a:pt x="29980" y="29980"/>
                </a:moveTo>
                <a:cubicBezTo>
                  <a:pt x="29980" y="21689"/>
                  <a:pt x="23282" y="14990"/>
                  <a:pt x="14990" y="14990"/>
                </a:cubicBezTo>
                <a:cubicBezTo>
                  <a:pt x="6699" y="14990"/>
                  <a:pt x="0" y="21689"/>
                  <a:pt x="0" y="29980"/>
                </a:cubicBezTo>
                <a:lnTo>
                  <a:pt x="0" y="187377"/>
                </a:lnTo>
                <a:cubicBezTo>
                  <a:pt x="0" y="208082"/>
                  <a:pt x="16770" y="224852"/>
                  <a:pt x="37475" y="224852"/>
                </a:cubicBezTo>
                <a:lnTo>
                  <a:pt x="224852" y="224852"/>
                </a:lnTo>
                <a:cubicBezTo>
                  <a:pt x="233144" y="224852"/>
                  <a:pt x="239843" y="218154"/>
                  <a:pt x="239843" y="209862"/>
                </a:cubicBezTo>
                <a:cubicBezTo>
                  <a:pt x="239843" y="201571"/>
                  <a:pt x="233144" y="194872"/>
                  <a:pt x="224852" y="194872"/>
                </a:cubicBezTo>
                <a:lnTo>
                  <a:pt x="37475" y="194872"/>
                </a:lnTo>
                <a:cubicBezTo>
                  <a:pt x="33353" y="194872"/>
                  <a:pt x="29980" y="191499"/>
                  <a:pt x="29980" y="187377"/>
                </a:cubicBezTo>
                <a:lnTo>
                  <a:pt x="29980" y="29980"/>
                </a:lnTo>
                <a:close/>
                <a:moveTo>
                  <a:pt x="220449" y="70547"/>
                </a:moveTo>
                <a:cubicBezTo>
                  <a:pt x="226305" y="64692"/>
                  <a:pt x="226305" y="55183"/>
                  <a:pt x="220449" y="49327"/>
                </a:cubicBezTo>
                <a:cubicBezTo>
                  <a:pt x="214594" y="43471"/>
                  <a:pt x="205084" y="43471"/>
                  <a:pt x="199229" y="49327"/>
                </a:cubicBezTo>
                <a:lnTo>
                  <a:pt x="149902" y="98701"/>
                </a:lnTo>
                <a:lnTo>
                  <a:pt x="123013" y="71859"/>
                </a:lnTo>
                <a:cubicBezTo>
                  <a:pt x="117158" y="66004"/>
                  <a:pt x="107648" y="66004"/>
                  <a:pt x="101793" y="71859"/>
                </a:cubicBezTo>
                <a:lnTo>
                  <a:pt x="56822" y="116830"/>
                </a:lnTo>
                <a:cubicBezTo>
                  <a:pt x="50967" y="122685"/>
                  <a:pt x="50967" y="132195"/>
                  <a:pt x="56822" y="138050"/>
                </a:cubicBezTo>
                <a:cubicBezTo>
                  <a:pt x="62678" y="143906"/>
                  <a:pt x="72187" y="143906"/>
                  <a:pt x="78043" y="138050"/>
                </a:cubicBezTo>
                <a:lnTo>
                  <a:pt x="112426" y="103666"/>
                </a:lnTo>
                <a:lnTo>
                  <a:pt x="139315" y="130555"/>
                </a:lnTo>
                <a:cubicBezTo>
                  <a:pt x="145170" y="136410"/>
                  <a:pt x="154680" y="136410"/>
                  <a:pt x="160535" y="130555"/>
                </a:cubicBezTo>
                <a:lnTo>
                  <a:pt x="220496" y="7059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07405" y="1183224"/>
            <a:ext cx="1375098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Overall Metrics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1664" y="1566874"/>
            <a:ext cx="3349802" cy="831454"/>
          </a:xfrm>
          <a:custGeom>
            <a:avLst/>
            <a:gdLst/>
            <a:ahLst/>
            <a:cxnLst/>
            <a:rect l="l" t="t" r="r" b="b"/>
            <a:pathLst>
              <a:path w="3349802" h="831454">
                <a:moveTo>
                  <a:pt x="95933" y="0"/>
                </a:moveTo>
                <a:lnTo>
                  <a:pt x="3253869" y="0"/>
                </a:lnTo>
                <a:cubicBezTo>
                  <a:pt x="3306851" y="0"/>
                  <a:pt x="3349802" y="42951"/>
                  <a:pt x="3349802" y="95933"/>
                </a:cubicBezTo>
                <a:lnTo>
                  <a:pt x="3349802" y="735521"/>
                </a:lnTo>
                <a:cubicBezTo>
                  <a:pt x="3349802" y="788504"/>
                  <a:pt x="3306851" y="831454"/>
                  <a:pt x="3253869" y="831454"/>
                </a:cubicBezTo>
                <a:lnTo>
                  <a:pt x="95933" y="831454"/>
                </a:lnTo>
                <a:cubicBezTo>
                  <a:pt x="42951" y="831454"/>
                  <a:pt x="0" y="788504"/>
                  <a:pt x="0" y="735521"/>
                </a:cubicBezTo>
                <a:lnTo>
                  <a:pt x="0" y="95933"/>
                </a:lnTo>
                <a:cubicBezTo>
                  <a:pt x="0" y="42986"/>
                  <a:pt x="42986" y="0"/>
                  <a:pt x="9593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1599" y="1694790"/>
            <a:ext cx="314993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3643" y="1886664"/>
            <a:ext cx="3285844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62.74%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86684" y="1566874"/>
            <a:ext cx="3349802" cy="831454"/>
          </a:xfrm>
          <a:custGeom>
            <a:avLst/>
            <a:gdLst/>
            <a:ahLst/>
            <a:cxnLst/>
            <a:rect l="l" t="t" r="r" b="b"/>
            <a:pathLst>
              <a:path w="3349802" h="831454">
                <a:moveTo>
                  <a:pt x="95933" y="0"/>
                </a:moveTo>
                <a:lnTo>
                  <a:pt x="3253869" y="0"/>
                </a:lnTo>
                <a:cubicBezTo>
                  <a:pt x="3306851" y="0"/>
                  <a:pt x="3349802" y="42951"/>
                  <a:pt x="3349802" y="95933"/>
                </a:cubicBezTo>
                <a:lnTo>
                  <a:pt x="3349802" y="735521"/>
                </a:lnTo>
                <a:cubicBezTo>
                  <a:pt x="3349802" y="788504"/>
                  <a:pt x="3306851" y="831454"/>
                  <a:pt x="3253869" y="831454"/>
                </a:cubicBezTo>
                <a:lnTo>
                  <a:pt x="95933" y="831454"/>
                </a:lnTo>
                <a:cubicBezTo>
                  <a:pt x="42951" y="831454"/>
                  <a:pt x="0" y="788504"/>
                  <a:pt x="0" y="735521"/>
                </a:cubicBezTo>
                <a:lnTo>
                  <a:pt x="0" y="95933"/>
                </a:lnTo>
                <a:cubicBezTo>
                  <a:pt x="0" y="42986"/>
                  <a:pt x="42986" y="0"/>
                  <a:pt x="9593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86619" y="1694790"/>
            <a:ext cx="314993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18663" y="1886664"/>
            <a:ext cx="3285844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62.74%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1664" y="2526245"/>
            <a:ext cx="3349802" cy="831454"/>
          </a:xfrm>
          <a:custGeom>
            <a:avLst/>
            <a:gdLst/>
            <a:ahLst/>
            <a:cxnLst/>
            <a:rect l="l" t="t" r="r" b="b"/>
            <a:pathLst>
              <a:path w="3349802" h="831454">
                <a:moveTo>
                  <a:pt x="95933" y="0"/>
                </a:moveTo>
                <a:lnTo>
                  <a:pt x="3253869" y="0"/>
                </a:lnTo>
                <a:cubicBezTo>
                  <a:pt x="3306851" y="0"/>
                  <a:pt x="3349802" y="42951"/>
                  <a:pt x="3349802" y="95933"/>
                </a:cubicBezTo>
                <a:lnTo>
                  <a:pt x="3349802" y="735521"/>
                </a:lnTo>
                <a:cubicBezTo>
                  <a:pt x="3349802" y="788504"/>
                  <a:pt x="3306851" y="831454"/>
                  <a:pt x="3253869" y="831454"/>
                </a:cubicBezTo>
                <a:lnTo>
                  <a:pt x="95933" y="831454"/>
                </a:lnTo>
                <a:cubicBezTo>
                  <a:pt x="42951" y="831454"/>
                  <a:pt x="0" y="788504"/>
                  <a:pt x="0" y="735521"/>
                </a:cubicBezTo>
                <a:lnTo>
                  <a:pt x="0" y="95933"/>
                </a:lnTo>
                <a:cubicBezTo>
                  <a:pt x="0" y="42986"/>
                  <a:pt x="42986" y="0"/>
                  <a:pt x="9593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1599" y="2654161"/>
            <a:ext cx="314993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3643" y="2846035"/>
            <a:ext cx="3285844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62.74%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86684" y="2526245"/>
            <a:ext cx="3349802" cy="831454"/>
          </a:xfrm>
          <a:custGeom>
            <a:avLst/>
            <a:gdLst/>
            <a:ahLst/>
            <a:cxnLst/>
            <a:rect l="l" t="t" r="r" b="b"/>
            <a:pathLst>
              <a:path w="3349802" h="831454">
                <a:moveTo>
                  <a:pt x="95933" y="0"/>
                </a:moveTo>
                <a:lnTo>
                  <a:pt x="3253869" y="0"/>
                </a:lnTo>
                <a:cubicBezTo>
                  <a:pt x="3306851" y="0"/>
                  <a:pt x="3349802" y="42951"/>
                  <a:pt x="3349802" y="95933"/>
                </a:cubicBezTo>
                <a:lnTo>
                  <a:pt x="3349802" y="735521"/>
                </a:lnTo>
                <a:cubicBezTo>
                  <a:pt x="3349802" y="788504"/>
                  <a:pt x="3306851" y="831454"/>
                  <a:pt x="3253869" y="831454"/>
                </a:cubicBezTo>
                <a:lnTo>
                  <a:pt x="95933" y="831454"/>
                </a:lnTo>
                <a:cubicBezTo>
                  <a:pt x="42951" y="831454"/>
                  <a:pt x="0" y="788504"/>
                  <a:pt x="0" y="735521"/>
                </a:cubicBezTo>
                <a:lnTo>
                  <a:pt x="0" y="95933"/>
                </a:lnTo>
                <a:cubicBezTo>
                  <a:pt x="0" y="42986"/>
                  <a:pt x="42986" y="0"/>
                  <a:pt x="95933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86619" y="2654161"/>
            <a:ext cx="3149933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F1-Score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18663" y="2846035"/>
            <a:ext cx="3285844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022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62.70%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988" y="3712666"/>
            <a:ext cx="7201674" cy="3148334"/>
          </a:xfrm>
          <a:custGeom>
            <a:avLst/>
            <a:gdLst/>
            <a:ahLst/>
            <a:cxnLst/>
            <a:rect l="l" t="t" r="r" b="b"/>
            <a:pathLst>
              <a:path w="7201674" h="3148334">
                <a:moveTo>
                  <a:pt x="127917" y="0"/>
                </a:moveTo>
                <a:lnTo>
                  <a:pt x="7073758" y="0"/>
                </a:lnTo>
                <a:cubicBezTo>
                  <a:pt x="7144404" y="0"/>
                  <a:pt x="7201674" y="57270"/>
                  <a:pt x="7201674" y="127917"/>
                </a:cubicBezTo>
                <a:lnTo>
                  <a:pt x="7201674" y="3020417"/>
                </a:lnTo>
                <a:cubicBezTo>
                  <a:pt x="7201674" y="3091064"/>
                  <a:pt x="7144404" y="3148334"/>
                  <a:pt x="7073758" y="3148334"/>
                </a:cubicBezTo>
                <a:lnTo>
                  <a:pt x="127917" y="3148334"/>
                </a:lnTo>
                <a:cubicBezTo>
                  <a:pt x="57270" y="3148334"/>
                  <a:pt x="0" y="3091064"/>
                  <a:pt x="0" y="3020417"/>
                </a:cubicBezTo>
                <a:lnTo>
                  <a:pt x="0" y="127917"/>
                </a:lnTo>
                <a:cubicBezTo>
                  <a:pt x="0" y="57270"/>
                  <a:pt x="57270" y="0"/>
                  <a:pt x="127917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984" dist="79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8060" y="3907737"/>
            <a:ext cx="6891478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9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Per-Class Performance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8060" y="4259506"/>
            <a:ext cx="1007339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Best: Automobile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7808" y="4259506"/>
            <a:ext cx="391743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78.4%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8060" y="4483359"/>
            <a:ext cx="6811530" cy="79948"/>
          </a:xfrm>
          <a:custGeom>
            <a:avLst/>
            <a:gdLst/>
            <a:ahLst/>
            <a:cxnLst/>
            <a:rect l="l" t="t" r="r" b="b"/>
            <a:pathLst>
              <a:path w="6811530" h="79948">
                <a:moveTo>
                  <a:pt x="39974" y="0"/>
                </a:moveTo>
                <a:lnTo>
                  <a:pt x="6771557" y="0"/>
                </a:lnTo>
                <a:cubicBezTo>
                  <a:pt x="6793634" y="0"/>
                  <a:pt x="6811530" y="17897"/>
                  <a:pt x="6811530" y="39974"/>
                </a:cubicBezTo>
                <a:lnTo>
                  <a:pt x="6811530" y="39974"/>
                </a:lnTo>
                <a:cubicBezTo>
                  <a:pt x="6811530" y="62051"/>
                  <a:pt x="6793634" y="79948"/>
                  <a:pt x="6771557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8060" y="4483359"/>
            <a:ext cx="5340496" cy="79948"/>
          </a:xfrm>
          <a:custGeom>
            <a:avLst/>
            <a:gdLst/>
            <a:ahLst/>
            <a:cxnLst/>
            <a:rect l="l" t="t" r="r" b="b"/>
            <a:pathLst>
              <a:path w="5340496" h="79948">
                <a:moveTo>
                  <a:pt x="39974" y="0"/>
                </a:moveTo>
                <a:lnTo>
                  <a:pt x="5300522" y="0"/>
                </a:lnTo>
                <a:cubicBezTo>
                  <a:pt x="5322599" y="0"/>
                  <a:pt x="5340496" y="17897"/>
                  <a:pt x="5340496" y="39974"/>
                </a:cubicBezTo>
                <a:lnTo>
                  <a:pt x="5340496" y="39974"/>
                </a:lnTo>
                <a:cubicBezTo>
                  <a:pt x="5340496" y="62051"/>
                  <a:pt x="5322599" y="79948"/>
                  <a:pt x="5300522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8060" y="4659244"/>
            <a:ext cx="375753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Truck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7709" y="4659244"/>
            <a:ext cx="391743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72.8%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8060" y="4883097"/>
            <a:ext cx="6811530" cy="79948"/>
          </a:xfrm>
          <a:custGeom>
            <a:avLst/>
            <a:gdLst/>
            <a:ahLst/>
            <a:cxnLst/>
            <a:rect l="l" t="t" r="r" b="b"/>
            <a:pathLst>
              <a:path w="6811530" h="79948">
                <a:moveTo>
                  <a:pt x="39974" y="0"/>
                </a:moveTo>
                <a:lnTo>
                  <a:pt x="6771557" y="0"/>
                </a:lnTo>
                <a:cubicBezTo>
                  <a:pt x="6793634" y="0"/>
                  <a:pt x="6811530" y="17897"/>
                  <a:pt x="6811530" y="39974"/>
                </a:cubicBezTo>
                <a:lnTo>
                  <a:pt x="6811530" y="39974"/>
                </a:lnTo>
                <a:cubicBezTo>
                  <a:pt x="6811530" y="62051"/>
                  <a:pt x="6793634" y="79948"/>
                  <a:pt x="6771557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8060" y="4883097"/>
            <a:ext cx="4956748" cy="79948"/>
          </a:xfrm>
          <a:custGeom>
            <a:avLst/>
            <a:gdLst/>
            <a:ahLst/>
            <a:cxnLst/>
            <a:rect l="l" t="t" r="r" b="b"/>
            <a:pathLst>
              <a:path w="4956748" h="79948">
                <a:moveTo>
                  <a:pt x="39974" y="0"/>
                </a:moveTo>
                <a:lnTo>
                  <a:pt x="4916774" y="0"/>
                </a:lnTo>
                <a:cubicBezTo>
                  <a:pt x="4938851" y="0"/>
                  <a:pt x="4956748" y="17897"/>
                  <a:pt x="4956748" y="39974"/>
                </a:cubicBezTo>
                <a:lnTo>
                  <a:pt x="4956748" y="39974"/>
                </a:lnTo>
                <a:cubicBezTo>
                  <a:pt x="4956748" y="62051"/>
                  <a:pt x="4938851" y="79948"/>
                  <a:pt x="4916774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8060" y="5058981"/>
            <a:ext cx="527654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Airplane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28488" y="5058981"/>
            <a:ext cx="359764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71.2%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8060" y="5282834"/>
            <a:ext cx="6811530" cy="79948"/>
          </a:xfrm>
          <a:custGeom>
            <a:avLst/>
            <a:gdLst/>
            <a:ahLst/>
            <a:cxnLst/>
            <a:rect l="l" t="t" r="r" b="b"/>
            <a:pathLst>
              <a:path w="6811530" h="79948">
                <a:moveTo>
                  <a:pt x="39974" y="0"/>
                </a:moveTo>
                <a:lnTo>
                  <a:pt x="6771557" y="0"/>
                </a:lnTo>
                <a:cubicBezTo>
                  <a:pt x="6793634" y="0"/>
                  <a:pt x="6811530" y="17897"/>
                  <a:pt x="6811530" y="39974"/>
                </a:cubicBezTo>
                <a:lnTo>
                  <a:pt x="6811530" y="39974"/>
                </a:lnTo>
                <a:cubicBezTo>
                  <a:pt x="6811530" y="62051"/>
                  <a:pt x="6793634" y="79948"/>
                  <a:pt x="6771557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8060" y="5282834"/>
            <a:ext cx="4844821" cy="79948"/>
          </a:xfrm>
          <a:custGeom>
            <a:avLst/>
            <a:gdLst/>
            <a:ahLst/>
            <a:cxnLst/>
            <a:rect l="l" t="t" r="r" b="b"/>
            <a:pathLst>
              <a:path w="4844821" h="79948">
                <a:moveTo>
                  <a:pt x="39974" y="0"/>
                </a:moveTo>
                <a:lnTo>
                  <a:pt x="4804847" y="0"/>
                </a:lnTo>
                <a:cubicBezTo>
                  <a:pt x="4826924" y="0"/>
                  <a:pt x="4844821" y="17897"/>
                  <a:pt x="4844821" y="39974"/>
                </a:cubicBezTo>
                <a:lnTo>
                  <a:pt x="4844821" y="39974"/>
                </a:lnTo>
                <a:cubicBezTo>
                  <a:pt x="4844821" y="62051"/>
                  <a:pt x="4826924" y="79948"/>
                  <a:pt x="4804847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18060" y="5461917"/>
            <a:ext cx="6811530" cy="6396"/>
          </a:xfrm>
          <a:custGeom>
            <a:avLst/>
            <a:gdLst/>
            <a:ahLst/>
            <a:cxnLst/>
            <a:rect l="l" t="t" r="r" b="b"/>
            <a:pathLst>
              <a:path w="6811530" h="6396">
                <a:moveTo>
                  <a:pt x="0" y="0"/>
                </a:moveTo>
                <a:lnTo>
                  <a:pt x="6811530" y="0"/>
                </a:lnTo>
                <a:lnTo>
                  <a:pt x="6811530" y="6396"/>
                </a:lnTo>
                <a:lnTo>
                  <a:pt x="0" y="639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8060" y="5561050"/>
            <a:ext cx="95137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Challenging: Cat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88715" y="5561050"/>
            <a:ext cx="399738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43.6%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18060" y="5784903"/>
            <a:ext cx="6811530" cy="79948"/>
          </a:xfrm>
          <a:custGeom>
            <a:avLst/>
            <a:gdLst/>
            <a:ahLst/>
            <a:cxnLst/>
            <a:rect l="l" t="t" r="r" b="b"/>
            <a:pathLst>
              <a:path w="6811530" h="79948">
                <a:moveTo>
                  <a:pt x="39974" y="0"/>
                </a:moveTo>
                <a:lnTo>
                  <a:pt x="6771557" y="0"/>
                </a:lnTo>
                <a:cubicBezTo>
                  <a:pt x="6793634" y="0"/>
                  <a:pt x="6811530" y="17897"/>
                  <a:pt x="6811530" y="39974"/>
                </a:cubicBezTo>
                <a:lnTo>
                  <a:pt x="6811530" y="39974"/>
                </a:lnTo>
                <a:cubicBezTo>
                  <a:pt x="6811530" y="62051"/>
                  <a:pt x="6793634" y="79948"/>
                  <a:pt x="6771557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18060" y="5784903"/>
            <a:ext cx="2966054" cy="79948"/>
          </a:xfrm>
          <a:custGeom>
            <a:avLst/>
            <a:gdLst/>
            <a:ahLst/>
            <a:cxnLst/>
            <a:rect l="l" t="t" r="r" b="b"/>
            <a:pathLst>
              <a:path w="2966054" h="79948">
                <a:moveTo>
                  <a:pt x="39974" y="0"/>
                </a:moveTo>
                <a:lnTo>
                  <a:pt x="2926080" y="0"/>
                </a:lnTo>
                <a:cubicBezTo>
                  <a:pt x="2948157" y="0"/>
                  <a:pt x="2966054" y="17897"/>
                  <a:pt x="2966054" y="39974"/>
                </a:cubicBezTo>
                <a:lnTo>
                  <a:pt x="2966054" y="39974"/>
                </a:lnTo>
                <a:cubicBezTo>
                  <a:pt x="2966054" y="62051"/>
                  <a:pt x="2948157" y="79948"/>
                  <a:pt x="2926080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18060" y="5960788"/>
            <a:ext cx="27981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Bird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72025" y="5960788"/>
            <a:ext cx="415727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FF6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50.5%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8060" y="6184641"/>
            <a:ext cx="6811530" cy="79948"/>
          </a:xfrm>
          <a:custGeom>
            <a:avLst/>
            <a:gdLst/>
            <a:ahLst/>
            <a:cxnLst/>
            <a:rect l="l" t="t" r="r" b="b"/>
            <a:pathLst>
              <a:path w="6811530" h="79948">
                <a:moveTo>
                  <a:pt x="39974" y="0"/>
                </a:moveTo>
                <a:lnTo>
                  <a:pt x="6771557" y="0"/>
                </a:lnTo>
                <a:cubicBezTo>
                  <a:pt x="6793634" y="0"/>
                  <a:pt x="6811530" y="17897"/>
                  <a:pt x="6811530" y="39974"/>
                </a:cubicBezTo>
                <a:lnTo>
                  <a:pt x="6811530" y="39974"/>
                </a:lnTo>
                <a:cubicBezTo>
                  <a:pt x="6811530" y="62051"/>
                  <a:pt x="6793634" y="79948"/>
                  <a:pt x="6771557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18060" y="6184641"/>
            <a:ext cx="3437744" cy="79948"/>
          </a:xfrm>
          <a:custGeom>
            <a:avLst/>
            <a:gdLst/>
            <a:ahLst/>
            <a:cxnLst/>
            <a:rect l="l" t="t" r="r" b="b"/>
            <a:pathLst>
              <a:path w="3437744" h="79948">
                <a:moveTo>
                  <a:pt x="39974" y="0"/>
                </a:moveTo>
                <a:lnTo>
                  <a:pt x="3397770" y="0"/>
                </a:lnTo>
                <a:cubicBezTo>
                  <a:pt x="3419847" y="0"/>
                  <a:pt x="3437744" y="17897"/>
                  <a:pt x="3437744" y="39974"/>
                </a:cubicBezTo>
                <a:lnTo>
                  <a:pt x="3437744" y="39974"/>
                </a:lnTo>
                <a:cubicBezTo>
                  <a:pt x="3437744" y="62051"/>
                  <a:pt x="3419847" y="79948"/>
                  <a:pt x="3397770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18060" y="6360526"/>
            <a:ext cx="287811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72025" y="6360526"/>
            <a:ext cx="415727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FF6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50.5%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8060" y="6584379"/>
            <a:ext cx="6811530" cy="79948"/>
          </a:xfrm>
          <a:custGeom>
            <a:avLst/>
            <a:gdLst/>
            <a:ahLst/>
            <a:cxnLst/>
            <a:rect l="l" t="t" r="r" b="b"/>
            <a:pathLst>
              <a:path w="6811530" h="79948">
                <a:moveTo>
                  <a:pt x="39974" y="0"/>
                </a:moveTo>
                <a:lnTo>
                  <a:pt x="6771557" y="0"/>
                </a:lnTo>
                <a:cubicBezTo>
                  <a:pt x="6793634" y="0"/>
                  <a:pt x="6811530" y="17897"/>
                  <a:pt x="6811530" y="39974"/>
                </a:cubicBezTo>
                <a:lnTo>
                  <a:pt x="6811530" y="39974"/>
                </a:lnTo>
                <a:cubicBezTo>
                  <a:pt x="6811530" y="62051"/>
                  <a:pt x="6793634" y="79948"/>
                  <a:pt x="6771557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18060" y="6584379"/>
            <a:ext cx="3437744" cy="79948"/>
          </a:xfrm>
          <a:custGeom>
            <a:avLst/>
            <a:gdLst/>
            <a:ahLst/>
            <a:cxnLst/>
            <a:rect l="l" t="t" r="r" b="b"/>
            <a:pathLst>
              <a:path w="3437744" h="79948">
                <a:moveTo>
                  <a:pt x="39974" y="0"/>
                </a:moveTo>
                <a:lnTo>
                  <a:pt x="3397770" y="0"/>
                </a:lnTo>
                <a:cubicBezTo>
                  <a:pt x="3419847" y="0"/>
                  <a:pt x="3437744" y="17897"/>
                  <a:pt x="3437744" y="39974"/>
                </a:cubicBezTo>
                <a:lnTo>
                  <a:pt x="3437744" y="39974"/>
                </a:lnTo>
                <a:cubicBezTo>
                  <a:pt x="3437744" y="62051"/>
                  <a:pt x="3419847" y="79948"/>
                  <a:pt x="3397770" y="79948"/>
                </a:cubicBezTo>
                <a:lnTo>
                  <a:pt x="39974" y="79948"/>
                </a:lnTo>
                <a:cubicBezTo>
                  <a:pt x="17912" y="79948"/>
                  <a:pt x="0" y="62036"/>
                  <a:pt x="0" y="39974"/>
                </a:cubicBezTo>
                <a:lnTo>
                  <a:pt x="0" y="39974"/>
                </a:lnTo>
                <a:cubicBezTo>
                  <a:pt x="0" y="17912"/>
                  <a:pt x="17912" y="0"/>
                  <a:pt x="39974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720734" y="994547"/>
            <a:ext cx="4147678" cy="3931820"/>
          </a:xfrm>
          <a:custGeom>
            <a:avLst/>
            <a:gdLst/>
            <a:ahLst/>
            <a:cxnLst/>
            <a:rect l="l" t="t" r="r" b="b"/>
            <a:pathLst>
              <a:path w="4147678" h="3931820">
                <a:moveTo>
                  <a:pt x="127902" y="0"/>
                </a:moveTo>
                <a:lnTo>
                  <a:pt x="4019776" y="0"/>
                </a:lnTo>
                <a:cubicBezTo>
                  <a:pt x="4090415" y="0"/>
                  <a:pt x="4147678" y="57264"/>
                  <a:pt x="4147678" y="127902"/>
                </a:cubicBezTo>
                <a:lnTo>
                  <a:pt x="4147678" y="3803918"/>
                </a:lnTo>
                <a:cubicBezTo>
                  <a:pt x="4147678" y="3874556"/>
                  <a:pt x="4090415" y="3931820"/>
                  <a:pt x="4019776" y="3931820"/>
                </a:cubicBezTo>
                <a:lnTo>
                  <a:pt x="127902" y="3931820"/>
                </a:lnTo>
                <a:cubicBezTo>
                  <a:pt x="57264" y="3931820"/>
                  <a:pt x="0" y="3874556"/>
                  <a:pt x="0" y="3803918"/>
                </a:cubicBezTo>
                <a:lnTo>
                  <a:pt x="0" y="127902"/>
                </a:lnTo>
                <a:cubicBezTo>
                  <a:pt x="0" y="57311"/>
                  <a:pt x="57311" y="0"/>
                  <a:pt x="12790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3984" dist="799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847850" y="1157643"/>
            <a:ext cx="3893445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3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Results Dashboard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7720734" y="5094158"/>
            <a:ext cx="4147678" cy="1765242"/>
          </a:xfrm>
          <a:custGeom>
            <a:avLst/>
            <a:gdLst/>
            <a:ahLst/>
            <a:cxnLst/>
            <a:rect l="l" t="t" r="r" b="b"/>
            <a:pathLst>
              <a:path w="4147678" h="1765242">
                <a:moveTo>
                  <a:pt x="127909" y="0"/>
                </a:moveTo>
                <a:lnTo>
                  <a:pt x="4019769" y="0"/>
                </a:lnTo>
                <a:cubicBezTo>
                  <a:pt x="4090411" y="0"/>
                  <a:pt x="4147678" y="57267"/>
                  <a:pt x="4147678" y="127909"/>
                </a:cubicBezTo>
                <a:lnTo>
                  <a:pt x="4147678" y="1637332"/>
                </a:lnTo>
                <a:cubicBezTo>
                  <a:pt x="4147678" y="1707975"/>
                  <a:pt x="4090411" y="1765242"/>
                  <a:pt x="4019769" y="1765242"/>
                </a:cubicBezTo>
                <a:lnTo>
                  <a:pt x="127909" y="1765242"/>
                </a:lnTo>
                <a:cubicBezTo>
                  <a:pt x="57267" y="1765242"/>
                  <a:pt x="0" y="1707975"/>
                  <a:pt x="0" y="1637332"/>
                </a:cubicBezTo>
                <a:lnTo>
                  <a:pt x="0" y="127909"/>
                </a:lnTo>
                <a:cubicBezTo>
                  <a:pt x="0" y="57267"/>
                  <a:pt x="57267" y="0"/>
                  <a:pt x="127909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 w="10160">
            <a:solidFill>
              <a:srgbClr val="38A169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7907811" y="5273239"/>
            <a:ext cx="191874" cy="191874"/>
          </a:xfrm>
          <a:custGeom>
            <a:avLst/>
            <a:gdLst/>
            <a:ahLst/>
            <a:cxnLst/>
            <a:rect l="l" t="t" r="r" b="b"/>
            <a:pathLst>
              <a:path w="191874" h="191874">
                <a:moveTo>
                  <a:pt x="95937" y="191874"/>
                </a:moveTo>
                <a:cubicBezTo>
                  <a:pt x="148886" y="191874"/>
                  <a:pt x="191874" y="148886"/>
                  <a:pt x="191874" y="95937"/>
                </a:cubicBezTo>
                <a:cubicBezTo>
                  <a:pt x="191874" y="42988"/>
                  <a:pt x="148886" y="0"/>
                  <a:pt x="95937" y="0"/>
                </a:cubicBezTo>
                <a:cubicBezTo>
                  <a:pt x="42988" y="0"/>
                  <a:pt x="0" y="42988"/>
                  <a:pt x="0" y="95937"/>
                </a:cubicBezTo>
                <a:cubicBezTo>
                  <a:pt x="0" y="148886"/>
                  <a:pt x="42988" y="191874"/>
                  <a:pt x="95937" y="191874"/>
                </a:cubicBezTo>
                <a:close/>
                <a:moveTo>
                  <a:pt x="127566" y="79710"/>
                </a:moveTo>
                <a:lnTo>
                  <a:pt x="97586" y="127679"/>
                </a:lnTo>
                <a:cubicBezTo>
                  <a:pt x="96012" y="130190"/>
                  <a:pt x="93314" y="131764"/>
                  <a:pt x="90353" y="131913"/>
                </a:cubicBezTo>
                <a:cubicBezTo>
                  <a:pt x="87393" y="132063"/>
                  <a:pt x="84545" y="130714"/>
                  <a:pt x="82783" y="128316"/>
                </a:cubicBezTo>
                <a:lnTo>
                  <a:pt x="64795" y="104332"/>
                </a:lnTo>
                <a:cubicBezTo>
                  <a:pt x="61797" y="100359"/>
                  <a:pt x="62621" y="94738"/>
                  <a:pt x="66594" y="91740"/>
                </a:cubicBezTo>
                <a:cubicBezTo>
                  <a:pt x="70566" y="88742"/>
                  <a:pt x="76188" y="89566"/>
                  <a:pt x="79186" y="93539"/>
                </a:cubicBezTo>
                <a:lnTo>
                  <a:pt x="89304" y="107030"/>
                </a:lnTo>
                <a:lnTo>
                  <a:pt x="112314" y="70191"/>
                </a:lnTo>
                <a:cubicBezTo>
                  <a:pt x="114937" y="65994"/>
                  <a:pt x="120483" y="64683"/>
                  <a:pt x="124718" y="67343"/>
                </a:cubicBezTo>
                <a:cubicBezTo>
                  <a:pt x="128953" y="70004"/>
                  <a:pt x="130227" y="75513"/>
                  <a:pt x="127566" y="79748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8219607" y="5257250"/>
            <a:ext cx="1407077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9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Generalization Gap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8696894" y="5577040"/>
            <a:ext cx="839449" cy="287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9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61.82%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728873" y="5864851"/>
            <a:ext cx="7754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9689442" y="5704956"/>
            <a:ext cx="191874" cy="191874"/>
          </a:xfrm>
          <a:custGeom>
            <a:avLst/>
            <a:gdLst/>
            <a:ahLst/>
            <a:cxnLst/>
            <a:rect l="l" t="t" r="r" b="b"/>
            <a:pathLst>
              <a:path w="191874" h="191874">
                <a:moveTo>
                  <a:pt x="188351" y="104406"/>
                </a:moveTo>
                <a:cubicBezTo>
                  <a:pt x="193036" y="99722"/>
                  <a:pt x="193036" y="92115"/>
                  <a:pt x="188351" y="87430"/>
                </a:cubicBezTo>
                <a:lnTo>
                  <a:pt x="128391" y="27469"/>
                </a:lnTo>
                <a:cubicBezTo>
                  <a:pt x="123706" y="22785"/>
                  <a:pt x="116099" y="22785"/>
                  <a:pt x="111414" y="27469"/>
                </a:cubicBezTo>
                <a:cubicBezTo>
                  <a:pt x="106730" y="32154"/>
                  <a:pt x="106730" y="39761"/>
                  <a:pt x="111414" y="44446"/>
                </a:cubicBezTo>
                <a:lnTo>
                  <a:pt x="150913" y="83945"/>
                </a:lnTo>
                <a:lnTo>
                  <a:pt x="11992" y="83945"/>
                </a:lnTo>
                <a:cubicBezTo>
                  <a:pt x="5359" y="83945"/>
                  <a:pt x="0" y="89304"/>
                  <a:pt x="0" y="95937"/>
                </a:cubicBezTo>
                <a:cubicBezTo>
                  <a:pt x="0" y="102570"/>
                  <a:pt x="5359" y="107929"/>
                  <a:pt x="11992" y="107929"/>
                </a:cubicBezTo>
                <a:lnTo>
                  <a:pt x="150913" y="107929"/>
                </a:lnTo>
                <a:lnTo>
                  <a:pt x="111414" y="147428"/>
                </a:lnTo>
                <a:cubicBezTo>
                  <a:pt x="106730" y="152113"/>
                  <a:pt x="106730" y="159720"/>
                  <a:pt x="111414" y="164405"/>
                </a:cubicBezTo>
                <a:cubicBezTo>
                  <a:pt x="116099" y="169089"/>
                  <a:pt x="123706" y="169089"/>
                  <a:pt x="128391" y="164405"/>
                </a:cubicBezTo>
                <a:lnTo>
                  <a:pt x="188351" y="104444"/>
                </a:ln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0037214" y="5577040"/>
            <a:ext cx="855439" cy="287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89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62.74%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10069193" y="5864851"/>
            <a:ext cx="79148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7883827" y="6120683"/>
            <a:ext cx="3821492" cy="575622"/>
          </a:xfrm>
          <a:custGeom>
            <a:avLst/>
            <a:gdLst/>
            <a:ahLst/>
            <a:cxnLst/>
            <a:rect l="l" t="t" r="r" b="b"/>
            <a:pathLst>
              <a:path w="3821492" h="575622">
                <a:moveTo>
                  <a:pt x="95939" y="0"/>
                </a:moveTo>
                <a:lnTo>
                  <a:pt x="3725553" y="0"/>
                </a:lnTo>
                <a:cubicBezTo>
                  <a:pt x="3778539" y="0"/>
                  <a:pt x="3821492" y="42953"/>
                  <a:pt x="3821492" y="95939"/>
                </a:cubicBezTo>
                <a:lnTo>
                  <a:pt x="3821492" y="479683"/>
                </a:lnTo>
                <a:cubicBezTo>
                  <a:pt x="3821492" y="532669"/>
                  <a:pt x="3778539" y="575622"/>
                  <a:pt x="3725553" y="575622"/>
                </a:cubicBezTo>
                <a:lnTo>
                  <a:pt x="95939" y="575622"/>
                </a:lnTo>
                <a:cubicBezTo>
                  <a:pt x="42953" y="575622"/>
                  <a:pt x="0" y="532669"/>
                  <a:pt x="0" y="479683"/>
                </a:cubicBezTo>
                <a:lnTo>
                  <a:pt x="0" y="95939"/>
                </a:lnTo>
                <a:cubicBezTo>
                  <a:pt x="0" y="42989"/>
                  <a:pt x="42989" y="0"/>
                  <a:pt x="95939" y="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7947785" y="6216620"/>
            <a:ext cx="369357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Gap: </a:t>
            </a:r>
            <a:r>
              <a:rPr lang="en-US" sz="1007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+0.92%</a:t>
            </a:r>
            <a:r>
              <a:rPr lang="en-US" sz="100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(Test &gt; Validation)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7951782" y="6440473"/>
            <a:ext cx="3685582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overfitting → Robust model</a:t>
            </a:r>
            <a:endParaRPr lang="en-US" sz="1600" dirty="0"/>
          </a:p>
        </p:txBody>
      </p:sp>
      <p:pic>
        <p:nvPicPr>
          <p:cNvPr id="63" name="dashboard_analysis">
            <a:extLst>
              <a:ext uri="{FF2B5EF4-FFF2-40B4-BE49-F238E27FC236}">
                <a16:creationId xmlns:a16="http://schemas.microsoft.com/office/drawing/2014/main" id="{4A89320F-330A-ADC3-7DD6-BD5B69B8D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5379" y="1355534"/>
            <a:ext cx="3238385" cy="34827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4350" y="571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70061" y="54732"/>
                </a:moveTo>
                <a:cubicBezTo>
                  <a:pt x="67233" y="56294"/>
                  <a:pt x="65484" y="59308"/>
                  <a:pt x="65484" y="62508"/>
                </a:cubicBezTo>
                <a:lnTo>
                  <a:pt x="65484" y="127992"/>
                </a:lnTo>
                <a:cubicBezTo>
                  <a:pt x="65484" y="131229"/>
                  <a:pt x="67233" y="134206"/>
                  <a:pt x="70061" y="135768"/>
                </a:cubicBezTo>
                <a:cubicBezTo>
                  <a:pt x="72889" y="137331"/>
                  <a:pt x="76312" y="137294"/>
                  <a:pt x="79102" y="135582"/>
                </a:cubicBezTo>
                <a:lnTo>
                  <a:pt x="132680" y="102840"/>
                </a:lnTo>
                <a:cubicBezTo>
                  <a:pt x="135322" y="101203"/>
                  <a:pt x="136959" y="98338"/>
                  <a:pt x="136959" y="95213"/>
                </a:cubicBezTo>
                <a:cubicBezTo>
                  <a:pt x="136959" y="92087"/>
                  <a:pt x="135322" y="89222"/>
                  <a:pt x="132680" y="87585"/>
                </a:cubicBezTo>
                <a:lnTo>
                  <a:pt x="79102" y="54843"/>
                </a:lnTo>
                <a:cubicBezTo>
                  <a:pt x="76349" y="53169"/>
                  <a:pt x="72889" y="53094"/>
                  <a:pt x="70061" y="5465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4143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Model Demonstration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3674745" cy="3188970"/>
          </a:xfrm>
          <a:custGeom>
            <a:avLst/>
            <a:gdLst/>
            <a:ahLst/>
            <a:cxnLst/>
            <a:rect l="l" t="t" r="r" b="b"/>
            <a:pathLst>
              <a:path w="3674745" h="3188970">
                <a:moveTo>
                  <a:pt x="152401" y="0"/>
                </a:moveTo>
                <a:lnTo>
                  <a:pt x="3522344" y="0"/>
                </a:lnTo>
                <a:cubicBezTo>
                  <a:pt x="3606513" y="0"/>
                  <a:pt x="3674745" y="68232"/>
                  <a:pt x="3674745" y="152401"/>
                </a:cubicBezTo>
                <a:lnTo>
                  <a:pt x="3674745" y="3036569"/>
                </a:lnTo>
                <a:cubicBezTo>
                  <a:pt x="3674745" y="3120738"/>
                  <a:pt x="3606513" y="3188970"/>
                  <a:pt x="3522344" y="3188970"/>
                </a:cubicBezTo>
                <a:lnTo>
                  <a:pt x="152401" y="3188970"/>
                </a:lnTo>
                <a:cubicBezTo>
                  <a:pt x="68232" y="3188970"/>
                  <a:pt x="0" y="3120738"/>
                  <a:pt x="0" y="3036569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79120" y="1417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93420" y="153162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40243" y="34945"/>
                </a:moveTo>
                <a:lnTo>
                  <a:pt x="32474" y="57150"/>
                </a:lnTo>
                <a:lnTo>
                  <a:pt x="119926" y="57150"/>
                </a:lnTo>
                <a:lnTo>
                  <a:pt x="112157" y="34945"/>
                </a:lnTo>
                <a:cubicBezTo>
                  <a:pt x="110817" y="31135"/>
                  <a:pt x="107216" y="28575"/>
                  <a:pt x="103168" y="28575"/>
                </a:cubicBezTo>
                <a:lnTo>
                  <a:pt x="49232" y="28575"/>
                </a:lnTo>
                <a:cubicBezTo>
                  <a:pt x="45184" y="28575"/>
                  <a:pt x="41583" y="31135"/>
                  <a:pt x="40243" y="34945"/>
                </a:cubicBezTo>
                <a:close/>
                <a:moveTo>
                  <a:pt x="11787" y="58579"/>
                </a:moveTo>
                <a:lnTo>
                  <a:pt x="22265" y="28664"/>
                </a:lnTo>
                <a:cubicBezTo>
                  <a:pt x="26283" y="17205"/>
                  <a:pt x="37088" y="9525"/>
                  <a:pt x="49232" y="9525"/>
                </a:cubicBezTo>
                <a:lnTo>
                  <a:pt x="103168" y="9525"/>
                </a:lnTo>
                <a:cubicBezTo>
                  <a:pt x="115312" y="9525"/>
                  <a:pt x="126117" y="17205"/>
                  <a:pt x="130135" y="28664"/>
                </a:cubicBezTo>
                <a:lnTo>
                  <a:pt x="140613" y="58579"/>
                </a:lnTo>
                <a:cubicBezTo>
                  <a:pt x="147518" y="61436"/>
                  <a:pt x="152400" y="68253"/>
                  <a:pt x="152400" y="76200"/>
                </a:cubicBezTo>
                <a:lnTo>
                  <a:pt x="152400" y="133350"/>
                </a:lnTo>
                <a:cubicBezTo>
                  <a:pt x="152400" y="138619"/>
                  <a:pt x="148144" y="142875"/>
                  <a:pt x="142875" y="142875"/>
                </a:cubicBezTo>
                <a:lnTo>
                  <a:pt x="133350" y="142875"/>
                </a:lnTo>
                <a:cubicBezTo>
                  <a:pt x="128081" y="142875"/>
                  <a:pt x="123825" y="138619"/>
                  <a:pt x="123825" y="133350"/>
                </a:cubicBezTo>
                <a:lnTo>
                  <a:pt x="123825" y="123825"/>
                </a:lnTo>
                <a:lnTo>
                  <a:pt x="28575" y="123825"/>
                </a:lnTo>
                <a:lnTo>
                  <a:pt x="28575" y="133350"/>
                </a:lnTo>
                <a:cubicBezTo>
                  <a:pt x="28575" y="138619"/>
                  <a:pt x="24319" y="142875"/>
                  <a:pt x="19050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76200"/>
                </a:lnTo>
                <a:cubicBezTo>
                  <a:pt x="0" y="68253"/>
                  <a:pt x="4882" y="61436"/>
                  <a:pt x="11787" y="58579"/>
                </a:cubicBezTo>
                <a:close/>
                <a:moveTo>
                  <a:pt x="38100" y="90488"/>
                </a:moveTo>
                <a:cubicBezTo>
                  <a:pt x="38100" y="85231"/>
                  <a:pt x="33832" y="80962"/>
                  <a:pt x="28575" y="80962"/>
                </a:cubicBezTo>
                <a:cubicBezTo>
                  <a:pt x="23318" y="80962"/>
                  <a:pt x="19050" y="85231"/>
                  <a:pt x="19050" y="90488"/>
                </a:cubicBezTo>
                <a:cubicBezTo>
                  <a:pt x="19050" y="95744"/>
                  <a:pt x="23318" y="100013"/>
                  <a:pt x="28575" y="100013"/>
                </a:cubicBezTo>
                <a:cubicBezTo>
                  <a:pt x="33832" y="100013"/>
                  <a:pt x="38100" y="95744"/>
                  <a:pt x="38100" y="90488"/>
                </a:cubicBezTo>
                <a:close/>
                <a:moveTo>
                  <a:pt x="123825" y="100013"/>
                </a:moveTo>
                <a:cubicBezTo>
                  <a:pt x="129082" y="100013"/>
                  <a:pt x="133350" y="95744"/>
                  <a:pt x="133350" y="90488"/>
                </a:cubicBezTo>
                <a:cubicBezTo>
                  <a:pt x="133350" y="85231"/>
                  <a:pt x="129082" y="80962"/>
                  <a:pt x="123825" y="80962"/>
                </a:cubicBezTo>
                <a:cubicBezTo>
                  <a:pt x="118568" y="80962"/>
                  <a:pt x="114300" y="85231"/>
                  <a:pt x="114300" y="90488"/>
                </a:cubicBezTo>
                <a:cubicBezTo>
                  <a:pt x="114300" y="95744"/>
                  <a:pt x="118568" y="100013"/>
                  <a:pt x="123825" y="10001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4420" y="1379223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4420" y="1569723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Automobile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9120" y="1988823"/>
            <a:ext cx="3286125" cy="1295400"/>
          </a:xfrm>
          <a:custGeom>
            <a:avLst/>
            <a:gdLst/>
            <a:ahLst/>
            <a:cxnLst/>
            <a:rect l="l" t="t" r="r" b="b"/>
            <a:pathLst>
              <a:path w="3286125" h="1295400">
                <a:moveTo>
                  <a:pt x="114306" y="0"/>
                </a:moveTo>
                <a:lnTo>
                  <a:pt x="3171819" y="0"/>
                </a:lnTo>
                <a:cubicBezTo>
                  <a:pt x="3234948" y="0"/>
                  <a:pt x="3286125" y="51177"/>
                  <a:pt x="3286125" y="114306"/>
                </a:cubicBezTo>
                <a:lnTo>
                  <a:pt x="3286125" y="1181094"/>
                </a:lnTo>
                <a:cubicBezTo>
                  <a:pt x="3286125" y="1244223"/>
                  <a:pt x="3234948" y="1295400"/>
                  <a:pt x="3171819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5333" y="21793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5845" y="2141223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484123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0978" y="2484123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automobile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2712723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Score: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2712723"/>
            <a:ext cx="30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2.45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941323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060978" y="2941323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automobile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9120" y="3436623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shape features make this an easy prediction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8270" y="1184910"/>
            <a:ext cx="3674745" cy="3188970"/>
          </a:xfrm>
          <a:custGeom>
            <a:avLst/>
            <a:gdLst/>
            <a:ahLst/>
            <a:cxnLst/>
            <a:rect l="l" t="t" r="r" b="b"/>
            <a:pathLst>
              <a:path w="3674745" h="3188970">
                <a:moveTo>
                  <a:pt x="152401" y="0"/>
                </a:moveTo>
                <a:lnTo>
                  <a:pt x="3522344" y="0"/>
                </a:lnTo>
                <a:cubicBezTo>
                  <a:pt x="3606513" y="0"/>
                  <a:pt x="3674745" y="68232"/>
                  <a:pt x="3674745" y="152401"/>
                </a:cubicBezTo>
                <a:lnTo>
                  <a:pt x="3674745" y="3036569"/>
                </a:lnTo>
                <a:cubicBezTo>
                  <a:pt x="3674745" y="3120738"/>
                  <a:pt x="3606513" y="3188970"/>
                  <a:pt x="3522344" y="3188970"/>
                </a:cubicBezTo>
                <a:lnTo>
                  <a:pt x="152401" y="3188970"/>
                </a:lnTo>
                <a:cubicBezTo>
                  <a:pt x="68232" y="3188970"/>
                  <a:pt x="0" y="3120738"/>
                  <a:pt x="0" y="3036569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52580" y="1417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57355" y="15316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9537" y="9525"/>
                </a:moveTo>
                <a:cubicBezTo>
                  <a:pt x="121950" y="9525"/>
                  <a:pt x="132130" y="18990"/>
                  <a:pt x="133261" y="31105"/>
                </a:cubicBezTo>
                <a:lnTo>
                  <a:pt x="158740" y="38933"/>
                </a:lnTo>
                <a:cubicBezTo>
                  <a:pt x="166301" y="41255"/>
                  <a:pt x="171480" y="48250"/>
                  <a:pt x="171480" y="56168"/>
                </a:cubicBezTo>
                <a:cubicBezTo>
                  <a:pt x="171480" y="62657"/>
                  <a:pt x="167997" y="68640"/>
                  <a:pt x="162342" y="71854"/>
                </a:cubicBezTo>
                <a:lnTo>
                  <a:pt x="119330" y="96292"/>
                </a:lnTo>
                <a:lnTo>
                  <a:pt x="146864" y="123825"/>
                </a:lnTo>
                <a:lnTo>
                  <a:pt x="161955" y="123825"/>
                </a:lnTo>
                <a:cubicBezTo>
                  <a:pt x="167223" y="123825"/>
                  <a:pt x="171480" y="128081"/>
                  <a:pt x="171480" y="133350"/>
                </a:cubicBezTo>
                <a:cubicBezTo>
                  <a:pt x="171480" y="138619"/>
                  <a:pt x="167223" y="142875"/>
                  <a:pt x="161955" y="142875"/>
                </a:cubicBezTo>
                <a:lnTo>
                  <a:pt x="142905" y="142875"/>
                </a:lnTo>
                <a:cubicBezTo>
                  <a:pt x="140375" y="142875"/>
                  <a:pt x="137964" y="141863"/>
                  <a:pt x="136178" y="140077"/>
                </a:cubicBezTo>
                <a:lnTo>
                  <a:pt x="103257" y="107216"/>
                </a:lnTo>
                <a:cubicBezTo>
                  <a:pt x="106740" y="96500"/>
                  <a:pt x="104209" y="84266"/>
                  <a:pt x="95696" y="75754"/>
                </a:cubicBezTo>
                <a:cubicBezTo>
                  <a:pt x="83612" y="63669"/>
                  <a:pt x="64056" y="63669"/>
                  <a:pt x="51971" y="75724"/>
                </a:cubicBezTo>
                <a:lnTo>
                  <a:pt x="30063" y="96560"/>
                </a:lnTo>
                <a:cubicBezTo>
                  <a:pt x="28158" y="98375"/>
                  <a:pt x="28069" y="101382"/>
                  <a:pt x="29885" y="103287"/>
                </a:cubicBezTo>
                <a:cubicBezTo>
                  <a:pt x="31700" y="105192"/>
                  <a:pt x="34707" y="105251"/>
                  <a:pt x="36612" y="103465"/>
                </a:cubicBezTo>
                <a:lnTo>
                  <a:pt x="58579" y="82570"/>
                </a:lnTo>
                <a:lnTo>
                  <a:pt x="58609" y="82540"/>
                </a:lnTo>
                <a:lnTo>
                  <a:pt x="58638" y="82510"/>
                </a:lnTo>
                <a:cubicBezTo>
                  <a:pt x="59680" y="81469"/>
                  <a:pt x="60811" y="80546"/>
                  <a:pt x="62002" y="79772"/>
                </a:cubicBezTo>
                <a:cubicBezTo>
                  <a:pt x="70306" y="74265"/>
                  <a:pt x="81617" y="75188"/>
                  <a:pt x="88940" y="82510"/>
                </a:cubicBezTo>
                <a:cubicBezTo>
                  <a:pt x="96292" y="89862"/>
                  <a:pt x="97185" y="101233"/>
                  <a:pt x="91619" y="109567"/>
                </a:cubicBezTo>
                <a:cubicBezTo>
                  <a:pt x="90845" y="110698"/>
                  <a:pt x="89952" y="111800"/>
                  <a:pt x="88940" y="112812"/>
                </a:cubicBezTo>
                <a:lnTo>
                  <a:pt x="77926" y="123825"/>
                </a:lnTo>
                <a:lnTo>
                  <a:pt x="104775" y="123825"/>
                </a:lnTo>
                <a:cubicBezTo>
                  <a:pt x="110044" y="123825"/>
                  <a:pt x="114300" y="128081"/>
                  <a:pt x="114300" y="133350"/>
                </a:cubicBezTo>
                <a:cubicBezTo>
                  <a:pt x="114300" y="138619"/>
                  <a:pt x="110044" y="142875"/>
                  <a:pt x="104775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cubicBezTo>
                  <a:pt x="0" y="74295"/>
                  <a:pt x="37802" y="33605"/>
                  <a:pt x="86112" y="29021"/>
                </a:cubicBezTo>
                <a:cubicBezTo>
                  <a:pt x="88166" y="17919"/>
                  <a:pt x="97869" y="9525"/>
                  <a:pt x="109537" y="9525"/>
                </a:cubicBezTo>
                <a:close/>
                <a:moveTo>
                  <a:pt x="109537" y="40481"/>
                </a:moveTo>
                <a:cubicBezTo>
                  <a:pt x="113480" y="40481"/>
                  <a:pt x="116681" y="37280"/>
                  <a:pt x="116681" y="33338"/>
                </a:cubicBezTo>
                <a:cubicBezTo>
                  <a:pt x="116681" y="29395"/>
                  <a:pt x="113480" y="26194"/>
                  <a:pt x="109537" y="26194"/>
                </a:cubicBezTo>
                <a:cubicBezTo>
                  <a:pt x="105595" y="26194"/>
                  <a:pt x="102394" y="29395"/>
                  <a:pt x="102394" y="33338"/>
                </a:cubicBezTo>
                <a:cubicBezTo>
                  <a:pt x="102394" y="37280"/>
                  <a:pt x="105595" y="40481"/>
                  <a:pt x="109537" y="404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47881" y="1379223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47881" y="1569723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2580" y="1988823"/>
            <a:ext cx="3286125" cy="1295400"/>
          </a:xfrm>
          <a:custGeom>
            <a:avLst/>
            <a:gdLst/>
            <a:ahLst/>
            <a:cxnLst/>
            <a:rect l="l" t="t" r="r" b="b"/>
            <a:pathLst>
              <a:path w="3286125" h="1295400">
                <a:moveTo>
                  <a:pt x="114306" y="0"/>
                </a:moveTo>
                <a:lnTo>
                  <a:pt x="3171819" y="0"/>
                </a:lnTo>
                <a:cubicBezTo>
                  <a:pt x="3234948" y="0"/>
                  <a:pt x="3286125" y="51177"/>
                  <a:pt x="3286125" y="114306"/>
                </a:cubicBezTo>
                <a:lnTo>
                  <a:pt x="3286125" y="1181094"/>
                </a:lnTo>
                <a:cubicBezTo>
                  <a:pt x="3286125" y="1244223"/>
                  <a:pt x="3234948" y="1295400"/>
                  <a:pt x="3171819" y="1295400"/>
                </a:cubicBezTo>
                <a:lnTo>
                  <a:pt x="114306" y="1295400"/>
                </a:lnTo>
                <a:cubicBezTo>
                  <a:pt x="51177" y="1295400"/>
                  <a:pt x="0" y="1244223"/>
                  <a:pt x="0" y="118109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38A169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28793" y="21793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306" y="2141223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 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04980" y="2484123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56991" y="2484123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04980" y="2712723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Score: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65206" y="2712723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1.89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04980" y="2941323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56991" y="2941323"/>
            <a:ext cx="29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452580" y="3436623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Distinctive contour patterns recognized successfully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31731" y="1184910"/>
            <a:ext cx="3674745" cy="3188970"/>
          </a:xfrm>
          <a:custGeom>
            <a:avLst/>
            <a:gdLst/>
            <a:ahLst/>
            <a:cxnLst/>
            <a:rect l="l" t="t" r="r" b="b"/>
            <a:pathLst>
              <a:path w="3674745" h="3188970">
                <a:moveTo>
                  <a:pt x="152401" y="0"/>
                </a:moveTo>
                <a:lnTo>
                  <a:pt x="3522344" y="0"/>
                </a:lnTo>
                <a:cubicBezTo>
                  <a:pt x="3606513" y="0"/>
                  <a:pt x="3674745" y="68232"/>
                  <a:pt x="3674745" y="152401"/>
                </a:cubicBezTo>
                <a:lnTo>
                  <a:pt x="3674745" y="3036569"/>
                </a:lnTo>
                <a:cubicBezTo>
                  <a:pt x="3674745" y="3120738"/>
                  <a:pt x="3606513" y="3188970"/>
                  <a:pt x="3522344" y="3188970"/>
                </a:cubicBezTo>
                <a:lnTo>
                  <a:pt x="152401" y="3188970"/>
                </a:lnTo>
                <a:cubicBezTo>
                  <a:pt x="68232" y="3188970"/>
                  <a:pt x="0" y="3120738"/>
                  <a:pt x="0" y="3036569"/>
                </a:cubicBezTo>
                <a:lnTo>
                  <a:pt x="0" y="152401"/>
                </a:lnTo>
                <a:cubicBezTo>
                  <a:pt x="0" y="68232"/>
                  <a:pt x="68232" y="0"/>
                  <a:pt x="1524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326041" y="141732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430816" y="15316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9050" y="28575"/>
                </a:moveTo>
                <a:cubicBezTo>
                  <a:pt x="34826" y="28575"/>
                  <a:pt x="47625" y="41374"/>
                  <a:pt x="47625" y="57150"/>
                </a:cubicBezTo>
                <a:lnTo>
                  <a:pt x="47625" y="82689"/>
                </a:lnTo>
                <a:cubicBezTo>
                  <a:pt x="56465" y="69384"/>
                  <a:pt x="70783" y="60008"/>
                  <a:pt x="87332" y="57686"/>
                </a:cubicBezTo>
                <a:cubicBezTo>
                  <a:pt x="94952" y="75545"/>
                  <a:pt x="112693" y="88076"/>
                  <a:pt x="133350" y="88076"/>
                </a:cubicBezTo>
                <a:cubicBezTo>
                  <a:pt x="136594" y="88076"/>
                  <a:pt x="139779" y="87749"/>
                  <a:pt x="142875" y="87154"/>
                </a:cubicBezTo>
                <a:lnTo>
                  <a:pt x="142875" y="142875"/>
                </a:lnTo>
                <a:cubicBezTo>
                  <a:pt x="142875" y="148144"/>
                  <a:pt x="138619" y="152400"/>
                  <a:pt x="133350" y="152400"/>
                </a:cubicBezTo>
                <a:cubicBezTo>
                  <a:pt x="128081" y="152400"/>
                  <a:pt x="123825" y="148144"/>
                  <a:pt x="123825" y="142875"/>
                </a:cubicBezTo>
                <a:lnTo>
                  <a:pt x="123825" y="100965"/>
                </a:lnTo>
                <a:lnTo>
                  <a:pt x="83344" y="133350"/>
                </a:lnTo>
                <a:lnTo>
                  <a:pt x="100013" y="133350"/>
                </a:lnTo>
                <a:cubicBezTo>
                  <a:pt x="105281" y="133350"/>
                  <a:pt x="109537" y="137606"/>
                  <a:pt x="109537" y="142875"/>
                </a:cubicBezTo>
                <a:cubicBezTo>
                  <a:pt x="109537" y="148144"/>
                  <a:pt x="105281" y="152400"/>
                  <a:pt x="100013" y="152400"/>
                </a:cubicBezTo>
                <a:lnTo>
                  <a:pt x="57150" y="152400"/>
                </a:lnTo>
                <a:cubicBezTo>
                  <a:pt x="41374" y="152400"/>
                  <a:pt x="28575" y="139601"/>
                  <a:pt x="28575" y="123825"/>
                </a:cubicBezTo>
                <a:lnTo>
                  <a:pt x="28575" y="57150"/>
                </a:lnTo>
                <a:cubicBezTo>
                  <a:pt x="28575" y="52209"/>
                  <a:pt x="24825" y="48161"/>
                  <a:pt x="20032" y="47685"/>
                </a:cubicBezTo>
                <a:lnTo>
                  <a:pt x="18068" y="47595"/>
                </a:lnTo>
                <a:cubicBezTo>
                  <a:pt x="13275" y="47089"/>
                  <a:pt x="9525" y="43041"/>
                  <a:pt x="9525" y="38100"/>
                </a:cubicBezTo>
                <a:cubicBezTo>
                  <a:pt x="9525" y="32831"/>
                  <a:pt x="13781" y="28575"/>
                  <a:pt x="19050" y="28575"/>
                </a:cubicBezTo>
                <a:close/>
                <a:moveTo>
                  <a:pt x="158889" y="953"/>
                </a:moveTo>
                <a:cubicBezTo>
                  <a:pt x="161985" y="-1637"/>
                  <a:pt x="166688" y="566"/>
                  <a:pt x="166688" y="4614"/>
                </a:cubicBezTo>
                <a:lnTo>
                  <a:pt x="166688" y="38100"/>
                </a:lnTo>
                <a:cubicBezTo>
                  <a:pt x="166688" y="56525"/>
                  <a:pt x="151775" y="71438"/>
                  <a:pt x="133350" y="71438"/>
                </a:cubicBezTo>
                <a:cubicBezTo>
                  <a:pt x="114925" y="71438"/>
                  <a:pt x="100013" y="56525"/>
                  <a:pt x="100013" y="38100"/>
                </a:cubicBezTo>
                <a:lnTo>
                  <a:pt x="100013" y="4614"/>
                </a:lnTo>
                <a:cubicBezTo>
                  <a:pt x="100013" y="566"/>
                  <a:pt x="104715" y="-1637"/>
                  <a:pt x="107811" y="952"/>
                </a:cubicBezTo>
                <a:lnTo>
                  <a:pt x="123825" y="14288"/>
                </a:lnTo>
                <a:lnTo>
                  <a:pt x="142875" y="14288"/>
                </a:lnTo>
                <a:lnTo>
                  <a:pt x="158889" y="953"/>
                </a:lnTo>
                <a:close/>
                <a:moveTo>
                  <a:pt x="119062" y="32147"/>
                </a:moveTo>
                <a:cubicBezTo>
                  <a:pt x="115777" y="32147"/>
                  <a:pt x="113109" y="34814"/>
                  <a:pt x="113109" y="38100"/>
                </a:cubicBezTo>
                <a:cubicBezTo>
                  <a:pt x="113109" y="41386"/>
                  <a:pt x="115777" y="44053"/>
                  <a:pt x="119062" y="44053"/>
                </a:cubicBezTo>
                <a:cubicBezTo>
                  <a:pt x="122348" y="44053"/>
                  <a:pt x="125016" y="41386"/>
                  <a:pt x="125016" y="38100"/>
                </a:cubicBezTo>
                <a:cubicBezTo>
                  <a:pt x="125016" y="34814"/>
                  <a:pt x="122348" y="32147"/>
                  <a:pt x="119062" y="32147"/>
                </a:cubicBezTo>
                <a:close/>
                <a:moveTo>
                  <a:pt x="147638" y="32147"/>
                </a:moveTo>
                <a:cubicBezTo>
                  <a:pt x="144352" y="32147"/>
                  <a:pt x="141684" y="34814"/>
                  <a:pt x="141684" y="38100"/>
                </a:cubicBezTo>
                <a:cubicBezTo>
                  <a:pt x="141684" y="41386"/>
                  <a:pt x="144352" y="44053"/>
                  <a:pt x="147638" y="44053"/>
                </a:cubicBezTo>
                <a:cubicBezTo>
                  <a:pt x="150923" y="44053"/>
                  <a:pt x="153591" y="41386"/>
                  <a:pt x="153591" y="38100"/>
                </a:cubicBezTo>
                <a:cubicBezTo>
                  <a:pt x="153591" y="34814"/>
                  <a:pt x="150923" y="32147"/>
                  <a:pt x="147638" y="3214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821341" y="1379223"/>
            <a:ext cx="66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821341" y="1569723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29851" y="1992633"/>
            <a:ext cx="3274695" cy="1655445"/>
          </a:xfrm>
          <a:custGeom>
            <a:avLst/>
            <a:gdLst/>
            <a:ahLst/>
            <a:cxnLst/>
            <a:rect l="l" t="t" r="r" b="b"/>
            <a:pathLst>
              <a:path w="3274695" h="1655445">
                <a:moveTo>
                  <a:pt x="114292" y="0"/>
                </a:moveTo>
                <a:lnTo>
                  <a:pt x="3160403" y="0"/>
                </a:lnTo>
                <a:cubicBezTo>
                  <a:pt x="3223525" y="0"/>
                  <a:pt x="3274695" y="51170"/>
                  <a:pt x="3274695" y="114292"/>
                </a:cubicBezTo>
                <a:lnTo>
                  <a:pt x="3274695" y="1541153"/>
                </a:lnTo>
                <a:cubicBezTo>
                  <a:pt x="3274695" y="1604275"/>
                  <a:pt x="3223525" y="1655445"/>
                  <a:pt x="3160403" y="1655445"/>
                </a:cubicBezTo>
                <a:lnTo>
                  <a:pt x="114292" y="1655445"/>
                </a:lnTo>
                <a:cubicBezTo>
                  <a:pt x="51170" y="1655445"/>
                  <a:pt x="0" y="1604275"/>
                  <a:pt x="0" y="1541153"/>
                </a:cubicBezTo>
                <a:lnTo>
                  <a:pt x="0" y="114292"/>
                </a:lnTo>
                <a:cubicBezTo>
                  <a:pt x="0" y="51170"/>
                  <a:pt x="51170" y="0"/>
                  <a:pt x="114292" y="0"/>
                </a:cubicBezTo>
                <a:close/>
              </a:path>
            </a:pathLst>
          </a:custGeom>
          <a:solidFill>
            <a:srgbClr val="FEF2F2"/>
          </a:solidFill>
          <a:ln w="10160">
            <a:solidFill>
              <a:srgbClr val="FFC9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8509873" y="218694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800386" y="2148841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Incorrect 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86061" y="2491741"/>
            <a:ext cx="647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233547" y="2491741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dog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86061" y="2720341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Score: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00448" y="2720341"/>
            <a:ext cx="323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B2C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486061" y="2948941"/>
            <a:ext cx="36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True: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77957" y="2948941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486061" y="3219451"/>
            <a:ext cx="2962275" cy="7620"/>
          </a:xfrm>
          <a:custGeom>
            <a:avLst/>
            <a:gdLst/>
            <a:ahLst/>
            <a:cxnLst/>
            <a:rect l="l" t="t" r="r" b="b"/>
            <a:pathLst>
              <a:path w="2962275" h="7620">
                <a:moveTo>
                  <a:pt x="0" y="0"/>
                </a:moveTo>
                <a:lnTo>
                  <a:pt x="2962275" y="0"/>
                </a:lnTo>
                <a:lnTo>
                  <a:pt x="296227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FC9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86061" y="3299459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2nd guess: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05054" y="3299459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6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 (0.54)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26041" y="3802382"/>
            <a:ext cx="335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confidence indicates uncertainty between similar classes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381000" y="4572000"/>
            <a:ext cx="5610225" cy="1905000"/>
          </a:xfrm>
          <a:custGeom>
            <a:avLst/>
            <a:gdLst/>
            <a:ahLst/>
            <a:cxnLst/>
            <a:rect l="l" t="t" r="r" b="b"/>
            <a:pathLst>
              <a:path w="5610225" h="1905000">
                <a:moveTo>
                  <a:pt x="152400" y="0"/>
                </a:moveTo>
                <a:lnTo>
                  <a:pt x="5457825" y="0"/>
                </a:lnTo>
                <a:cubicBezTo>
                  <a:pt x="5541937" y="0"/>
                  <a:pt x="5610225" y="68288"/>
                  <a:pt x="5610225" y="152400"/>
                </a:cubicBezTo>
                <a:lnTo>
                  <a:pt x="5610225" y="1752600"/>
                </a:lnTo>
                <a:cubicBezTo>
                  <a:pt x="5610225" y="1836712"/>
                  <a:pt x="5541937" y="1905000"/>
                  <a:pt x="5457825" y="1905000"/>
                </a:cubicBezTo>
                <a:lnTo>
                  <a:pt x="152400" y="1905000"/>
                </a:lnTo>
                <a:cubicBezTo>
                  <a:pt x="68288" y="1905000"/>
                  <a:pt x="0" y="1836712"/>
                  <a:pt x="0" y="1752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A1A2E"/>
              </a:gs>
              <a:gs pos="100000">
                <a:srgbClr val="2D3748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65559" y="481000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1081088" y="4800600"/>
            <a:ext cx="2419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Inference Performance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09600" y="5257684"/>
            <a:ext cx="2505075" cy="990600"/>
          </a:xfrm>
          <a:custGeom>
            <a:avLst/>
            <a:gdLst/>
            <a:ahLst/>
            <a:cxnLst/>
            <a:rect l="l" t="t" r="r" b="b"/>
            <a:pathLst>
              <a:path w="2505075" h="990600">
                <a:moveTo>
                  <a:pt x="114295" y="0"/>
                </a:moveTo>
                <a:lnTo>
                  <a:pt x="2390780" y="0"/>
                </a:lnTo>
                <a:cubicBezTo>
                  <a:pt x="2453861" y="0"/>
                  <a:pt x="2505075" y="51214"/>
                  <a:pt x="2505075" y="114295"/>
                </a:cubicBezTo>
                <a:lnTo>
                  <a:pt x="2505075" y="876305"/>
                </a:lnTo>
                <a:cubicBezTo>
                  <a:pt x="2505075" y="939386"/>
                  <a:pt x="2453861" y="990600"/>
                  <a:pt x="2390780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7700" y="5410084"/>
            <a:ext cx="242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~16ms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728663" y="590538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image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3263265" y="5257684"/>
            <a:ext cx="2505075" cy="990600"/>
          </a:xfrm>
          <a:custGeom>
            <a:avLst/>
            <a:gdLst/>
            <a:ahLst/>
            <a:cxnLst/>
            <a:rect l="l" t="t" r="r" b="b"/>
            <a:pathLst>
              <a:path w="2505075" h="990600">
                <a:moveTo>
                  <a:pt x="114295" y="0"/>
                </a:moveTo>
                <a:lnTo>
                  <a:pt x="2390780" y="0"/>
                </a:lnTo>
                <a:cubicBezTo>
                  <a:pt x="2453861" y="0"/>
                  <a:pt x="2505075" y="51214"/>
                  <a:pt x="2505075" y="114295"/>
                </a:cubicBezTo>
                <a:lnTo>
                  <a:pt x="2505075" y="876305"/>
                </a:lnTo>
                <a:cubicBezTo>
                  <a:pt x="2505075" y="939386"/>
                  <a:pt x="2453861" y="990600"/>
                  <a:pt x="2390780" y="990600"/>
                </a:cubicBezTo>
                <a:lnTo>
                  <a:pt x="114295" y="990600"/>
                </a:lnTo>
                <a:cubicBezTo>
                  <a:pt x="51214" y="990600"/>
                  <a:pt x="0" y="939386"/>
                  <a:pt x="0" y="87630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301365" y="5410084"/>
            <a:ext cx="2428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~62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382328" y="5905384"/>
            <a:ext cx="2266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Images/sec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87440" y="4575810"/>
            <a:ext cx="5617845" cy="1893570"/>
          </a:xfrm>
          <a:custGeom>
            <a:avLst/>
            <a:gdLst/>
            <a:ahLst/>
            <a:cxnLst/>
            <a:rect l="l" t="t" r="r" b="b"/>
            <a:pathLst>
              <a:path w="5617845" h="1893570">
                <a:moveTo>
                  <a:pt x="152395" y="0"/>
                </a:moveTo>
                <a:lnTo>
                  <a:pt x="5465450" y="0"/>
                </a:lnTo>
                <a:cubicBezTo>
                  <a:pt x="5549616" y="0"/>
                  <a:pt x="5617845" y="68229"/>
                  <a:pt x="5617845" y="152395"/>
                </a:cubicBezTo>
                <a:lnTo>
                  <a:pt x="5617845" y="1741175"/>
                </a:lnTo>
                <a:cubicBezTo>
                  <a:pt x="5617845" y="1825341"/>
                  <a:pt x="5549616" y="1893570"/>
                  <a:pt x="5465450" y="1893570"/>
                </a:cubicBezTo>
                <a:lnTo>
                  <a:pt x="152395" y="1893570"/>
                </a:lnTo>
                <a:cubicBezTo>
                  <a:pt x="68229" y="1893570"/>
                  <a:pt x="0" y="1825341"/>
                  <a:pt x="0" y="1741175"/>
                </a:cubicBezTo>
                <a:lnTo>
                  <a:pt x="0" y="152395"/>
                </a:lnTo>
                <a:cubicBezTo>
                  <a:pt x="0" y="68229"/>
                  <a:pt x="68229" y="0"/>
                  <a:pt x="152395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443663" y="48463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6657975" y="4808223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 Cat Failed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419850" y="5246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491288" y="5303523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762750" y="5227323"/>
            <a:ext cx="3295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 vs. Shape:</a:t>
            </a: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HOG captures edges, not fur patterns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419850" y="56083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491288" y="5665473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762750" y="5589273"/>
            <a:ext cx="3105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Similar silhouettes:</a:t>
            </a: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Cats and dogs share body shapes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419850" y="59702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491288" y="6027423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762750" y="5951223"/>
            <a:ext cx="3209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resolution:</a:t>
            </a: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32×32 loses fine distinguishing features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81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90538" y="5715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90600" y="381000"/>
            <a:ext cx="5762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90600" y="571500"/>
            <a:ext cx="5867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Comparison: Trade-off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810" y="1184910"/>
            <a:ext cx="5132070" cy="5284470"/>
          </a:xfrm>
          <a:custGeom>
            <a:avLst/>
            <a:gdLst/>
            <a:ahLst/>
            <a:cxnLst/>
            <a:rect l="l" t="t" r="r" b="b"/>
            <a:pathLst>
              <a:path w="5132070" h="5284470">
                <a:moveTo>
                  <a:pt x="152422" y="0"/>
                </a:moveTo>
                <a:lnTo>
                  <a:pt x="4979648" y="0"/>
                </a:lnTo>
                <a:cubicBezTo>
                  <a:pt x="5063828" y="0"/>
                  <a:pt x="5132070" y="68242"/>
                  <a:pt x="5132070" y="152422"/>
                </a:cubicBezTo>
                <a:lnTo>
                  <a:pt x="5132070" y="5132048"/>
                </a:lnTo>
                <a:cubicBezTo>
                  <a:pt x="5132070" y="5216228"/>
                  <a:pt x="5063828" y="5284470"/>
                  <a:pt x="4979648" y="5284470"/>
                </a:cubicBezTo>
                <a:lnTo>
                  <a:pt x="152422" y="5284470"/>
                </a:lnTo>
                <a:cubicBezTo>
                  <a:pt x="68242" y="5284470"/>
                  <a:pt x="0" y="5216228"/>
                  <a:pt x="0" y="5132048"/>
                </a:cubicBezTo>
                <a:lnTo>
                  <a:pt x="0" y="152422"/>
                </a:lnTo>
                <a:cubicBezTo>
                  <a:pt x="0" y="68298"/>
                  <a:pt x="68298" y="0"/>
                  <a:pt x="152422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6257" y="1379223"/>
            <a:ext cx="482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Multi-Dimensional Comparison</a:t>
            </a:r>
            <a:endParaRPr lang="en-US" sz="1600" dirty="0"/>
          </a:p>
        </p:txBody>
      </p:sp>
      <p:pic>
        <p:nvPicPr>
          <p:cNvPr id="8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05840"/>
            <a:ext cx="5212080" cy="5029200"/>
          </a:xfrm>
          <a:prstGeom prst="roundRect">
            <a:avLst>
              <a:gd name="adj" fmla="val 0"/>
            </a:avLst>
          </a:prstGeom>
        </p:spPr>
      </p:pic>
      <p:sp>
        <p:nvSpPr>
          <p:cNvPr id="9" name="Text 6"/>
          <p:cNvSpPr/>
          <p:nvPr/>
        </p:nvSpPr>
        <p:spPr>
          <a:xfrm>
            <a:off x="545782" y="6088382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6-dimensional performance comparison across ML approaches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756910" y="1184910"/>
            <a:ext cx="6046470" cy="3684270"/>
          </a:xfrm>
          <a:custGeom>
            <a:avLst/>
            <a:gdLst/>
            <a:ahLst/>
            <a:cxnLst/>
            <a:rect l="l" t="t" r="r" b="b"/>
            <a:pathLst>
              <a:path w="6046470" h="3684270">
                <a:moveTo>
                  <a:pt x="152418" y="0"/>
                </a:moveTo>
                <a:lnTo>
                  <a:pt x="5894052" y="0"/>
                </a:lnTo>
                <a:cubicBezTo>
                  <a:pt x="5978230" y="0"/>
                  <a:pt x="6046470" y="68240"/>
                  <a:pt x="6046470" y="152418"/>
                </a:cubicBezTo>
                <a:lnTo>
                  <a:pt x="6046470" y="3531852"/>
                </a:lnTo>
                <a:cubicBezTo>
                  <a:pt x="6046470" y="3616030"/>
                  <a:pt x="5978230" y="3684270"/>
                  <a:pt x="5894052" y="3684270"/>
                </a:cubicBezTo>
                <a:lnTo>
                  <a:pt x="152418" y="3684270"/>
                </a:lnTo>
                <a:cubicBezTo>
                  <a:pt x="68240" y="3684270"/>
                  <a:pt x="0" y="3616030"/>
                  <a:pt x="0" y="3531852"/>
                </a:cubicBezTo>
                <a:lnTo>
                  <a:pt x="0" y="152418"/>
                </a:lnTo>
                <a:cubicBezTo>
                  <a:pt x="0" y="68296"/>
                  <a:pt x="68296" y="0"/>
                  <a:pt x="152418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1417323"/>
            <a:ext cx="567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Detailed Comparison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989320" y="18364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380923" y="18364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805863" y="18364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B7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230802" y="18364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AD46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89320" y="2145033"/>
            <a:ext cx="5581650" cy="7620"/>
          </a:xfrm>
          <a:custGeom>
            <a:avLst/>
            <a:gdLst/>
            <a:ahLst/>
            <a:cxnLst/>
            <a:rect l="l" t="t" r="r" b="b"/>
            <a:pathLst>
              <a:path w="5581650" h="7620">
                <a:moveTo>
                  <a:pt x="0" y="0"/>
                </a:moveTo>
                <a:lnTo>
                  <a:pt x="5581650" y="0"/>
                </a:lnTo>
                <a:lnTo>
                  <a:pt x="5581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989320" y="22250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380923" y="22250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63%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805863" y="22250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90-95%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230802" y="22250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90-95%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989320" y="2533651"/>
            <a:ext cx="5581650" cy="7620"/>
          </a:xfrm>
          <a:custGeom>
            <a:avLst/>
            <a:gdLst/>
            <a:ahLst/>
            <a:cxnLst/>
            <a:rect l="l" t="t" r="r" b="b"/>
            <a:pathLst>
              <a:path w="5581650" h="7620">
                <a:moveTo>
                  <a:pt x="0" y="0"/>
                </a:moveTo>
                <a:lnTo>
                  <a:pt x="5581650" y="0"/>
                </a:lnTo>
                <a:lnTo>
                  <a:pt x="5581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89320" y="261365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Training Time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380923" y="261365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min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805863" y="261365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2-4 hrs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230802" y="2613659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10+ hrs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89320" y="2922269"/>
            <a:ext cx="5581650" cy="7620"/>
          </a:xfrm>
          <a:custGeom>
            <a:avLst/>
            <a:gdLst/>
            <a:ahLst/>
            <a:cxnLst/>
            <a:rect l="l" t="t" r="r" b="b"/>
            <a:pathLst>
              <a:path w="5581650" h="7620">
                <a:moveTo>
                  <a:pt x="0" y="0"/>
                </a:moveTo>
                <a:lnTo>
                  <a:pt x="5581650" y="0"/>
                </a:lnTo>
                <a:lnTo>
                  <a:pt x="5581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989320" y="3002282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Hardware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380923" y="3002282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05863" y="3002282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230802" y="3002282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GPU cluster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989320" y="3310892"/>
            <a:ext cx="5581650" cy="7620"/>
          </a:xfrm>
          <a:custGeom>
            <a:avLst/>
            <a:gdLst/>
            <a:ahLst/>
            <a:cxnLst/>
            <a:rect l="l" t="t" r="r" b="b"/>
            <a:pathLst>
              <a:path w="5581650" h="7620">
                <a:moveTo>
                  <a:pt x="0" y="0"/>
                </a:moveTo>
                <a:lnTo>
                  <a:pt x="5581650" y="0"/>
                </a:lnTo>
                <a:lnTo>
                  <a:pt x="5581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989320" y="33909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Interpretability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380923" y="33909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05863" y="33909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230802" y="339090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Very Low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989320" y="3699510"/>
            <a:ext cx="5581650" cy="7620"/>
          </a:xfrm>
          <a:custGeom>
            <a:avLst/>
            <a:gdLst/>
            <a:ahLst/>
            <a:cxnLst/>
            <a:rect l="l" t="t" r="r" b="b"/>
            <a:pathLst>
              <a:path w="5581650" h="7620">
                <a:moveTo>
                  <a:pt x="0" y="0"/>
                </a:moveTo>
                <a:lnTo>
                  <a:pt x="5581650" y="0"/>
                </a:lnTo>
                <a:lnTo>
                  <a:pt x="5581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5989320" y="37795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Efficiency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380923" y="37795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05863" y="37795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10230802" y="3779523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(SSL)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5989320" y="4088133"/>
            <a:ext cx="5581650" cy="7620"/>
          </a:xfrm>
          <a:custGeom>
            <a:avLst/>
            <a:gdLst/>
            <a:ahLst/>
            <a:cxnLst/>
            <a:rect l="l" t="t" r="r" b="b"/>
            <a:pathLst>
              <a:path w="5581650" h="7620">
                <a:moveTo>
                  <a:pt x="0" y="0"/>
                </a:moveTo>
                <a:lnTo>
                  <a:pt x="5581650" y="0"/>
                </a:lnTo>
                <a:lnTo>
                  <a:pt x="558165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989320" y="41681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Ease of Use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380923" y="41681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05863" y="41681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10230802" y="4168141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5753100" y="5067300"/>
            <a:ext cx="2952750" cy="1409700"/>
          </a:xfrm>
          <a:custGeom>
            <a:avLst/>
            <a:gdLst/>
            <a:ahLst/>
            <a:cxnLst/>
            <a:rect l="l" t="t" r="r" b="b"/>
            <a:pathLst>
              <a:path w="2952750" h="1409700">
                <a:moveTo>
                  <a:pt x="152403" y="0"/>
                </a:moveTo>
                <a:lnTo>
                  <a:pt x="2800347" y="0"/>
                </a:lnTo>
                <a:cubicBezTo>
                  <a:pt x="2884517" y="0"/>
                  <a:pt x="2952750" y="68233"/>
                  <a:pt x="2952750" y="152403"/>
                </a:cubicBezTo>
                <a:lnTo>
                  <a:pt x="2952750" y="1257297"/>
                </a:lnTo>
                <a:cubicBezTo>
                  <a:pt x="2952750" y="1341467"/>
                  <a:pt x="2884517" y="1409700"/>
                  <a:pt x="280034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5967413" y="529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257925" y="525780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1 Wins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5943600" y="56388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Speed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5943600" y="58674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Interpretability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5943600" y="6096000"/>
            <a:ext cx="263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Simplicity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8858250" y="5067300"/>
            <a:ext cx="2952750" cy="1409700"/>
          </a:xfrm>
          <a:custGeom>
            <a:avLst/>
            <a:gdLst/>
            <a:ahLst/>
            <a:cxnLst/>
            <a:rect l="l" t="t" r="r" b="b"/>
            <a:pathLst>
              <a:path w="2952750" h="1409700">
                <a:moveTo>
                  <a:pt x="152403" y="0"/>
                </a:moveTo>
                <a:lnTo>
                  <a:pt x="2800347" y="0"/>
                </a:lnTo>
                <a:cubicBezTo>
                  <a:pt x="2884517" y="0"/>
                  <a:pt x="2952750" y="68233"/>
                  <a:pt x="2952750" y="152403"/>
                </a:cubicBezTo>
                <a:lnTo>
                  <a:pt x="2952750" y="1257297"/>
                </a:lnTo>
                <a:cubicBezTo>
                  <a:pt x="2952750" y="1341467"/>
                  <a:pt x="2884517" y="1409700"/>
                  <a:pt x="280034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0"/>
          <p:cNvSpPr/>
          <p:nvPr/>
        </p:nvSpPr>
        <p:spPr>
          <a:xfrm>
            <a:off x="9072563" y="52959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56034"/>
                </a:moveTo>
                <a:lnTo>
                  <a:pt x="151284" y="91753"/>
                </a:lnTo>
                <a:cubicBezTo>
                  <a:pt x="147861" y="95176"/>
                  <a:pt x="142763" y="96180"/>
                  <a:pt x="138299" y="94320"/>
                </a:cubicBezTo>
                <a:cubicBezTo>
                  <a:pt x="133834" y="92459"/>
                  <a:pt x="130969" y="88143"/>
                  <a:pt x="130969" y="83344"/>
                </a:cubicBezTo>
                <a:lnTo>
                  <a:pt x="130969" y="59531"/>
                </a:ln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130969" y="35719"/>
                </a:lnTo>
                <a:lnTo>
                  <a:pt x="130969" y="11906"/>
                </a:lnTo>
                <a:cubicBezTo>
                  <a:pt x="130969" y="7107"/>
                  <a:pt x="133871" y="2753"/>
                  <a:pt x="138336" y="893"/>
                </a:cubicBezTo>
                <a:cubicBezTo>
                  <a:pt x="142801" y="-967"/>
                  <a:pt x="147898" y="74"/>
                  <a:pt x="151321" y="3460"/>
                </a:cubicBezTo>
                <a:lnTo>
                  <a:pt x="187040" y="39179"/>
                </a:lnTo>
                <a:cubicBezTo>
                  <a:pt x="191691" y="43830"/>
                  <a:pt x="191691" y="51383"/>
                  <a:pt x="187040" y="56034"/>
                </a:cubicBezTo>
                <a:close/>
                <a:moveTo>
                  <a:pt x="39179" y="187003"/>
                </a:moveTo>
                <a:lnTo>
                  <a:pt x="3460" y="151284"/>
                </a:lnTo>
                <a:cubicBezTo>
                  <a:pt x="-1191" y="146633"/>
                  <a:pt x="-1191" y="139080"/>
                  <a:pt x="3460" y="134429"/>
                </a:cubicBezTo>
                <a:lnTo>
                  <a:pt x="39179" y="98710"/>
                </a:lnTo>
                <a:cubicBezTo>
                  <a:pt x="42602" y="95287"/>
                  <a:pt x="47699" y="94283"/>
                  <a:pt x="52164" y="96143"/>
                </a:cubicBezTo>
                <a:cubicBezTo>
                  <a:pt x="56629" y="98003"/>
                  <a:pt x="59531" y="102357"/>
                  <a:pt x="59531" y="107156"/>
                </a:cubicBezTo>
                <a:lnTo>
                  <a:pt x="59531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cubicBezTo>
                  <a:pt x="190500" y="149461"/>
                  <a:pt x="185179" y="154781"/>
                  <a:pt x="178594" y="154781"/>
                </a:cubicBezTo>
                <a:lnTo>
                  <a:pt x="59531" y="154781"/>
                </a:lnTo>
                <a:lnTo>
                  <a:pt x="59531" y="178594"/>
                </a:lnTo>
                <a:cubicBezTo>
                  <a:pt x="59531" y="183393"/>
                  <a:pt x="56629" y="187747"/>
                  <a:pt x="52164" y="189607"/>
                </a:cubicBezTo>
                <a:cubicBezTo>
                  <a:pt x="47699" y="191467"/>
                  <a:pt x="42602" y="190426"/>
                  <a:pt x="39179" y="18704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9363075" y="5257800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Trade-off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048750" y="5638800"/>
            <a:ext cx="2638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accuracy for efficiency &amp; interpretability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3701" y="429756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27853" y="560552"/>
            <a:ext cx="140138" cy="186851"/>
          </a:xfrm>
          <a:custGeom>
            <a:avLst/>
            <a:gdLst/>
            <a:ahLst/>
            <a:cxnLst/>
            <a:rect l="l" t="t" r="r" b="b"/>
            <a:pathLst>
              <a:path w="140138" h="186851">
                <a:moveTo>
                  <a:pt x="113643" y="11678"/>
                </a:moveTo>
                <a:lnTo>
                  <a:pt x="116782" y="11678"/>
                </a:lnTo>
                <a:cubicBezTo>
                  <a:pt x="129664" y="11678"/>
                  <a:pt x="140138" y="22152"/>
                  <a:pt x="140138" y="35034"/>
                </a:cubicBezTo>
                <a:lnTo>
                  <a:pt x="140138" y="163494"/>
                </a:lnTo>
                <a:cubicBezTo>
                  <a:pt x="140138" y="176377"/>
                  <a:pt x="129664" y="186851"/>
                  <a:pt x="116782" y="186851"/>
                </a:cubicBezTo>
                <a:lnTo>
                  <a:pt x="23356" y="186851"/>
                </a:lnTo>
                <a:cubicBezTo>
                  <a:pt x="10474" y="186851"/>
                  <a:pt x="0" y="176377"/>
                  <a:pt x="0" y="163494"/>
                </a:cubicBezTo>
                <a:lnTo>
                  <a:pt x="0" y="35034"/>
                </a:lnTo>
                <a:cubicBezTo>
                  <a:pt x="0" y="22152"/>
                  <a:pt x="10474" y="11678"/>
                  <a:pt x="23356" y="11678"/>
                </a:cubicBezTo>
                <a:lnTo>
                  <a:pt x="26495" y="11678"/>
                </a:lnTo>
                <a:cubicBezTo>
                  <a:pt x="30509" y="4708"/>
                  <a:pt x="38064" y="0"/>
                  <a:pt x="46713" y="0"/>
                </a:cubicBezTo>
                <a:lnTo>
                  <a:pt x="93425" y="0"/>
                </a:lnTo>
                <a:cubicBezTo>
                  <a:pt x="102074" y="0"/>
                  <a:pt x="109629" y="4708"/>
                  <a:pt x="113643" y="11678"/>
                </a:cubicBezTo>
                <a:close/>
                <a:moveTo>
                  <a:pt x="90506" y="40874"/>
                </a:moveTo>
                <a:cubicBezTo>
                  <a:pt x="95359" y="40874"/>
                  <a:pt x="99264" y="36969"/>
                  <a:pt x="99264" y="32115"/>
                </a:cubicBezTo>
                <a:cubicBezTo>
                  <a:pt x="99264" y="27261"/>
                  <a:pt x="95359" y="23356"/>
                  <a:pt x="90506" y="23356"/>
                </a:cubicBezTo>
                <a:lnTo>
                  <a:pt x="49632" y="23356"/>
                </a:lnTo>
                <a:cubicBezTo>
                  <a:pt x="44778" y="23356"/>
                  <a:pt x="40874" y="27261"/>
                  <a:pt x="40874" y="32115"/>
                </a:cubicBezTo>
                <a:cubicBezTo>
                  <a:pt x="40874" y="36969"/>
                  <a:pt x="44778" y="40874"/>
                  <a:pt x="49632" y="40874"/>
                </a:cubicBezTo>
                <a:lnTo>
                  <a:pt x="90506" y="40874"/>
                </a:lnTo>
                <a:close/>
                <a:moveTo>
                  <a:pt x="100870" y="95141"/>
                </a:moveTo>
                <a:cubicBezTo>
                  <a:pt x="103425" y="91053"/>
                  <a:pt x="102184" y="85652"/>
                  <a:pt x="98097" y="83061"/>
                </a:cubicBezTo>
                <a:cubicBezTo>
                  <a:pt x="94009" y="80470"/>
                  <a:pt x="88608" y="81747"/>
                  <a:pt x="86017" y="85834"/>
                </a:cubicBezTo>
                <a:lnTo>
                  <a:pt x="63609" y="121708"/>
                </a:lnTo>
                <a:lnTo>
                  <a:pt x="53756" y="108570"/>
                </a:lnTo>
                <a:cubicBezTo>
                  <a:pt x="50836" y="104702"/>
                  <a:pt x="45362" y="103899"/>
                  <a:pt x="41494" y="106819"/>
                </a:cubicBezTo>
                <a:cubicBezTo>
                  <a:pt x="37626" y="109738"/>
                  <a:pt x="36823" y="115212"/>
                  <a:pt x="39742" y="119081"/>
                </a:cubicBezTo>
                <a:lnTo>
                  <a:pt x="57259" y="142437"/>
                </a:lnTo>
                <a:cubicBezTo>
                  <a:pt x="58975" y="144736"/>
                  <a:pt x="61748" y="146050"/>
                  <a:pt x="64631" y="145941"/>
                </a:cubicBezTo>
                <a:cubicBezTo>
                  <a:pt x="67514" y="145831"/>
                  <a:pt x="70142" y="144298"/>
                  <a:pt x="71675" y="141817"/>
                </a:cubicBezTo>
                <a:lnTo>
                  <a:pt x="100870" y="9510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71623" y="373701"/>
            <a:ext cx="355950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b="1" kern="0" spc="5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71623" y="560552"/>
            <a:ext cx="3662271" cy="373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8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Strengths &amp; Limitations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3701" y="1158474"/>
            <a:ext cx="5829738" cy="5698943"/>
          </a:xfrm>
          <a:custGeom>
            <a:avLst/>
            <a:gdLst/>
            <a:ahLst/>
            <a:cxnLst/>
            <a:rect l="l" t="t" r="r" b="b"/>
            <a:pathLst>
              <a:path w="5829738" h="5698943">
                <a:moveTo>
                  <a:pt x="149483" y="0"/>
                </a:moveTo>
                <a:lnTo>
                  <a:pt x="5680255" y="0"/>
                </a:lnTo>
                <a:cubicBezTo>
                  <a:pt x="5762812" y="0"/>
                  <a:pt x="5829738" y="66926"/>
                  <a:pt x="5829738" y="149483"/>
                </a:cubicBezTo>
                <a:lnTo>
                  <a:pt x="5829738" y="5549459"/>
                </a:lnTo>
                <a:cubicBezTo>
                  <a:pt x="5829738" y="5632017"/>
                  <a:pt x="5762812" y="5698943"/>
                  <a:pt x="5680255" y="5698943"/>
                </a:cubicBezTo>
                <a:lnTo>
                  <a:pt x="149483" y="5698943"/>
                </a:lnTo>
                <a:cubicBezTo>
                  <a:pt x="66926" y="5698943"/>
                  <a:pt x="0" y="5632017"/>
                  <a:pt x="0" y="5549459"/>
                </a:cubicBezTo>
                <a:lnTo>
                  <a:pt x="0" y="149483"/>
                </a:lnTo>
                <a:cubicBezTo>
                  <a:pt x="0" y="66926"/>
                  <a:pt x="66926" y="0"/>
                  <a:pt x="14948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7922" y="1382694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4046" y="1494805"/>
            <a:ext cx="196193" cy="224221"/>
          </a:xfrm>
          <a:custGeom>
            <a:avLst/>
            <a:gdLst/>
            <a:ahLst/>
            <a:cxnLst/>
            <a:rect l="l" t="t" r="r" b="b"/>
            <a:pathLst>
              <a:path w="196193" h="224221">
                <a:moveTo>
                  <a:pt x="190412" y="30699"/>
                </a:moveTo>
                <a:cubicBezTo>
                  <a:pt x="196675" y="35253"/>
                  <a:pt x="198076" y="44012"/>
                  <a:pt x="193522" y="50274"/>
                </a:cubicBezTo>
                <a:lnTo>
                  <a:pt x="81411" y="204426"/>
                </a:lnTo>
                <a:cubicBezTo>
                  <a:pt x="79003" y="207754"/>
                  <a:pt x="75280" y="209813"/>
                  <a:pt x="71164" y="210163"/>
                </a:cubicBezTo>
                <a:cubicBezTo>
                  <a:pt x="67047" y="210513"/>
                  <a:pt x="63062" y="208981"/>
                  <a:pt x="60172" y="206090"/>
                </a:cubicBezTo>
                <a:lnTo>
                  <a:pt x="4117" y="150035"/>
                </a:lnTo>
                <a:cubicBezTo>
                  <a:pt x="-1358" y="144561"/>
                  <a:pt x="-1358" y="135671"/>
                  <a:pt x="4117" y="130197"/>
                </a:cubicBezTo>
                <a:cubicBezTo>
                  <a:pt x="9591" y="124723"/>
                  <a:pt x="18481" y="124723"/>
                  <a:pt x="23955" y="130197"/>
                </a:cubicBezTo>
                <a:lnTo>
                  <a:pt x="68405" y="174647"/>
                </a:lnTo>
                <a:lnTo>
                  <a:pt x="170881" y="33764"/>
                </a:lnTo>
                <a:cubicBezTo>
                  <a:pt x="175435" y="27502"/>
                  <a:pt x="184194" y="26101"/>
                  <a:pt x="190456" y="3065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58474" y="1457434"/>
            <a:ext cx="1476120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Worked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7922" y="2017986"/>
            <a:ext cx="5381297" cy="747402"/>
          </a:xfrm>
          <a:custGeom>
            <a:avLst/>
            <a:gdLst/>
            <a:ahLst/>
            <a:cxnLst/>
            <a:rect l="l" t="t" r="r" b="b"/>
            <a:pathLst>
              <a:path w="5381297" h="747402">
                <a:moveTo>
                  <a:pt x="112110" y="0"/>
                </a:moveTo>
                <a:lnTo>
                  <a:pt x="5269186" y="0"/>
                </a:lnTo>
                <a:cubicBezTo>
                  <a:pt x="5331103" y="0"/>
                  <a:pt x="5381297" y="50194"/>
                  <a:pt x="5381297" y="112110"/>
                </a:cubicBezTo>
                <a:lnTo>
                  <a:pt x="5381297" y="635292"/>
                </a:lnTo>
                <a:cubicBezTo>
                  <a:pt x="5381297" y="697209"/>
                  <a:pt x="5331103" y="747402"/>
                  <a:pt x="5269186" y="747402"/>
                </a:cubicBezTo>
                <a:lnTo>
                  <a:pt x="112110" y="747402"/>
                </a:lnTo>
                <a:cubicBezTo>
                  <a:pt x="50194" y="747402"/>
                  <a:pt x="0" y="697209"/>
                  <a:pt x="0" y="635292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70759" y="2186152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93425" y="186851"/>
                </a:moveTo>
                <a:cubicBezTo>
                  <a:pt x="144988" y="186851"/>
                  <a:pt x="186851" y="144988"/>
                  <a:pt x="186851" y="93425"/>
                </a:cubicBezTo>
                <a:cubicBezTo>
                  <a:pt x="186851" y="41862"/>
                  <a:pt x="144988" y="0"/>
                  <a:pt x="93425" y="0"/>
                </a:cubicBezTo>
                <a:cubicBezTo>
                  <a:pt x="41862" y="0"/>
                  <a:pt x="0" y="41862"/>
                  <a:pt x="0" y="93425"/>
                </a:cubicBezTo>
                <a:cubicBezTo>
                  <a:pt x="0" y="144988"/>
                  <a:pt x="41862" y="186851"/>
                  <a:pt x="93425" y="186851"/>
                </a:cubicBezTo>
                <a:close/>
                <a:moveTo>
                  <a:pt x="124226" y="77623"/>
                </a:moveTo>
                <a:lnTo>
                  <a:pt x="95031" y="124336"/>
                </a:lnTo>
                <a:cubicBezTo>
                  <a:pt x="93498" y="126781"/>
                  <a:pt x="90871" y="128314"/>
                  <a:pt x="87988" y="128460"/>
                </a:cubicBezTo>
                <a:cubicBezTo>
                  <a:pt x="85105" y="128606"/>
                  <a:pt x="82331" y="127292"/>
                  <a:pt x="80616" y="124956"/>
                </a:cubicBezTo>
                <a:lnTo>
                  <a:pt x="63099" y="101600"/>
                </a:lnTo>
                <a:cubicBezTo>
                  <a:pt x="60179" y="97732"/>
                  <a:pt x="60982" y="92257"/>
                  <a:pt x="64850" y="89338"/>
                </a:cubicBezTo>
                <a:cubicBezTo>
                  <a:pt x="68719" y="86418"/>
                  <a:pt x="74193" y="87221"/>
                  <a:pt x="77112" y="91090"/>
                </a:cubicBezTo>
                <a:lnTo>
                  <a:pt x="86966" y="104228"/>
                </a:lnTo>
                <a:lnTo>
                  <a:pt x="109373" y="68354"/>
                </a:lnTo>
                <a:cubicBezTo>
                  <a:pt x="111928" y="64266"/>
                  <a:pt x="117329" y="62989"/>
                  <a:pt x="121453" y="65580"/>
                </a:cubicBezTo>
                <a:cubicBezTo>
                  <a:pt x="125577" y="68171"/>
                  <a:pt x="126818" y="73536"/>
                  <a:pt x="124226" y="7766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3076" y="2167467"/>
            <a:ext cx="1765738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Training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3076" y="2429057"/>
            <a:ext cx="174705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minutes vs. hours for CNNs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7922" y="2914869"/>
            <a:ext cx="5381297" cy="747402"/>
          </a:xfrm>
          <a:custGeom>
            <a:avLst/>
            <a:gdLst/>
            <a:ahLst/>
            <a:cxnLst/>
            <a:rect l="l" t="t" r="r" b="b"/>
            <a:pathLst>
              <a:path w="5381297" h="747402">
                <a:moveTo>
                  <a:pt x="112110" y="0"/>
                </a:moveTo>
                <a:lnTo>
                  <a:pt x="5269186" y="0"/>
                </a:lnTo>
                <a:cubicBezTo>
                  <a:pt x="5331103" y="0"/>
                  <a:pt x="5381297" y="50194"/>
                  <a:pt x="5381297" y="112110"/>
                </a:cubicBezTo>
                <a:lnTo>
                  <a:pt x="5381297" y="635292"/>
                </a:lnTo>
                <a:cubicBezTo>
                  <a:pt x="5381297" y="697209"/>
                  <a:pt x="5331103" y="747402"/>
                  <a:pt x="5269186" y="747402"/>
                </a:cubicBezTo>
                <a:lnTo>
                  <a:pt x="112110" y="747402"/>
                </a:lnTo>
                <a:cubicBezTo>
                  <a:pt x="50194" y="747402"/>
                  <a:pt x="0" y="697209"/>
                  <a:pt x="0" y="635292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0759" y="3083034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93425" y="186851"/>
                </a:moveTo>
                <a:cubicBezTo>
                  <a:pt x="144988" y="186851"/>
                  <a:pt x="186851" y="144988"/>
                  <a:pt x="186851" y="93425"/>
                </a:cubicBezTo>
                <a:cubicBezTo>
                  <a:pt x="186851" y="41862"/>
                  <a:pt x="144988" y="0"/>
                  <a:pt x="93425" y="0"/>
                </a:cubicBezTo>
                <a:cubicBezTo>
                  <a:pt x="41862" y="0"/>
                  <a:pt x="0" y="41862"/>
                  <a:pt x="0" y="93425"/>
                </a:cubicBezTo>
                <a:cubicBezTo>
                  <a:pt x="0" y="144988"/>
                  <a:pt x="41862" y="186851"/>
                  <a:pt x="93425" y="186851"/>
                </a:cubicBezTo>
                <a:close/>
                <a:moveTo>
                  <a:pt x="124226" y="77623"/>
                </a:moveTo>
                <a:lnTo>
                  <a:pt x="95031" y="124336"/>
                </a:lnTo>
                <a:cubicBezTo>
                  <a:pt x="93498" y="126781"/>
                  <a:pt x="90871" y="128314"/>
                  <a:pt x="87988" y="128460"/>
                </a:cubicBezTo>
                <a:cubicBezTo>
                  <a:pt x="85105" y="128606"/>
                  <a:pt x="82331" y="127292"/>
                  <a:pt x="80616" y="124956"/>
                </a:cubicBezTo>
                <a:lnTo>
                  <a:pt x="63099" y="101600"/>
                </a:lnTo>
                <a:cubicBezTo>
                  <a:pt x="60179" y="97732"/>
                  <a:pt x="60982" y="92257"/>
                  <a:pt x="64850" y="89338"/>
                </a:cubicBezTo>
                <a:cubicBezTo>
                  <a:pt x="68719" y="86418"/>
                  <a:pt x="74193" y="87221"/>
                  <a:pt x="77112" y="91090"/>
                </a:cubicBezTo>
                <a:lnTo>
                  <a:pt x="86966" y="104228"/>
                </a:lnTo>
                <a:lnTo>
                  <a:pt x="109373" y="68354"/>
                </a:lnTo>
                <a:cubicBezTo>
                  <a:pt x="111928" y="64266"/>
                  <a:pt x="117329" y="62989"/>
                  <a:pt x="121453" y="65580"/>
                </a:cubicBezTo>
                <a:cubicBezTo>
                  <a:pt x="125577" y="68171"/>
                  <a:pt x="126818" y="73536"/>
                  <a:pt x="124226" y="7766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3076" y="3064349"/>
            <a:ext cx="2270234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3076" y="3325940"/>
            <a:ext cx="2251549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HOG features show what model "sees"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7922" y="3811752"/>
            <a:ext cx="5381297" cy="747402"/>
          </a:xfrm>
          <a:custGeom>
            <a:avLst/>
            <a:gdLst/>
            <a:ahLst/>
            <a:cxnLst/>
            <a:rect l="l" t="t" r="r" b="b"/>
            <a:pathLst>
              <a:path w="5381297" h="747402">
                <a:moveTo>
                  <a:pt x="112110" y="0"/>
                </a:moveTo>
                <a:lnTo>
                  <a:pt x="5269186" y="0"/>
                </a:lnTo>
                <a:cubicBezTo>
                  <a:pt x="5331103" y="0"/>
                  <a:pt x="5381297" y="50194"/>
                  <a:pt x="5381297" y="112110"/>
                </a:cubicBezTo>
                <a:lnTo>
                  <a:pt x="5381297" y="635292"/>
                </a:lnTo>
                <a:cubicBezTo>
                  <a:pt x="5381297" y="697209"/>
                  <a:pt x="5331103" y="747402"/>
                  <a:pt x="5269186" y="747402"/>
                </a:cubicBezTo>
                <a:lnTo>
                  <a:pt x="112110" y="747402"/>
                </a:lnTo>
                <a:cubicBezTo>
                  <a:pt x="50194" y="747402"/>
                  <a:pt x="0" y="697209"/>
                  <a:pt x="0" y="635292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70759" y="3979917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93425" y="186851"/>
                </a:moveTo>
                <a:cubicBezTo>
                  <a:pt x="144988" y="186851"/>
                  <a:pt x="186851" y="144988"/>
                  <a:pt x="186851" y="93425"/>
                </a:cubicBezTo>
                <a:cubicBezTo>
                  <a:pt x="186851" y="41862"/>
                  <a:pt x="144988" y="0"/>
                  <a:pt x="93425" y="0"/>
                </a:cubicBezTo>
                <a:cubicBezTo>
                  <a:pt x="41862" y="0"/>
                  <a:pt x="0" y="41862"/>
                  <a:pt x="0" y="93425"/>
                </a:cubicBezTo>
                <a:cubicBezTo>
                  <a:pt x="0" y="144988"/>
                  <a:pt x="41862" y="186851"/>
                  <a:pt x="93425" y="186851"/>
                </a:cubicBezTo>
                <a:close/>
                <a:moveTo>
                  <a:pt x="124226" y="77623"/>
                </a:moveTo>
                <a:lnTo>
                  <a:pt x="95031" y="124336"/>
                </a:lnTo>
                <a:cubicBezTo>
                  <a:pt x="93498" y="126781"/>
                  <a:pt x="90871" y="128314"/>
                  <a:pt x="87988" y="128460"/>
                </a:cubicBezTo>
                <a:cubicBezTo>
                  <a:pt x="85105" y="128606"/>
                  <a:pt x="82331" y="127292"/>
                  <a:pt x="80616" y="124956"/>
                </a:cubicBezTo>
                <a:lnTo>
                  <a:pt x="63099" y="101600"/>
                </a:lnTo>
                <a:cubicBezTo>
                  <a:pt x="60179" y="97732"/>
                  <a:pt x="60982" y="92257"/>
                  <a:pt x="64850" y="89338"/>
                </a:cubicBezTo>
                <a:cubicBezTo>
                  <a:pt x="68719" y="86418"/>
                  <a:pt x="74193" y="87221"/>
                  <a:pt x="77112" y="91090"/>
                </a:cubicBezTo>
                <a:lnTo>
                  <a:pt x="86966" y="104228"/>
                </a:lnTo>
                <a:lnTo>
                  <a:pt x="109373" y="68354"/>
                </a:lnTo>
                <a:cubicBezTo>
                  <a:pt x="111928" y="64266"/>
                  <a:pt x="117329" y="62989"/>
                  <a:pt x="121453" y="65580"/>
                </a:cubicBezTo>
                <a:cubicBezTo>
                  <a:pt x="125577" y="68171"/>
                  <a:pt x="126818" y="73536"/>
                  <a:pt x="124226" y="7766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93076" y="3961232"/>
            <a:ext cx="1644285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GPU Required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3076" y="4222823"/>
            <a:ext cx="1625600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on standard hardware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7922" y="4708634"/>
            <a:ext cx="5381297" cy="747402"/>
          </a:xfrm>
          <a:custGeom>
            <a:avLst/>
            <a:gdLst/>
            <a:ahLst/>
            <a:cxnLst/>
            <a:rect l="l" t="t" r="r" b="b"/>
            <a:pathLst>
              <a:path w="5381297" h="747402">
                <a:moveTo>
                  <a:pt x="112110" y="0"/>
                </a:moveTo>
                <a:lnTo>
                  <a:pt x="5269186" y="0"/>
                </a:lnTo>
                <a:cubicBezTo>
                  <a:pt x="5331103" y="0"/>
                  <a:pt x="5381297" y="50194"/>
                  <a:pt x="5381297" y="112110"/>
                </a:cubicBezTo>
                <a:lnTo>
                  <a:pt x="5381297" y="635292"/>
                </a:lnTo>
                <a:cubicBezTo>
                  <a:pt x="5381297" y="697209"/>
                  <a:pt x="5331103" y="747402"/>
                  <a:pt x="5269186" y="747402"/>
                </a:cubicBezTo>
                <a:lnTo>
                  <a:pt x="112110" y="747402"/>
                </a:lnTo>
                <a:cubicBezTo>
                  <a:pt x="50194" y="747402"/>
                  <a:pt x="0" y="697209"/>
                  <a:pt x="0" y="635292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0759" y="4876800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93425" y="186851"/>
                </a:moveTo>
                <a:cubicBezTo>
                  <a:pt x="144988" y="186851"/>
                  <a:pt x="186851" y="144988"/>
                  <a:pt x="186851" y="93425"/>
                </a:cubicBezTo>
                <a:cubicBezTo>
                  <a:pt x="186851" y="41862"/>
                  <a:pt x="144988" y="0"/>
                  <a:pt x="93425" y="0"/>
                </a:cubicBezTo>
                <a:cubicBezTo>
                  <a:pt x="41862" y="0"/>
                  <a:pt x="0" y="41862"/>
                  <a:pt x="0" y="93425"/>
                </a:cubicBezTo>
                <a:cubicBezTo>
                  <a:pt x="0" y="144988"/>
                  <a:pt x="41862" y="186851"/>
                  <a:pt x="93425" y="186851"/>
                </a:cubicBezTo>
                <a:close/>
                <a:moveTo>
                  <a:pt x="124226" y="77623"/>
                </a:moveTo>
                <a:lnTo>
                  <a:pt x="95031" y="124336"/>
                </a:lnTo>
                <a:cubicBezTo>
                  <a:pt x="93498" y="126781"/>
                  <a:pt x="90871" y="128314"/>
                  <a:pt x="87988" y="128460"/>
                </a:cubicBezTo>
                <a:cubicBezTo>
                  <a:pt x="85105" y="128606"/>
                  <a:pt x="82331" y="127292"/>
                  <a:pt x="80616" y="124956"/>
                </a:cubicBezTo>
                <a:lnTo>
                  <a:pt x="63099" y="101600"/>
                </a:lnTo>
                <a:cubicBezTo>
                  <a:pt x="60179" y="97732"/>
                  <a:pt x="60982" y="92257"/>
                  <a:pt x="64850" y="89338"/>
                </a:cubicBezTo>
                <a:cubicBezTo>
                  <a:pt x="68719" y="86418"/>
                  <a:pt x="74193" y="87221"/>
                  <a:pt x="77112" y="91090"/>
                </a:cubicBezTo>
                <a:lnTo>
                  <a:pt x="86966" y="104228"/>
                </a:lnTo>
                <a:lnTo>
                  <a:pt x="109373" y="68354"/>
                </a:lnTo>
                <a:cubicBezTo>
                  <a:pt x="111928" y="64266"/>
                  <a:pt x="117329" y="62989"/>
                  <a:pt x="121453" y="65580"/>
                </a:cubicBezTo>
                <a:cubicBezTo>
                  <a:pt x="125577" y="68171"/>
                  <a:pt x="126818" y="73536"/>
                  <a:pt x="124226" y="7766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93076" y="4858115"/>
            <a:ext cx="1775080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Efficient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3076" y="5119706"/>
            <a:ext cx="1756395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well with 40K samples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7922" y="5605517"/>
            <a:ext cx="5381297" cy="747402"/>
          </a:xfrm>
          <a:custGeom>
            <a:avLst/>
            <a:gdLst/>
            <a:ahLst/>
            <a:cxnLst/>
            <a:rect l="l" t="t" r="r" b="b"/>
            <a:pathLst>
              <a:path w="5381297" h="747402">
                <a:moveTo>
                  <a:pt x="112110" y="0"/>
                </a:moveTo>
                <a:lnTo>
                  <a:pt x="5269186" y="0"/>
                </a:lnTo>
                <a:cubicBezTo>
                  <a:pt x="5331103" y="0"/>
                  <a:pt x="5381297" y="50194"/>
                  <a:pt x="5381297" y="112110"/>
                </a:cubicBezTo>
                <a:lnTo>
                  <a:pt x="5381297" y="635292"/>
                </a:lnTo>
                <a:cubicBezTo>
                  <a:pt x="5381297" y="697209"/>
                  <a:pt x="5331103" y="747402"/>
                  <a:pt x="5269186" y="747402"/>
                </a:cubicBezTo>
                <a:lnTo>
                  <a:pt x="112110" y="747402"/>
                </a:lnTo>
                <a:cubicBezTo>
                  <a:pt x="50194" y="747402"/>
                  <a:pt x="0" y="697209"/>
                  <a:pt x="0" y="635292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70759" y="5773683"/>
            <a:ext cx="186851" cy="186851"/>
          </a:xfrm>
          <a:custGeom>
            <a:avLst/>
            <a:gdLst/>
            <a:ahLst/>
            <a:cxnLst/>
            <a:rect l="l" t="t" r="r" b="b"/>
            <a:pathLst>
              <a:path w="186851" h="186851">
                <a:moveTo>
                  <a:pt x="93425" y="186851"/>
                </a:moveTo>
                <a:cubicBezTo>
                  <a:pt x="144988" y="186851"/>
                  <a:pt x="186851" y="144988"/>
                  <a:pt x="186851" y="93425"/>
                </a:cubicBezTo>
                <a:cubicBezTo>
                  <a:pt x="186851" y="41862"/>
                  <a:pt x="144988" y="0"/>
                  <a:pt x="93425" y="0"/>
                </a:cubicBezTo>
                <a:cubicBezTo>
                  <a:pt x="41862" y="0"/>
                  <a:pt x="0" y="41862"/>
                  <a:pt x="0" y="93425"/>
                </a:cubicBezTo>
                <a:cubicBezTo>
                  <a:pt x="0" y="144988"/>
                  <a:pt x="41862" y="186851"/>
                  <a:pt x="93425" y="186851"/>
                </a:cubicBezTo>
                <a:close/>
                <a:moveTo>
                  <a:pt x="124226" y="77623"/>
                </a:moveTo>
                <a:lnTo>
                  <a:pt x="95031" y="124336"/>
                </a:lnTo>
                <a:cubicBezTo>
                  <a:pt x="93498" y="126781"/>
                  <a:pt x="90871" y="128314"/>
                  <a:pt x="87988" y="128460"/>
                </a:cubicBezTo>
                <a:cubicBezTo>
                  <a:pt x="85105" y="128606"/>
                  <a:pt x="82331" y="127292"/>
                  <a:pt x="80616" y="124956"/>
                </a:cubicBezTo>
                <a:lnTo>
                  <a:pt x="63099" y="101600"/>
                </a:lnTo>
                <a:cubicBezTo>
                  <a:pt x="60179" y="97732"/>
                  <a:pt x="60982" y="92257"/>
                  <a:pt x="64850" y="89338"/>
                </a:cubicBezTo>
                <a:cubicBezTo>
                  <a:pt x="68719" y="86418"/>
                  <a:pt x="74193" y="87221"/>
                  <a:pt x="77112" y="91090"/>
                </a:cubicBezTo>
                <a:lnTo>
                  <a:pt x="86966" y="104228"/>
                </a:lnTo>
                <a:lnTo>
                  <a:pt x="109373" y="68354"/>
                </a:lnTo>
                <a:cubicBezTo>
                  <a:pt x="111928" y="64266"/>
                  <a:pt x="117329" y="62989"/>
                  <a:pt x="121453" y="65580"/>
                </a:cubicBezTo>
                <a:cubicBezTo>
                  <a:pt x="125577" y="68171"/>
                  <a:pt x="126818" y="73536"/>
                  <a:pt x="124226" y="7766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93076" y="5754998"/>
            <a:ext cx="1812451" cy="261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4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Generalization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93076" y="6016589"/>
            <a:ext cx="1793766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overfitting detected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5484" y="1162211"/>
            <a:ext cx="5379428" cy="4716109"/>
          </a:xfrm>
          <a:custGeom>
            <a:avLst/>
            <a:gdLst/>
            <a:ahLst/>
            <a:cxnLst/>
            <a:rect l="l" t="t" r="r" b="b"/>
            <a:pathLst>
              <a:path w="5379428" h="4716109">
                <a:moveTo>
                  <a:pt x="149501" y="0"/>
                </a:moveTo>
                <a:lnTo>
                  <a:pt x="5229927" y="0"/>
                </a:lnTo>
                <a:cubicBezTo>
                  <a:pt x="5312494" y="0"/>
                  <a:pt x="5379428" y="66934"/>
                  <a:pt x="5379428" y="149501"/>
                </a:cubicBezTo>
                <a:lnTo>
                  <a:pt x="5379428" y="4566608"/>
                </a:lnTo>
                <a:cubicBezTo>
                  <a:pt x="5379428" y="4649175"/>
                  <a:pt x="5312494" y="4716109"/>
                  <a:pt x="5229927" y="4716109"/>
                </a:cubicBezTo>
                <a:lnTo>
                  <a:pt x="149501" y="4716109"/>
                </a:lnTo>
                <a:cubicBezTo>
                  <a:pt x="66934" y="4716109"/>
                  <a:pt x="0" y="4649175"/>
                  <a:pt x="0" y="4566608"/>
                </a:cubicBezTo>
                <a:lnTo>
                  <a:pt x="0" y="149501"/>
                </a:lnTo>
                <a:cubicBezTo>
                  <a:pt x="0" y="66989"/>
                  <a:pt x="66989" y="0"/>
                  <a:pt x="149501" y="0"/>
                </a:cubicBezTo>
                <a:close/>
              </a:path>
            </a:pathLst>
          </a:custGeom>
          <a:solidFill>
            <a:srgbClr val="FFFFFF"/>
          </a:solidFill>
          <a:ln w="10160">
            <a:solidFill>
              <a:srgbClr val="F3F4F6"/>
            </a:solidFill>
            <a:prstDash val="solid"/>
          </a:ln>
          <a:effectLst>
            <a:outerShdw blurRad="28028" dist="9343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63442" y="1390171"/>
            <a:ext cx="448441" cy="448441"/>
          </a:xfrm>
          <a:custGeom>
            <a:avLst/>
            <a:gdLst/>
            <a:ahLst/>
            <a:cxnLst/>
            <a:rect l="l" t="t" r="r" b="b"/>
            <a:pathLst>
              <a:path w="448441" h="448441">
                <a:moveTo>
                  <a:pt x="112110" y="0"/>
                </a:moveTo>
                <a:lnTo>
                  <a:pt x="336331" y="0"/>
                </a:lnTo>
                <a:cubicBezTo>
                  <a:pt x="398206" y="0"/>
                  <a:pt x="448441" y="50235"/>
                  <a:pt x="448441" y="112110"/>
                </a:cubicBezTo>
                <a:lnTo>
                  <a:pt x="448441" y="336331"/>
                </a:lnTo>
                <a:cubicBezTo>
                  <a:pt x="448441" y="398206"/>
                  <a:pt x="398206" y="448441"/>
                  <a:pt x="336331" y="448441"/>
                </a:cubicBezTo>
                <a:lnTo>
                  <a:pt x="112110" y="448441"/>
                </a:lnTo>
                <a:cubicBezTo>
                  <a:pt x="50235" y="448441"/>
                  <a:pt x="0" y="398206"/>
                  <a:pt x="0" y="336331"/>
                </a:cubicBezTo>
                <a:lnTo>
                  <a:pt x="0" y="112110"/>
                </a:lnTo>
                <a:cubicBezTo>
                  <a:pt x="0" y="50235"/>
                  <a:pt x="50235" y="0"/>
                  <a:pt x="11211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803580" y="1502281"/>
            <a:ext cx="168166" cy="224221"/>
          </a:xfrm>
          <a:custGeom>
            <a:avLst/>
            <a:gdLst/>
            <a:ahLst/>
            <a:cxnLst/>
            <a:rect l="l" t="t" r="r" b="b"/>
            <a:pathLst>
              <a:path w="168166" h="224221">
                <a:moveTo>
                  <a:pt x="24130" y="32144"/>
                </a:moveTo>
                <a:cubicBezTo>
                  <a:pt x="18656" y="26670"/>
                  <a:pt x="9766" y="26670"/>
                  <a:pt x="4292" y="32144"/>
                </a:cubicBezTo>
                <a:cubicBezTo>
                  <a:pt x="-1182" y="37618"/>
                  <a:pt x="-1182" y="46508"/>
                  <a:pt x="4292" y="51982"/>
                </a:cubicBezTo>
                <a:lnTo>
                  <a:pt x="64463" y="112110"/>
                </a:lnTo>
                <a:lnTo>
                  <a:pt x="4336" y="172282"/>
                </a:lnTo>
                <a:cubicBezTo>
                  <a:pt x="-1139" y="177756"/>
                  <a:pt x="-1139" y="186646"/>
                  <a:pt x="4336" y="192120"/>
                </a:cubicBezTo>
                <a:cubicBezTo>
                  <a:pt x="9810" y="197594"/>
                  <a:pt x="18700" y="197594"/>
                  <a:pt x="24174" y="192120"/>
                </a:cubicBezTo>
                <a:lnTo>
                  <a:pt x="84302" y="131949"/>
                </a:lnTo>
                <a:lnTo>
                  <a:pt x="144473" y="192077"/>
                </a:lnTo>
                <a:cubicBezTo>
                  <a:pt x="149948" y="197551"/>
                  <a:pt x="158838" y="197551"/>
                  <a:pt x="164312" y="192077"/>
                </a:cubicBezTo>
                <a:cubicBezTo>
                  <a:pt x="169786" y="186602"/>
                  <a:pt x="169786" y="177712"/>
                  <a:pt x="164312" y="172238"/>
                </a:cubicBezTo>
                <a:lnTo>
                  <a:pt x="104140" y="112110"/>
                </a:lnTo>
                <a:lnTo>
                  <a:pt x="164268" y="51939"/>
                </a:lnTo>
                <a:cubicBezTo>
                  <a:pt x="169742" y="46464"/>
                  <a:pt x="169742" y="37574"/>
                  <a:pt x="164268" y="32100"/>
                </a:cubicBezTo>
                <a:cubicBezTo>
                  <a:pt x="158794" y="26626"/>
                  <a:pt x="149904" y="26626"/>
                  <a:pt x="144430" y="32100"/>
                </a:cubicBezTo>
                <a:lnTo>
                  <a:pt x="84302" y="92272"/>
                </a:lnTo>
                <a:lnTo>
                  <a:pt x="24130" y="32144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23993" y="1464911"/>
            <a:ext cx="2120754" cy="29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6" b="1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Challenged Us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63442" y="2025463"/>
            <a:ext cx="4923513" cy="635292"/>
          </a:xfrm>
          <a:custGeom>
            <a:avLst/>
            <a:gdLst/>
            <a:ahLst/>
            <a:cxnLst/>
            <a:rect l="l" t="t" r="r" b="b"/>
            <a:pathLst>
              <a:path w="4923513" h="635292">
                <a:moveTo>
                  <a:pt x="112110" y="0"/>
                </a:moveTo>
                <a:lnTo>
                  <a:pt x="4811403" y="0"/>
                </a:lnTo>
                <a:cubicBezTo>
                  <a:pt x="4873319" y="0"/>
                  <a:pt x="4923513" y="50193"/>
                  <a:pt x="4923513" y="112110"/>
                </a:cubicBezTo>
                <a:lnTo>
                  <a:pt x="4923513" y="523182"/>
                </a:lnTo>
                <a:cubicBezTo>
                  <a:pt x="4923513" y="585099"/>
                  <a:pt x="4873319" y="635292"/>
                  <a:pt x="4811403" y="635292"/>
                </a:cubicBezTo>
                <a:lnTo>
                  <a:pt x="112110" y="635292"/>
                </a:lnTo>
                <a:cubicBezTo>
                  <a:pt x="50193" y="635292"/>
                  <a:pt x="0" y="585099"/>
                  <a:pt x="0" y="523182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798908" y="2156258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84083" y="168166"/>
                </a:moveTo>
                <a:cubicBezTo>
                  <a:pt x="130489" y="168166"/>
                  <a:pt x="168166" y="130489"/>
                  <a:pt x="168166" y="84083"/>
                </a:cubicBezTo>
                <a:cubicBezTo>
                  <a:pt x="168166" y="37676"/>
                  <a:pt x="130489" y="0"/>
                  <a:pt x="84083" y="0"/>
                </a:cubicBezTo>
                <a:cubicBezTo>
                  <a:pt x="37676" y="0"/>
                  <a:pt x="0" y="37676"/>
                  <a:pt x="0" y="84083"/>
                </a:cubicBezTo>
                <a:cubicBezTo>
                  <a:pt x="0" y="130489"/>
                  <a:pt x="37676" y="168166"/>
                  <a:pt x="84083" y="168166"/>
                </a:cubicBezTo>
                <a:close/>
                <a:moveTo>
                  <a:pt x="54851" y="54851"/>
                </a:moveTo>
                <a:cubicBezTo>
                  <a:pt x="57938" y="51763"/>
                  <a:pt x="62931" y="51763"/>
                  <a:pt x="65985" y="54851"/>
                </a:cubicBezTo>
                <a:lnTo>
                  <a:pt x="84050" y="72916"/>
                </a:lnTo>
                <a:lnTo>
                  <a:pt x="102115" y="54851"/>
                </a:lnTo>
                <a:cubicBezTo>
                  <a:pt x="105202" y="51763"/>
                  <a:pt x="110194" y="51763"/>
                  <a:pt x="113249" y="54851"/>
                </a:cubicBezTo>
                <a:cubicBezTo>
                  <a:pt x="116304" y="57938"/>
                  <a:pt x="116336" y="62931"/>
                  <a:pt x="113249" y="65985"/>
                </a:cubicBezTo>
                <a:lnTo>
                  <a:pt x="95184" y="84050"/>
                </a:lnTo>
                <a:lnTo>
                  <a:pt x="113249" y="102115"/>
                </a:lnTo>
                <a:cubicBezTo>
                  <a:pt x="116336" y="105202"/>
                  <a:pt x="116336" y="110194"/>
                  <a:pt x="113249" y="113249"/>
                </a:cubicBezTo>
                <a:cubicBezTo>
                  <a:pt x="110162" y="116304"/>
                  <a:pt x="105169" y="116336"/>
                  <a:pt x="102115" y="113249"/>
                </a:cubicBezTo>
                <a:lnTo>
                  <a:pt x="84050" y="95184"/>
                </a:lnTo>
                <a:lnTo>
                  <a:pt x="65985" y="113249"/>
                </a:lnTo>
                <a:cubicBezTo>
                  <a:pt x="62898" y="116336"/>
                  <a:pt x="57905" y="116336"/>
                  <a:pt x="54851" y="113249"/>
                </a:cubicBezTo>
                <a:cubicBezTo>
                  <a:pt x="51796" y="110162"/>
                  <a:pt x="51763" y="105169"/>
                  <a:pt x="54851" y="102115"/>
                </a:cubicBezTo>
                <a:lnTo>
                  <a:pt x="72916" y="84050"/>
                </a:lnTo>
                <a:lnTo>
                  <a:pt x="54851" y="65985"/>
                </a:lnTo>
                <a:cubicBezTo>
                  <a:pt x="51763" y="62898"/>
                  <a:pt x="51763" y="57905"/>
                  <a:pt x="54851" y="54851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97869" y="2137573"/>
            <a:ext cx="192456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Ceiling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097869" y="2361794"/>
            <a:ext cx="191521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~63% vs. 90%+ for deep learning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63442" y="2772861"/>
            <a:ext cx="4923513" cy="635292"/>
          </a:xfrm>
          <a:custGeom>
            <a:avLst/>
            <a:gdLst/>
            <a:ahLst/>
            <a:cxnLst/>
            <a:rect l="l" t="t" r="r" b="b"/>
            <a:pathLst>
              <a:path w="4923513" h="635292">
                <a:moveTo>
                  <a:pt x="112110" y="0"/>
                </a:moveTo>
                <a:lnTo>
                  <a:pt x="4811403" y="0"/>
                </a:lnTo>
                <a:cubicBezTo>
                  <a:pt x="4873319" y="0"/>
                  <a:pt x="4923513" y="50193"/>
                  <a:pt x="4923513" y="112110"/>
                </a:cubicBezTo>
                <a:lnTo>
                  <a:pt x="4923513" y="523182"/>
                </a:lnTo>
                <a:cubicBezTo>
                  <a:pt x="4923513" y="585099"/>
                  <a:pt x="4873319" y="635292"/>
                  <a:pt x="4811403" y="635292"/>
                </a:cubicBezTo>
                <a:lnTo>
                  <a:pt x="112110" y="635292"/>
                </a:lnTo>
                <a:cubicBezTo>
                  <a:pt x="50193" y="635292"/>
                  <a:pt x="0" y="585099"/>
                  <a:pt x="0" y="523182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798908" y="2903656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84083" y="168166"/>
                </a:moveTo>
                <a:cubicBezTo>
                  <a:pt x="130489" y="168166"/>
                  <a:pt x="168166" y="130489"/>
                  <a:pt x="168166" y="84083"/>
                </a:cubicBezTo>
                <a:cubicBezTo>
                  <a:pt x="168166" y="37676"/>
                  <a:pt x="130489" y="0"/>
                  <a:pt x="84083" y="0"/>
                </a:cubicBezTo>
                <a:cubicBezTo>
                  <a:pt x="37676" y="0"/>
                  <a:pt x="0" y="37676"/>
                  <a:pt x="0" y="84083"/>
                </a:cubicBezTo>
                <a:cubicBezTo>
                  <a:pt x="0" y="130489"/>
                  <a:pt x="37676" y="168166"/>
                  <a:pt x="84083" y="168166"/>
                </a:cubicBezTo>
                <a:close/>
                <a:moveTo>
                  <a:pt x="54851" y="54851"/>
                </a:moveTo>
                <a:cubicBezTo>
                  <a:pt x="57938" y="51763"/>
                  <a:pt x="62931" y="51763"/>
                  <a:pt x="65985" y="54851"/>
                </a:cubicBezTo>
                <a:lnTo>
                  <a:pt x="84050" y="72916"/>
                </a:lnTo>
                <a:lnTo>
                  <a:pt x="102115" y="54851"/>
                </a:lnTo>
                <a:cubicBezTo>
                  <a:pt x="105202" y="51763"/>
                  <a:pt x="110194" y="51763"/>
                  <a:pt x="113249" y="54851"/>
                </a:cubicBezTo>
                <a:cubicBezTo>
                  <a:pt x="116304" y="57938"/>
                  <a:pt x="116336" y="62931"/>
                  <a:pt x="113249" y="65985"/>
                </a:cubicBezTo>
                <a:lnTo>
                  <a:pt x="95184" y="84050"/>
                </a:lnTo>
                <a:lnTo>
                  <a:pt x="113249" y="102115"/>
                </a:lnTo>
                <a:cubicBezTo>
                  <a:pt x="116336" y="105202"/>
                  <a:pt x="116336" y="110194"/>
                  <a:pt x="113249" y="113249"/>
                </a:cubicBezTo>
                <a:cubicBezTo>
                  <a:pt x="110162" y="116304"/>
                  <a:pt x="105169" y="116336"/>
                  <a:pt x="102115" y="113249"/>
                </a:cubicBezTo>
                <a:lnTo>
                  <a:pt x="84050" y="95184"/>
                </a:lnTo>
                <a:lnTo>
                  <a:pt x="65985" y="113249"/>
                </a:lnTo>
                <a:cubicBezTo>
                  <a:pt x="62898" y="116336"/>
                  <a:pt x="57905" y="116336"/>
                  <a:pt x="54851" y="113249"/>
                </a:cubicBezTo>
                <a:cubicBezTo>
                  <a:pt x="51796" y="110162"/>
                  <a:pt x="51763" y="105169"/>
                  <a:pt x="54851" y="102115"/>
                </a:cubicBezTo>
                <a:lnTo>
                  <a:pt x="72916" y="84050"/>
                </a:lnTo>
                <a:lnTo>
                  <a:pt x="54851" y="65985"/>
                </a:lnTo>
                <a:cubicBezTo>
                  <a:pt x="51763" y="62898"/>
                  <a:pt x="51763" y="57905"/>
                  <a:pt x="54851" y="54851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097869" y="2884971"/>
            <a:ext cx="184982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Feature Engineering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97869" y="3109192"/>
            <a:ext cx="184047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Requires domain knowledge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663442" y="3520263"/>
            <a:ext cx="4923513" cy="635292"/>
          </a:xfrm>
          <a:custGeom>
            <a:avLst/>
            <a:gdLst/>
            <a:ahLst/>
            <a:cxnLst/>
            <a:rect l="l" t="t" r="r" b="b"/>
            <a:pathLst>
              <a:path w="4923513" h="635292">
                <a:moveTo>
                  <a:pt x="112110" y="0"/>
                </a:moveTo>
                <a:lnTo>
                  <a:pt x="4811403" y="0"/>
                </a:lnTo>
                <a:cubicBezTo>
                  <a:pt x="4873319" y="0"/>
                  <a:pt x="4923513" y="50193"/>
                  <a:pt x="4923513" y="112110"/>
                </a:cubicBezTo>
                <a:lnTo>
                  <a:pt x="4923513" y="523182"/>
                </a:lnTo>
                <a:cubicBezTo>
                  <a:pt x="4923513" y="585099"/>
                  <a:pt x="4873319" y="635292"/>
                  <a:pt x="4811403" y="635292"/>
                </a:cubicBezTo>
                <a:lnTo>
                  <a:pt x="112110" y="635292"/>
                </a:lnTo>
                <a:cubicBezTo>
                  <a:pt x="50193" y="635292"/>
                  <a:pt x="0" y="585099"/>
                  <a:pt x="0" y="523182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798908" y="3651058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84083" y="168166"/>
                </a:moveTo>
                <a:cubicBezTo>
                  <a:pt x="130489" y="168166"/>
                  <a:pt x="168166" y="130489"/>
                  <a:pt x="168166" y="84083"/>
                </a:cubicBezTo>
                <a:cubicBezTo>
                  <a:pt x="168166" y="37676"/>
                  <a:pt x="130489" y="0"/>
                  <a:pt x="84083" y="0"/>
                </a:cubicBezTo>
                <a:cubicBezTo>
                  <a:pt x="37676" y="0"/>
                  <a:pt x="0" y="37676"/>
                  <a:pt x="0" y="84083"/>
                </a:cubicBezTo>
                <a:cubicBezTo>
                  <a:pt x="0" y="130489"/>
                  <a:pt x="37676" y="168166"/>
                  <a:pt x="84083" y="168166"/>
                </a:cubicBezTo>
                <a:close/>
                <a:moveTo>
                  <a:pt x="54851" y="54851"/>
                </a:moveTo>
                <a:cubicBezTo>
                  <a:pt x="57938" y="51763"/>
                  <a:pt x="62931" y="51763"/>
                  <a:pt x="65985" y="54851"/>
                </a:cubicBezTo>
                <a:lnTo>
                  <a:pt x="84050" y="72916"/>
                </a:lnTo>
                <a:lnTo>
                  <a:pt x="102115" y="54851"/>
                </a:lnTo>
                <a:cubicBezTo>
                  <a:pt x="105202" y="51763"/>
                  <a:pt x="110194" y="51763"/>
                  <a:pt x="113249" y="54851"/>
                </a:cubicBezTo>
                <a:cubicBezTo>
                  <a:pt x="116304" y="57938"/>
                  <a:pt x="116336" y="62931"/>
                  <a:pt x="113249" y="65985"/>
                </a:cubicBezTo>
                <a:lnTo>
                  <a:pt x="95184" y="84050"/>
                </a:lnTo>
                <a:lnTo>
                  <a:pt x="113249" y="102115"/>
                </a:lnTo>
                <a:cubicBezTo>
                  <a:pt x="116336" y="105202"/>
                  <a:pt x="116336" y="110194"/>
                  <a:pt x="113249" y="113249"/>
                </a:cubicBezTo>
                <a:cubicBezTo>
                  <a:pt x="110162" y="116304"/>
                  <a:pt x="105169" y="116336"/>
                  <a:pt x="102115" y="113249"/>
                </a:cubicBezTo>
                <a:lnTo>
                  <a:pt x="84050" y="95184"/>
                </a:lnTo>
                <a:lnTo>
                  <a:pt x="65985" y="113249"/>
                </a:lnTo>
                <a:cubicBezTo>
                  <a:pt x="62898" y="116336"/>
                  <a:pt x="57905" y="116336"/>
                  <a:pt x="54851" y="113249"/>
                </a:cubicBezTo>
                <a:cubicBezTo>
                  <a:pt x="51796" y="110162"/>
                  <a:pt x="51763" y="105169"/>
                  <a:pt x="54851" y="102115"/>
                </a:cubicBezTo>
                <a:lnTo>
                  <a:pt x="72916" y="84050"/>
                </a:lnTo>
                <a:lnTo>
                  <a:pt x="54851" y="65985"/>
                </a:lnTo>
                <a:cubicBezTo>
                  <a:pt x="51763" y="62898"/>
                  <a:pt x="51763" y="57905"/>
                  <a:pt x="54851" y="54851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097869" y="3632373"/>
            <a:ext cx="2401030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Texture-Based Classes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97869" y="3856594"/>
            <a:ext cx="2391687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Struggles with cats, birds (texture-heavy)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663442" y="4267665"/>
            <a:ext cx="4923513" cy="635292"/>
          </a:xfrm>
          <a:custGeom>
            <a:avLst/>
            <a:gdLst/>
            <a:ahLst/>
            <a:cxnLst/>
            <a:rect l="l" t="t" r="r" b="b"/>
            <a:pathLst>
              <a:path w="4923513" h="635292">
                <a:moveTo>
                  <a:pt x="112110" y="0"/>
                </a:moveTo>
                <a:lnTo>
                  <a:pt x="4811403" y="0"/>
                </a:lnTo>
                <a:cubicBezTo>
                  <a:pt x="4873319" y="0"/>
                  <a:pt x="4923513" y="50193"/>
                  <a:pt x="4923513" y="112110"/>
                </a:cubicBezTo>
                <a:lnTo>
                  <a:pt x="4923513" y="523182"/>
                </a:lnTo>
                <a:cubicBezTo>
                  <a:pt x="4923513" y="585099"/>
                  <a:pt x="4873319" y="635292"/>
                  <a:pt x="4811403" y="635292"/>
                </a:cubicBezTo>
                <a:lnTo>
                  <a:pt x="112110" y="635292"/>
                </a:lnTo>
                <a:cubicBezTo>
                  <a:pt x="50193" y="635292"/>
                  <a:pt x="0" y="585099"/>
                  <a:pt x="0" y="523182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798908" y="4398461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84083" y="168166"/>
                </a:moveTo>
                <a:cubicBezTo>
                  <a:pt x="130489" y="168166"/>
                  <a:pt x="168166" y="130489"/>
                  <a:pt x="168166" y="84083"/>
                </a:cubicBezTo>
                <a:cubicBezTo>
                  <a:pt x="168166" y="37676"/>
                  <a:pt x="130489" y="0"/>
                  <a:pt x="84083" y="0"/>
                </a:cubicBezTo>
                <a:cubicBezTo>
                  <a:pt x="37676" y="0"/>
                  <a:pt x="0" y="37676"/>
                  <a:pt x="0" y="84083"/>
                </a:cubicBezTo>
                <a:cubicBezTo>
                  <a:pt x="0" y="130489"/>
                  <a:pt x="37676" y="168166"/>
                  <a:pt x="84083" y="168166"/>
                </a:cubicBezTo>
                <a:close/>
                <a:moveTo>
                  <a:pt x="54851" y="54851"/>
                </a:moveTo>
                <a:cubicBezTo>
                  <a:pt x="57938" y="51763"/>
                  <a:pt x="62931" y="51763"/>
                  <a:pt x="65985" y="54851"/>
                </a:cubicBezTo>
                <a:lnTo>
                  <a:pt x="84050" y="72916"/>
                </a:lnTo>
                <a:lnTo>
                  <a:pt x="102115" y="54851"/>
                </a:lnTo>
                <a:cubicBezTo>
                  <a:pt x="105202" y="51763"/>
                  <a:pt x="110194" y="51763"/>
                  <a:pt x="113249" y="54851"/>
                </a:cubicBezTo>
                <a:cubicBezTo>
                  <a:pt x="116304" y="57938"/>
                  <a:pt x="116336" y="62931"/>
                  <a:pt x="113249" y="65985"/>
                </a:cubicBezTo>
                <a:lnTo>
                  <a:pt x="95184" y="84050"/>
                </a:lnTo>
                <a:lnTo>
                  <a:pt x="113249" y="102115"/>
                </a:lnTo>
                <a:cubicBezTo>
                  <a:pt x="116336" y="105202"/>
                  <a:pt x="116336" y="110194"/>
                  <a:pt x="113249" y="113249"/>
                </a:cubicBezTo>
                <a:cubicBezTo>
                  <a:pt x="110162" y="116304"/>
                  <a:pt x="105169" y="116336"/>
                  <a:pt x="102115" y="113249"/>
                </a:cubicBezTo>
                <a:lnTo>
                  <a:pt x="84050" y="95184"/>
                </a:lnTo>
                <a:lnTo>
                  <a:pt x="65985" y="113249"/>
                </a:lnTo>
                <a:cubicBezTo>
                  <a:pt x="62898" y="116336"/>
                  <a:pt x="57905" y="116336"/>
                  <a:pt x="54851" y="113249"/>
                </a:cubicBezTo>
                <a:cubicBezTo>
                  <a:pt x="51796" y="110162"/>
                  <a:pt x="51763" y="105169"/>
                  <a:pt x="54851" y="102115"/>
                </a:cubicBezTo>
                <a:lnTo>
                  <a:pt x="72916" y="84050"/>
                </a:lnTo>
                <a:lnTo>
                  <a:pt x="54851" y="65985"/>
                </a:lnTo>
                <a:cubicBezTo>
                  <a:pt x="51763" y="62898"/>
                  <a:pt x="51763" y="57905"/>
                  <a:pt x="54851" y="54851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097869" y="4379776"/>
            <a:ext cx="1737710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Resolution Limitation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97869" y="4603996"/>
            <a:ext cx="172836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32×32 loses fine details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663442" y="5015068"/>
            <a:ext cx="4923513" cy="635292"/>
          </a:xfrm>
          <a:custGeom>
            <a:avLst/>
            <a:gdLst/>
            <a:ahLst/>
            <a:cxnLst/>
            <a:rect l="l" t="t" r="r" b="b"/>
            <a:pathLst>
              <a:path w="4923513" h="635292">
                <a:moveTo>
                  <a:pt x="112110" y="0"/>
                </a:moveTo>
                <a:lnTo>
                  <a:pt x="4811403" y="0"/>
                </a:lnTo>
                <a:cubicBezTo>
                  <a:pt x="4873319" y="0"/>
                  <a:pt x="4923513" y="50193"/>
                  <a:pt x="4923513" y="112110"/>
                </a:cubicBezTo>
                <a:lnTo>
                  <a:pt x="4923513" y="523182"/>
                </a:lnTo>
                <a:cubicBezTo>
                  <a:pt x="4923513" y="585099"/>
                  <a:pt x="4873319" y="635292"/>
                  <a:pt x="4811403" y="635292"/>
                </a:cubicBezTo>
                <a:lnTo>
                  <a:pt x="112110" y="635292"/>
                </a:lnTo>
                <a:cubicBezTo>
                  <a:pt x="50193" y="635292"/>
                  <a:pt x="0" y="585099"/>
                  <a:pt x="0" y="523182"/>
                </a:cubicBezTo>
                <a:lnTo>
                  <a:pt x="0" y="112110"/>
                </a:lnTo>
                <a:cubicBezTo>
                  <a:pt x="0" y="50193"/>
                  <a:pt x="50193" y="0"/>
                  <a:pt x="112110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798908" y="5145863"/>
            <a:ext cx="168166" cy="168166"/>
          </a:xfrm>
          <a:custGeom>
            <a:avLst/>
            <a:gdLst/>
            <a:ahLst/>
            <a:cxnLst/>
            <a:rect l="l" t="t" r="r" b="b"/>
            <a:pathLst>
              <a:path w="168166" h="168166">
                <a:moveTo>
                  <a:pt x="84083" y="168166"/>
                </a:moveTo>
                <a:cubicBezTo>
                  <a:pt x="130489" y="168166"/>
                  <a:pt x="168166" y="130489"/>
                  <a:pt x="168166" y="84083"/>
                </a:cubicBezTo>
                <a:cubicBezTo>
                  <a:pt x="168166" y="37676"/>
                  <a:pt x="130489" y="0"/>
                  <a:pt x="84083" y="0"/>
                </a:cubicBezTo>
                <a:cubicBezTo>
                  <a:pt x="37676" y="0"/>
                  <a:pt x="0" y="37676"/>
                  <a:pt x="0" y="84083"/>
                </a:cubicBezTo>
                <a:cubicBezTo>
                  <a:pt x="0" y="130489"/>
                  <a:pt x="37676" y="168166"/>
                  <a:pt x="84083" y="168166"/>
                </a:cubicBezTo>
                <a:close/>
                <a:moveTo>
                  <a:pt x="54851" y="54851"/>
                </a:moveTo>
                <a:cubicBezTo>
                  <a:pt x="57938" y="51763"/>
                  <a:pt x="62931" y="51763"/>
                  <a:pt x="65985" y="54851"/>
                </a:cubicBezTo>
                <a:lnTo>
                  <a:pt x="84050" y="72916"/>
                </a:lnTo>
                <a:lnTo>
                  <a:pt x="102115" y="54851"/>
                </a:lnTo>
                <a:cubicBezTo>
                  <a:pt x="105202" y="51763"/>
                  <a:pt x="110194" y="51763"/>
                  <a:pt x="113249" y="54851"/>
                </a:cubicBezTo>
                <a:cubicBezTo>
                  <a:pt x="116304" y="57938"/>
                  <a:pt x="116336" y="62931"/>
                  <a:pt x="113249" y="65985"/>
                </a:cubicBezTo>
                <a:lnTo>
                  <a:pt x="95184" y="84050"/>
                </a:lnTo>
                <a:lnTo>
                  <a:pt x="113249" y="102115"/>
                </a:lnTo>
                <a:cubicBezTo>
                  <a:pt x="116336" y="105202"/>
                  <a:pt x="116336" y="110194"/>
                  <a:pt x="113249" y="113249"/>
                </a:cubicBezTo>
                <a:cubicBezTo>
                  <a:pt x="110162" y="116304"/>
                  <a:pt x="105169" y="116336"/>
                  <a:pt x="102115" y="113249"/>
                </a:cubicBezTo>
                <a:lnTo>
                  <a:pt x="84050" y="95184"/>
                </a:lnTo>
                <a:lnTo>
                  <a:pt x="65985" y="113249"/>
                </a:lnTo>
                <a:cubicBezTo>
                  <a:pt x="62898" y="116336"/>
                  <a:pt x="57905" y="116336"/>
                  <a:pt x="54851" y="113249"/>
                </a:cubicBezTo>
                <a:cubicBezTo>
                  <a:pt x="51796" y="110162"/>
                  <a:pt x="51763" y="105169"/>
                  <a:pt x="54851" y="102115"/>
                </a:cubicBezTo>
                <a:lnTo>
                  <a:pt x="72916" y="84050"/>
                </a:lnTo>
                <a:lnTo>
                  <a:pt x="54851" y="65985"/>
                </a:lnTo>
                <a:cubicBezTo>
                  <a:pt x="51763" y="62898"/>
                  <a:pt x="51763" y="57905"/>
                  <a:pt x="54851" y="54851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097869" y="5127178"/>
            <a:ext cx="2643936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Data Scaling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97869" y="5351399"/>
            <a:ext cx="2634593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doesn't improve with more data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31747" y="6068912"/>
            <a:ext cx="5381297" cy="784772"/>
          </a:xfrm>
          <a:custGeom>
            <a:avLst/>
            <a:gdLst/>
            <a:ahLst/>
            <a:cxnLst/>
            <a:rect l="l" t="t" r="r" b="b"/>
            <a:pathLst>
              <a:path w="5381297" h="784772">
                <a:moveTo>
                  <a:pt x="149483" y="0"/>
                </a:moveTo>
                <a:lnTo>
                  <a:pt x="5231813" y="0"/>
                </a:lnTo>
                <a:cubicBezTo>
                  <a:pt x="5314371" y="0"/>
                  <a:pt x="5381297" y="66926"/>
                  <a:pt x="5381297" y="149483"/>
                </a:cubicBezTo>
                <a:lnTo>
                  <a:pt x="5381297" y="635289"/>
                </a:lnTo>
                <a:cubicBezTo>
                  <a:pt x="5381297" y="717791"/>
                  <a:pt x="5314315" y="784772"/>
                  <a:pt x="5231813" y="784772"/>
                </a:cubicBezTo>
                <a:lnTo>
                  <a:pt x="149483" y="784772"/>
                </a:lnTo>
                <a:cubicBezTo>
                  <a:pt x="66981" y="784772"/>
                  <a:pt x="0" y="717791"/>
                  <a:pt x="0" y="635289"/>
                </a:cubicBezTo>
                <a:lnTo>
                  <a:pt x="0" y="149483"/>
                </a:lnTo>
                <a:cubicBezTo>
                  <a:pt x="0" y="66981"/>
                  <a:pt x="66981" y="0"/>
                  <a:pt x="149483" y="0"/>
                </a:cubicBezTo>
                <a:close/>
              </a:path>
            </a:pathLst>
          </a:cu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674653" y="6349188"/>
            <a:ext cx="168166" cy="224221"/>
          </a:xfrm>
          <a:custGeom>
            <a:avLst/>
            <a:gdLst/>
            <a:ahLst/>
            <a:cxnLst/>
            <a:rect l="l" t="t" r="r" b="b"/>
            <a:pathLst>
              <a:path w="168166" h="224221">
                <a:moveTo>
                  <a:pt x="128270" y="168166"/>
                </a:moveTo>
                <a:cubicBezTo>
                  <a:pt x="131467" y="158400"/>
                  <a:pt x="137861" y="149553"/>
                  <a:pt x="145087" y="141933"/>
                </a:cubicBezTo>
                <a:cubicBezTo>
                  <a:pt x="159407" y="126869"/>
                  <a:pt x="168166" y="106505"/>
                  <a:pt x="168166" y="84083"/>
                </a:cubicBezTo>
                <a:cubicBezTo>
                  <a:pt x="168166" y="37662"/>
                  <a:pt x="130503" y="0"/>
                  <a:pt x="84083" y="0"/>
                </a:cubicBezTo>
                <a:cubicBezTo>
                  <a:pt x="37662" y="0"/>
                  <a:pt x="0" y="37662"/>
                  <a:pt x="0" y="84083"/>
                </a:cubicBezTo>
                <a:cubicBezTo>
                  <a:pt x="0" y="106505"/>
                  <a:pt x="8759" y="126869"/>
                  <a:pt x="23079" y="141933"/>
                </a:cubicBezTo>
                <a:cubicBezTo>
                  <a:pt x="30305" y="149553"/>
                  <a:pt x="36742" y="158400"/>
                  <a:pt x="39896" y="168166"/>
                </a:cubicBezTo>
                <a:lnTo>
                  <a:pt x="128226" y="168166"/>
                </a:lnTo>
                <a:close/>
                <a:moveTo>
                  <a:pt x="126124" y="189186"/>
                </a:moveTo>
                <a:lnTo>
                  <a:pt x="42041" y="189186"/>
                </a:lnTo>
                <a:lnTo>
                  <a:pt x="42041" y="196193"/>
                </a:lnTo>
                <a:cubicBezTo>
                  <a:pt x="42041" y="215550"/>
                  <a:pt x="57719" y="231228"/>
                  <a:pt x="77076" y="231228"/>
                </a:cubicBezTo>
                <a:lnTo>
                  <a:pt x="91090" y="231228"/>
                </a:lnTo>
                <a:cubicBezTo>
                  <a:pt x="110446" y="231228"/>
                  <a:pt x="126124" y="215550"/>
                  <a:pt x="126124" y="196193"/>
                </a:cubicBezTo>
                <a:lnTo>
                  <a:pt x="126124" y="189186"/>
                </a:lnTo>
                <a:close/>
                <a:moveTo>
                  <a:pt x="80579" y="49048"/>
                </a:moveTo>
                <a:cubicBezTo>
                  <a:pt x="63150" y="49048"/>
                  <a:pt x="49048" y="63150"/>
                  <a:pt x="49048" y="80579"/>
                </a:cubicBezTo>
                <a:cubicBezTo>
                  <a:pt x="49048" y="86404"/>
                  <a:pt x="44362" y="91090"/>
                  <a:pt x="38538" y="91090"/>
                </a:cubicBezTo>
                <a:cubicBezTo>
                  <a:pt x="32713" y="91090"/>
                  <a:pt x="28028" y="86404"/>
                  <a:pt x="28028" y="80579"/>
                </a:cubicBezTo>
                <a:cubicBezTo>
                  <a:pt x="28028" y="51544"/>
                  <a:pt x="51544" y="28028"/>
                  <a:pt x="80579" y="28028"/>
                </a:cubicBezTo>
                <a:cubicBezTo>
                  <a:pt x="86404" y="28028"/>
                  <a:pt x="91090" y="32713"/>
                  <a:pt x="91090" y="38538"/>
                </a:cubicBezTo>
                <a:cubicBezTo>
                  <a:pt x="91090" y="44362"/>
                  <a:pt x="86404" y="49048"/>
                  <a:pt x="80579" y="49048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010984" y="6255763"/>
            <a:ext cx="1924561" cy="224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7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Cause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010984" y="6479983"/>
            <a:ext cx="1915218" cy="18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HOG captures </a:t>
            </a:r>
            <a:r>
              <a:rPr lang="en-US" sz="103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shape</a:t>
            </a:r>
            <a:r>
              <a:rPr lang="en-US" sz="1030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</a:t>
            </a:r>
            <a:r>
              <a:rPr lang="en-US" sz="1030" b="1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efb948f3ba36bcd53e002690321b05ad8f1592ea.jp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0" y="0"/>
            <a:ext cx="12192000" cy="6859715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715"/>
          </a:xfrm>
          <a:custGeom>
            <a:avLst/>
            <a:gdLst/>
            <a:ahLst/>
            <a:cxnLst/>
            <a:rect l="l" t="t" r="r" b="b"/>
            <a:pathLst>
              <a:path w="12192000" h="6859715">
                <a:moveTo>
                  <a:pt x="0" y="0"/>
                </a:moveTo>
                <a:lnTo>
                  <a:pt x="12192000" y="0"/>
                </a:lnTo>
                <a:lnTo>
                  <a:pt x="12192000" y="6859715"/>
                </a:lnTo>
                <a:lnTo>
                  <a:pt x="0" y="685971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2E">
                  <a:alpha val="95000"/>
                </a:srgbClr>
              </a:gs>
              <a:gs pos="50000">
                <a:srgbClr val="1A1A2E">
                  <a:alpha val="90000"/>
                </a:srgbClr>
              </a:gs>
              <a:gs pos="100000">
                <a:srgbClr val="38A169">
                  <a:alpha val="8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5851" y="420729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109755" y="0"/>
                </a:moveTo>
                <a:lnTo>
                  <a:pt x="329266" y="0"/>
                </a:lnTo>
                <a:cubicBezTo>
                  <a:pt x="389842" y="0"/>
                  <a:pt x="439022" y="49180"/>
                  <a:pt x="439022" y="109755"/>
                </a:cubicBezTo>
                <a:lnTo>
                  <a:pt x="439022" y="329266"/>
                </a:lnTo>
                <a:cubicBezTo>
                  <a:pt x="439022" y="389842"/>
                  <a:pt x="389842" y="439022"/>
                  <a:pt x="329266" y="439022"/>
                </a:cubicBezTo>
                <a:lnTo>
                  <a:pt x="109755" y="439022"/>
                </a:lnTo>
                <a:cubicBezTo>
                  <a:pt x="49180" y="439022"/>
                  <a:pt x="0" y="389842"/>
                  <a:pt x="0" y="329266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482467" y="548777"/>
            <a:ext cx="205791" cy="182926"/>
          </a:xfrm>
          <a:custGeom>
            <a:avLst/>
            <a:gdLst/>
            <a:ahLst/>
            <a:cxnLst/>
            <a:rect l="l" t="t" r="r" b="b"/>
            <a:pathLst>
              <a:path w="205791" h="182926">
                <a:moveTo>
                  <a:pt x="17149" y="69955"/>
                </a:moveTo>
                <a:lnTo>
                  <a:pt x="91892" y="100716"/>
                </a:lnTo>
                <a:cubicBezTo>
                  <a:pt x="95393" y="102145"/>
                  <a:pt x="99109" y="102896"/>
                  <a:pt x="102896" y="102896"/>
                </a:cubicBezTo>
                <a:cubicBezTo>
                  <a:pt x="106683" y="102896"/>
                  <a:pt x="110399" y="102145"/>
                  <a:pt x="113900" y="100716"/>
                </a:cubicBezTo>
                <a:lnTo>
                  <a:pt x="200504" y="65060"/>
                </a:lnTo>
                <a:cubicBezTo>
                  <a:pt x="203719" y="63738"/>
                  <a:pt x="205791" y="60630"/>
                  <a:pt x="205791" y="57164"/>
                </a:cubicBezTo>
                <a:cubicBezTo>
                  <a:pt x="205791" y="53699"/>
                  <a:pt x="203719" y="50590"/>
                  <a:pt x="200504" y="49268"/>
                </a:cubicBezTo>
                <a:lnTo>
                  <a:pt x="113900" y="13612"/>
                </a:lnTo>
                <a:cubicBezTo>
                  <a:pt x="110399" y="12183"/>
                  <a:pt x="106683" y="11433"/>
                  <a:pt x="102896" y="11433"/>
                </a:cubicBezTo>
                <a:cubicBezTo>
                  <a:pt x="99109" y="11433"/>
                  <a:pt x="95393" y="12183"/>
                  <a:pt x="91892" y="13612"/>
                </a:cubicBezTo>
                <a:lnTo>
                  <a:pt x="5288" y="49268"/>
                </a:lnTo>
                <a:cubicBezTo>
                  <a:pt x="2072" y="50590"/>
                  <a:pt x="0" y="53699"/>
                  <a:pt x="0" y="57164"/>
                </a:cubicBezTo>
                <a:lnTo>
                  <a:pt x="0" y="162918"/>
                </a:lnTo>
                <a:cubicBezTo>
                  <a:pt x="0" y="167670"/>
                  <a:pt x="3823" y="171493"/>
                  <a:pt x="8575" y="171493"/>
                </a:cubicBezTo>
                <a:cubicBezTo>
                  <a:pt x="13326" y="171493"/>
                  <a:pt x="17149" y="167670"/>
                  <a:pt x="17149" y="162918"/>
                </a:cubicBezTo>
                <a:lnTo>
                  <a:pt x="17149" y="69955"/>
                </a:lnTo>
                <a:close/>
                <a:moveTo>
                  <a:pt x="34299" y="95572"/>
                </a:moveTo>
                <a:lnTo>
                  <a:pt x="34299" y="137194"/>
                </a:lnTo>
                <a:cubicBezTo>
                  <a:pt x="34299" y="156130"/>
                  <a:pt x="65024" y="171493"/>
                  <a:pt x="102896" y="171493"/>
                </a:cubicBezTo>
                <a:cubicBezTo>
                  <a:pt x="140767" y="171493"/>
                  <a:pt x="171493" y="156130"/>
                  <a:pt x="171493" y="137194"/>
                </a:cubicBezTo>
                <a:lnTo>
                  <a:pt x="171493" y="95536"/>
                </a:lnTo>
                <a:lnTo>
                  <a:pt x="120438" y="116579"/>
                </a:lnTo>
                <a:cubicBezTo>
                  <a:pt x="114864" y="118866"/>
                  <a:pt x="108934" y="120045"/>
                  <a:pt x="102896" y="120045"/>
                </a:cubicBezTo>
                <a:cubicBezTo>
                  <a:pt x="96858" y="120045"/>
                  <a:pt x="90927" y="118866"/>
                  <a:pt x="85353" y="116579"/>
                </a:cubicBezTo>
                <a:lnTo>
                  <a:pt x="34299" y="9553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51214" y="365851"/>
            <a:ext cx="427131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kern="0" spc="50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1214" y="548777"/>
            <a:ext cx="4371925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Conclusions &amp; Key Learnings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9510" y="1137798"/>
            <a:ext cx="6848739" cy="2385352"/>
          </a:xfrm>
          <a:custGeom>
            <a:avLst/>
            <a:gdLst/>
            <a:ahLst/>
            <a:cxnLst/>
            <a:rect l="l" t="t" r="r" b="b"/>
            <a:pathLst>
              <a:path w="6848739" h="2385352">
                <a:moveTo>
                  <a:pt x="146341" y="0"/>
                </a:moveTo>
                <a:lnTo>
                  <a:pt x="6702398" y="0"/>
                </a:lnTo>
                <a:cubicBezTo>
                  <a:pt x="6783220" y="0"/>
                  <a:pt x="6848739" y="65519"/>
                  <a:pt x="6848739" y="146341"/>
                </a:cubicBezTo>
                <a:lnTo>
                  <a:pt x="6848739" y="2239010"/>
                </a:lnTo>
                <a:cubicBezTo>
                  <a:pt x="6848739" y="2319832"/>
                  <a:pt x="6783220" y="2385352"/>
                  <a:pt x="6702398" y="2385352"/>
                </a:cubicBezTo>
                <a:lnTo>
                  <a:pt x="146341" y="2385352"/>
                </a:lnTo>
                <a:cubicBezTo>
                  <a:pt x="65573" y="2385352"/>
                  <a:pt x="0" y="2319778"/>
                  <a:pt x="0" y="2239010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0118" y="1397444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61866" y="0"/>
                </a:moveTo>
                <a:lnTo>
                  <a:pt x="157902" y="0"/>
                </a:lnTo>
                <a:cubicBezTo>
                  <a:pt x="169263" y="0"/>
                  <a:pt x="178524" y="9346"/>
                  <a:pt x="178095" y="20665"/>
                </a:cubicBezTo>
                <a:cubicBezTo>
                  <a:pt x="178010" y="22937"/>
                  <a:pt x="177924" y="25209"/>
                  <a:pt x="177795" y="27439"/>
                </a:cubicBezTo>
                <a:lnTo>
                  <a:pt x="199060" y="27439"/>
                </a:lnTo>
                <a:cubicBezTo>
                  <a:pt x="210250" y="27439"/>
                  <a:pt x="220111" y="36699"/>
                  <a:pt x="219254" y="48790"/>
                </a:cubicBezTo>
                <a:cubicBezTo>
                  <a:pt x="216038" y="93249"/>
                  <a:pt x="193315" y="117687"/>
                  <a:pt x="168663" y="130463"/>
                </a:cubicBezTo>
                <a:cubicBezTo>
                  <a:pt x="161889" y="133979"/>
                  <a:pt x="154987" y="136594"/>
                  <a:pt x="148427" y="138523"/>
                </a:cubicBezTo>
                <a:cubicBezTo>
                  <a:pt x="139767" y="150785"/>
                  <a:pt x="130763" y="157259"/>
                  <a:pt x="123603" y="160732"/>
                </a:cubicBezTo>
                <a:lnTo>
                  <a:pt x="123603" y="192072"/>
                </a:lnTo>
                <a:lnTo>
                  <a:pt x="151042" y="192072"/>
                </a:lnTo>
                <a:cubicBezTo>
                  <a:pt x="158631" y="192072"/>
                  <a:pt x="164762" y="198203"/>
                  <a:pt x="164762" y="205791"/>
                </a:cubicBezTo>
                <a:cubicBezTo>
                  <a:pt x="164762" y="213380"/>
                  <a:pt x="158631" y="219511"/>
                  <a:pt x="151042" y="219511"/>
                </a:cubicBezTo>
                <a:lnTo>
                  <a:pt x="68726" y="219511"/>
                </a:lnTo>
                <a:cubicBezTo>
                  <a:pt x="61137" y="219511"/>
                  <a:pt x="55006" y="213380"/>
                  <a:pt x="55006" y="205791"/>
                </a:cubicBezTo>
                <a:cubicBezTo>
                  <a:pt x="55006" y="198203"/>
                  <a:pt x="61137" y="192072"/>
                  <a:pt x="68726" y="192072"/>
                </a:cubicBezTo>
                <a:lnTo>
                  <a:pt x="96165" y="192072"/>
                </a:lnTo>
                <a:lnTo>
                  <a:pt x="96165" y="160732"/>
                </a:lnTo>
                <a:cubicBezTo>
                  <a:pt x="89305" y="157430"/>
                  <a:pt x="80773" y="151300"/>
                  <a:pt x="72456" y="140024"/>
                </a:cubicBezTo>
                <a:cubicBezTo>
                  <a:pt x="64567" y="137966"/>
                  <a:pt x="55992" y="134836"/>
                  <a:pt x="47632" y="130120"/>
                </a:cubicBezTo>
                <a:cubicBezTo>
                  <a:pt x="24438" y="117130"/>
                  <a:pt x="3516" y="92649"/>
                  <a:pt x="514" y="48704"/>
                </a:cubicBezTo>
                <a:cubicBezTo>
                  <a:pt x="-300" y="36657"/>
                  <a:pt x="9518" y="27396"/>
                  <a:pt x="20708" y="27396"/>
                </a:cubicBezTo>
                <a:lnTo>
                  <a:pt x="41973" y="27396"/>
                </a:lnTo>
                <a:cubicBezTo>
                  <a:pt x="41844" y="25167"/>
                  <a:pt x="41759" y="22937"/>
                  <a:pt x="41673" y="20622"/>
                </a:cubicBezTo>
                <a:cubicBezTo>
                  <a:pt x="41244" y="9261"/>
                  <a:pt x="50505" y="-43"/>
                  <a:pt x="61866" y="-43"/>
                </a:cubicBezTo>
                <a:close/>
                <a:moveTo>
                  <a:pt x="43516" y="48018"/>
                </a:moveTo>
                <a:lnTo>
                  <a:pt x="21051" y="48018"/>
                </a:lnTo>
                <a:cubicBezTo>
                  <a:pt x="23709" y="84332"/>
                  <a:pt x="40387" y="102510"/>
                  <a:pt x="57579" y="112156"/>
                </a:cubicBezTo>
                <a:cubicBezTo>
                  <a:pt x="51405" y="96165"/>
                  <a:pt x="46303" y="75285"/>
                  <a:pt x="43516" y="48018"/>
                </a:cubicBezTo>
                <a:close/>
                <a:moveTo>
                  <a:pt x="162918" y="110098"/>
                </a:moveTo>
                <a:cubicBezTo>
                  <a:pt x="180282" y="99895"/>
                  <a:pt x="195973" y="81759"/>
                  <a:pt x="198632" y="48018"/>
                </a:cubicBezTo>
                <a:lnTo>
                  <a:pt x="176209" y="48018"/>
                </a:lnTo>
                <a:cubicBezTo>
                  <a:pt x="173551" y="74128"/>
                  <a:pt x="168749" y="94407"/>
                  <a:pt x="162918" y="110098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76823" y="1360966"/>
            <a:ext cx="1902428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92679" y="1799880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286" y="1882197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108741" y="17532"/>
                </a:moveTo>
                <a:cubicBezTo>
                  <a:pt x="112317" y="20133"/>
                  <a:pt x="113117" y="25134"/>
                  <a:pt x="110516" y="28711"/>
                </a:cubicBezTo>
                <a:lnTo>
                  <a:pt x="46492" y="116744"/>
                </a:lnTo>
                <a:cubicBezTo>
                  <a:pt x="45117" y="118644"/>
                  <a:pt x="42991" y="119820"/>
                  <a:pt x="40640" y="120020"/>
                </a:cubicBezTo>
                <a:cubicBezTo>
                  <a:pt x="38289" y="120220"/>
                  <a:pt x="36014" y="119345"/>
                  <a:pt x="34363" y="117694"/>
                </a:cubicBezTo>
                <a:lnTo>
                  <a:pt x="2351" y="85682"/>
                </a:lnTo>
                <a:cubicBezTo>
                  <a:pt x="-775" y="82556"/>
                  <a:pt x="-775" y="77479"/>
                  <a:pt x="2351" y="74353"/>
                </a:cubicBezTo>
                <a:cubicBezTo>
                  <a:pt x="5477" y="71227"/>
                  <a:pt x="10554" y="71227"/>
                  <a:pt x="13680" y="74353"/>
                </a:cubicBezTo>
                <a:lnTo>
                  <a:pt x="39065" y="99737"/>
                </a:lnTo>
                <a:lnTo>
                  <a:pt x="97587" y="19282"/>
                </a:lnTo>
                <a:cubicBezTo>
                  <a:pt x="100188" y="15706"/>
                  <a:pt x="105189" y="14906"/>
                  <a:pt x="108766" y="175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95116" y="1799880"/>
            <a:ext cx="311888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62.74%</a:t>
            </a: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accuracy on CIFAR-10 using classical ML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92679" y="2202317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286" y="2284633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108741" y="17532"/>
                </a:moveTo>
                <a:cubicBezTo>
                  <a:pt x="112317" y="20133"/>
                  <a:pt x="113117" y="25134"/>
                  <a:pt x="110516" y="28711"/>
                </a:cubicBezTo>
                <a:lnTo>
                  <a:pt x="46492" y="116744"/>
                </a:lnTo>
                <a:cubicBezTo>
                  <a:pt x="45117" y="118644"/>
                  <a:pt x="42991" y="119820"/>
                  <a:pt x="40640" y="120020"/>
                </a:cubicBezTo>
                <a:cubicBezTo>
                  <a:pt x="38289" y="120220"/>
                  <a:pt x="36014" y="119345"/>
                  <a:pt x="34363" y="117694"/>
                </a:cubicBezTo>
                <a:lnTo>
                  <a:pt x="2351" y="85682"/>
                </a:lnTo>
                <a:cubicBezTo>
                  <a:pt x="-775" y="82556"/>
                  <a:pt x="-775" y="77479"/>
                  <a:pt x="2351" y="74353"/>
                </a:cubicBezTo>
                <a:cubicBezTo>
                  <a:pt x="5477" y="71227"/>
                  <a:pt x="10554" y="71227"/>
                  <a:pt x="13680" y="74353"/>
                </a:cubicBezTo>
                <a:lnTo>
                  <a:pt x="39065" y="99737"/>
                </a:lnTo>
                <a:lnTo>
                  <a:pt x="97587" y="19282"/>
                </a:lnTo>
                <a:cubicBezTo>
                  <a:pt x="100188" y="15706"/>
                  <a:pt x="105189" y="14906"/>
                  <a:pt x="108766" y="175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95116" y="2202317"/>
            <a:ext cx="289937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Robust validation strategy with </a:t>
            </a:r>
            <a:r>
              <a:rPr lang="en-US" sz="1152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overfitting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92679" y="2604753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5286" y="2687070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108741" y="17532"/>
                </a:moveTo>
                <a:cubicBezTo>
                  <a:pt x="112317" y="20133"/>
                  <a:pt x="113117" y="25134"/>
                  <a:pt x="110516" y="28711"/>
                </a:cubicBezTo>
                <a:lnTo>
                  <a:pt x="46492" y="116744"/>
                </a:lnTo>
                <a:cubicBezTo>
                  <a:pt x="45117" y="118644"/>
                  <a:pt x="42991" y="119820"/>
                  <a:pt x="40640" y="120020"/>
                </a:cubicBezTo>
                <a:cubicBezTo>
                  <a:pt x="38289" y="120220"/>
                  <a:pt x="36014" y="119345"/>
                  <a:pt x="34363" y="117694"/>
                </a:cubicBezTo>
                <a:lnTo>
                  <a:pt x="2351" y="85682"/>
                </a:lnTo>
                <a:cubicBezTo>
                  <a:pt x="-775" y="82556"/>
                  <a:pt x="-775" y="77479"/>
                  <a:pt x="2351" y="74353"/>
                </a:cubicBezTo>
                <a:cubicBezTo>
                  <a:pt x="5477" y="71227"/>
                  <a:pt x="10554" y="71227"/>
                  <a:pt x="13680" y="74353"/>
                </a:cubicBezTo>
                <a:lnTo>
                  <a:pt x="39065" y="99737"/>
                </a:lnTo>
                <a:lnTo>
                  <a:pt x="97587" y="19282"/>
                </a:lnTo>
                <a:cubicBezTo>
                  <a:pt x="100188" y="15706"/>
                  <a:pt x="105189" y="14906"/>
                  <a:pt x="108766" y="175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95116" y="2604753"/>
            <a:ext cx="261583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 </a:t>
            </a:r>
            <a:r>
              <a:rPr lang="en-US" sz="1152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hyperparameter optimization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2679" y="3007190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73170" y="0"/>
                </a:moveTo>
                <a:lnTo>
                  <a:pt x="219511" y="0"/>
                </a:lnTo>
                <a:cubicBezTo>
                  <a:pt x="259895" y="0"/>
                  <a:pt x="292681" y="32787"/>
                  <a:pt x="292681" y="73170"/>
                </a:cubicBezTo>
                <a:lnTo>
                  <a:pt x="292681" y="219511"/>
                </a:lnTo>
                <a:cubicBezTo>
                  <a:pt x="292681" y="259922"/>
                  <a:pt x="259922" y="292681"/>
                  <a:pt x="219511" y="292681"/>
                </a:cubicBezTo>
                <a:lnTo>
                  <a:pt x="73170" y="292681"/>
                </a:lnTo>
                <a:cubicBezTo>
                  <a:pt x="32787" y="292681"/>
                  <a:pt x="0" y="259895"/>
                  <a:pt x="0" y="219511"/>
                </a:cubicBezTo>
                <a:lnTo>
                  <a:pt x="0" y="73170"/>
                </a:lnTo>
                <a:cubicBezTo>
                  <a:pt x="0" y="32787"/>
                  <a:pt x="32787" y="0"/>
                  <a:pt x="73170" y="0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286" y="3089507"/>
            <a:ext cx="112042" cy="128048"/>
          </a:xfrm>
          <a:custGeom>
            <a:avLst/>
            <a:gdLst/>
            <a:ahLst/>
            <a:cxnLst/>
            <a:rect l="l" t="t" r="r" b="b"/>
            <a:pathLst>
              <a:path w="112042" h="128048">
                <a:moveTo>
                  <a:pt x="108741" y="17532"/>
                </a:moveTo>
                <a:cubicBezTo>
                  <a:pt x="112317" y="20133"/>
                  <a:pt x="113117" y="25134"/>
                  <a:pt x="110516" y="28711"/>
                </a:cubicBezTo>
                <a:lnTo>
                  <a:pt x="46492" y="116744"/>
                </a:lnTo>
                <a:cubicBezTo>
                  <a:pt x="45117" y="118644"/>
                  <a:pt x="42991" y="119820"/>
                  <a:pt x="40640" y="120020"/>
                </a:cubicBezTo>
                <a:cubicBezTo>
                  <a:pt x="38289" y="120220"/>
                  <a:pt x="36014" y="119345"/>
                  <a:pt x="34363" y="117694"/>
                </a:cubicBezTo>
                <a:lnTo>
                  <a:pt x="2351" y="85682"/>
                </a:lnTo>
                <a:cubicBezTo>
                  <a:pt x="-775" y="82556"/>
                  <a:pt x="-775" y="77479"/>
                  <a:pt x="2351" y="74353"/>
                </a:cubicBezTo>
                <a:cubicBezTo>
                  <a:pt x="5477" y="71227"/>
                  <a:pt x="10554" y="71227"/>
                  <a:pt x="13680" y="74353"/>
                </a:cubicBezTo>
                <a:lnTo>
                  <a:pt x="39065" y="99737"/>
                </a:lnTo>
                <a:lnTo>
                  <a:pt x="97587" y="19282"/>
                </a:lnTo>
                <a:cubicBezTo>
                  <a:pt x="100188" y="15706"/>
                  <a:pt x="105189" y="14906"/>
                  <a:pt x="108766" y="1750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95116" y="3007190"/>
            <a:ext cx="243291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</a:t>
            </a:r>
            <a:r>
              <a:rPr lang="en-US" sz="1152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analysis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9510" y="3713282"/>
            <a:ext cx="6848739" cy="3135347"/>
          </a:xfrm>
          <a:custGeom>
            <a:avLst/>
            <a:gdLst/>
            <a:ahLst/>
            <a:cxnLst/>
            <a:rect l="l" t="t" r="r" b="b"/>
            <a:pathLst>
              <a:path w="6848739" h="3135347">
                <a:moveTo>
                  <a:pt x="146327" y="0"/>
                </a:moveTo>
                <a:lnTo>
                  <a:pt x="6702413" y="0"/>
                </a:lnTo>
                <a:cubicBezTo>
                  <a:pt x="6783227" y="0"/>
                  <a:pt x="6848739" y="65513"/>
                  <a:pt x="6848739" y="146327"/>
                </a:cubicBezTo>
                <a:lnTo>
                  <a:pt x="6848739" y="2989020"/>
                </a:lnTo>
                <a:cubicBezTo>
                  <a:pt x="6848739" y="3069834"/>
                  <a:pt x="6783227" y="3135347"/>
                  <a:pt x="6702413" y="3135347"/>
                </a:cubicBezTo>
                <a:lnTo>
                  <a:pt x="146327" y="3135347"/>
                </a:lnTo>
                <a:cubicBezTo>
                  <a:pt x="65567" y="3135347"/>
                  <a:pt x="0" y="3069780"/>
                  <a:pt x="0" y="2989020"/>
                </a:cubicBezTo>
                <a:lnTo>
                  <a:pt x="0" y="146327"/>
                </a:lnTo>
                <a:cubicBezTo>
                  <a:pt x="0" y="65567"/>
                  <a:pt x="65567" y="0"/>
                  <a:pt x="14632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47557" y="3972918"/>
            <a:ext cx="164633" cy="219511"/>
          </a:xfrm>
          <a:custGeom>
            <a:avLst/>
            <a:gdLst/>
            <a:ahLst/>
            <a:cxnLst/>
            <a:rect l="l" t="t" r="r" b="b"/>
            <a:pathLst>
              <a:path w="164633" h="219511">
                <a:moveTo>
                  <a:pt x="125576" y="164633"/>
                </a:moveTo>
                <a:cubicBezTo>
                  <a:pt x="128705" y="155072"/>
                  <a:pt x="134965" y="146412"/>
                  <a:pt x="142039" y="138952"/>
                </a:cubicBezTo>
                <a:cubicBezTo>
                  <a:pt x="156059" y="124204"/>
                  <a:pt x="164633" y="104268"/>
                  <a:pt x="164633" y="82317"/>
                </a:cubicBezTo>
                <a:cubicBezTo>
                  <a:pt x="164633" y="36871"/>
                  <a:pt x="127762" y="0"/>
                  <a:pt x="82317" y="0"/>
                </a:cubicBezTo>
                <a:cubicBezTo>
                  <a:pt x="36871" y="0"/>
                  <a:pt x="0" y="36871"/>
                  <a:pt x="0" y="82317"/>
                </a:cubicBezTo>
                <a:cubicBezTo>
                  <a:pt x="0" y="104268"/>
                  <a:pt x="8575" y="124204"/>
                  <a:pt x="22594" y="138952"/>
                </a:cubicBezTo>
                <a:cubicBezTo>
                  <a:pt x="29668" y="146412"/>
                  <a:pt x="35971" y="155072"/>
                  <a:pt x="39058" y="164633"/>
                </a:cubicBezTo>
                <a:lnTo>
                  <a:pt x="125533" y="164633"/>
                </a:lnTo>
                <a:close/>
                <a:moveTo>
                  <a:pt x="123475" y="185212"/>
                </a:moveTo>
                <a:lnTo>
                  <a:pt x="41158" y="185212"/>
                </a:lnTo>
                <a:lnTo>
                  <a:pt x="41158" y="192072"/>
                </a:lnTo>
                <a:cubicBezTo>
                  <a:pt x="41158" y="211022"/>
                  <a:pt x="56507" y="226371"/>
                  <a:pt x="75457" y="226371"/>
                </a:cubicBezTo>
                <a:lnTo>
                  <a:pt x="89176" y="226371"/>
                </a:lnTo>
                <a:cubicBezTo>
                  <a:pt x="108126" y="226371"/>
                  <a:pt x="123475" y="211022"/>
                  <a:pt x="123475" y="192072"/>
                </a:cubicBezTo>
                <a:lnTo>
                  <a:pt x="123475" y="185212"/>
                </a:lnTo>
                <a:close/>
                <a:moveTo>
                  <a:pt x="78887" y="48018"/>
                </a:moveTo>
                <a:cubicBezTo>
                  <a:pt x="61823" y="48018"/>
                  <a:pt x="48018" y="61823"/>
                  <a:pt x="48018" y="78887"/>
                </a:cubicBezTo>
                <a:cubicBezTo>
                  <a:pt x="48018" y="84589"/>
                  <a:pt x="43431" y="89176"/>
                  <a:pt x="37728" y="89176"/>
                </a:cubicBezTo>
                <a:cubicBezTo>
                  <a:pt x="32026" y="89176"/>
                  <a:pt x="27439" y="84589"/>
                  <a:pt x="27439" y="78887"/>
                </a:cubicBezTo>
                <a:cubicBezTo>
                  <a:pt x="27439" y="50462"/>
                  <a:pt x="50462" y="27439"/>
                  <a:pt x="78887" y="27439"/>
                </a:cubicBezTo>
                <a:cubicBezTo>
                  <a:pt x="84589" y="27439"/>
                  <a:pt x="89176" y="32026"/>
                  <a:pt x="89176" y="37728"/>
                </a:cubicBezTo>
                <a:cubicBezTo>
                  <a:pt x="89176" y="43431"/>
                  <a:pt x="84589" y="48018"/>
                  <a:pt x="78887" y="48018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976823" y="3936449"/>
            <a:ext cx="1472552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Learnings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2679" y="4375355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38A169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18670" y="4430233"/>
            <a:ext cx="10060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95116" y="4375355"/>
            <a:ext cx="378656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compensates for algorithmic simplicity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92679" y="4777791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38A169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06322" y="4832669"/>
            <a:ext cx="128048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995116" y="4777791"/>
            <a:ext cx="334754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strategy is crucial for unbiased evaluation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592679" y="5180228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38A169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704721" y="5235106"/>
            <a:ext cx="13719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95116" y="5180228"/>
            <a:ext cx="2405473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ML approaches involve trade-offs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92679" y="5582665"/>
            <a:ext cx="292681" cy="292681"/>
          </a:xfrm>
          <a:custGeom>
            <a:avLst/>
            <a:gdLst/>
            <a:ahLst/>
            <a:cxnLst/>
            <a:rect l="l" t="t" r="r" b="b"/>
            <a:pathLst>
              <a:path w="292681" h="292681">
                <a:moveTo>
                  <a:pt x="146341" y="0"/>
                </a:moveTo>
                <a:lnTo>
                  <a:pt x="146341" y="0"/>
                </a:lnTo>
                <a:cubicBezTo>
                  <a:pt x="227108" y="0"/>
                  <a:pt x="292681" y="65573"/>
                  <a:pt x="292681" y="146341"/>
                </a:cubicBezTo>
                <a:lnTo>
                  <a:pt x="292681" y="146341"/>
                </a:lnTo>
                <a:cubicBezTo>
                  <a:pt x="292681" y="227108"/>
                  <a:pt x="227108" y="292681"/>
                  <a:pt x="146341" y="292681"/>
                </a:cubicBezTo>
                <a:lnTo>
                  <a:pt x="146341" y="292681"/>
                </a:lnTo>
                <a:cubicBezTo>
                  <a:pt x="65573" y="292681"/>
                  <a:pt x="0" y="227108"/>
                  <a:pt x="0" y="146341"/>
                </a:cubicBezTo>
                <a:lnTo>
                  <a:pt x="0" y="146341"/>
                </a:lnTo>
                <a:cubicBezTo>
                  <a:pt x="0" y="65573"/>
                  <a:pt x="65573" y="0"/>
                  <a:pt x="146341" y="0"/>
                </a:cubicBezTo>
                <a:close/>
              </a:path>
            </a:pathLst>
          </a:custGeom>
          <a:solidFill>
            <a:srgbClr val="38A169">
              <a:alpha val="3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06436" y="5637542"/>
            <a:ext cx="128048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995116" y="5582665"/>
            <a:ext cx="4051805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F7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Classical ML remains viable for resource-constrained scenarios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442562" y="1137798"/>
            <a:ext cx="4379242" cy="3299980"/>
          </a:xfrm>
          <a:custGeom>
            <a:avLst/>
            <a:gdLst/>
            <a:ahLst/>
            <a:cxnLst/>
            <a:rect l="l" t="t" r="r" b="b"/>
            <a:pathLst>
              <a:path w="4379242" h="3299980">
                <a:moveTo>
                  <a:pt x="146354" y="0"/>
                </a:moveTo>
                <a:lnTo>
                  <a:pt x="4232888" y="0"/>
                </a:lnTo>
                <a:cubicBezTo>
                  <a:pt x="4313717" y="0"/>
                  <a:pt x="4379242" y="65525"/>
                  <a:pt x="4379242" y="146354"/>
                </a:cubicBezTo>
                <a:lnTo>
                  <a:pt x="4379242" y="3153626"/>
                </a:lnTo>
                <a:cubicBezTo>
                  <a:pt x="4379242" y="3234455"/>
                  <a:pt x="4313717" y="3299980"/>
                  <a:pt x="4232888" y="3299980"/>
                </a:cubicBezTo>
                <a:lnTo>
                  <a:pt x="146354" y="3299980"/>
                </a:lnTo>
                <a:cubicBezTo>
                  <a:pt x="65525" y="3299980"/>
                  <a:pt x="0" y="3234455"/>
                  <a:pt x="0" y="3153626"/>
                </a:cubicBezTo>
                <a:lnTo>
                  <a:pt x="0" y="146354"/>
                </a:lnTo>
                <a:cubicBezTo>
                  <a:pt x="0" y="65579"/>
                  <a:pt x="65579" y="0"/>
                  <a:pt x="146354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016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7693170" y="1397444"/>
            <a:ext cx="219511" cy="219511"/>
          </a:xfrm>
          <a:custGeom>
            <a:avLst/>
            <a:gdLst/>
            <a:ahLst/>
            <a:cxnLst/>
            <a:rect l="l" t="t" r="r" b="b"/>
            <a:pathLst>
              <a:path w="219511" h="219511">
                <a:moveTo>
                  <a:pt x="54878" y="137194"/>
                </a:moveTo>
                <a:lnTo>
                  <a:pt x="10504" y="137194"/>
                </a:lnTo>
                <a:cubicBezTo>
                  <a:pt x="-171" y="137194"/>
                  <a:pt x="-6731" y="125576"/>
                  <a:pt x="-1243" y="116401"/>
                </a:cubicBezTo>
                <a:lnTo>
                  <a:pt x="21437" y="78587"/>
                </a:lnTo>
                <a:cubicBezTo>
                  <a:pt x="25167" y="72370"/>
                  <a:pt x="31855" y="68597"/>
                  <a:pt x="39100" y="68597"/>
                </a:cubicBezTo>
                <a:lnTo>
                  <a:pt x="79830" y="68597"/>
                </a:lnTo>
                <a:cubicBezTo>
                  <a:pt x="112456" y="13334"/>
                  <a:pt x="161118" y="10547"/>
                  <a:pt x="193658" y="15306"/>
                </a:cubicBezTo>
                <a:cubicBezTo>
                  <a:pt x="199146" y="16120"/>
                  <a:pt x="203433" y="20408"/>
                  <a:pt x="204205" y="25853"/>
                </a:cubicBezTo>
                <a:cubicBezTo>
                  <a:pt x="208964" y="58393"/>
                  <a:pt x="206177" y="107054"/>
                  <a:pt x="150914" y="139681"/>
                </a:cubicBezTo>
                <a:lnTo>
                  <a:pt x="150914" y="180411"/>
                </a:lnTo>
                <a:cubicBezTo>
                  <a:pt x="150914" y="187656"/>
                  <a:pt x="147141" y="194344"/>
                  <a:pt x="140924" y="198074"/>
                </a:cubicBezTo>
                <a:lnTo>
                  <a:pt x="103110" y="220754"/>
                </a:lnTo>
                <a:cubicBezTo>
                  <a:pt x="93978" y="226242"/>
                  <a:pt x="82317" y="219639"/>
                  <a:pt x="82317" y="209007"/>
                </a:cubicBezTo>
                <a:lnTo>
                  <a:pt x="82317" y="164633"/>
                </a:lnTo>
                <a:cubicBezTo>
                  <a:pt x="82317" y="149499"/>
                  <a:pt x="70012" y="137194"/>
                  <a:pt x="54878" y="137194"/>
                </a:cubicBezTo>
                <a:lnTo>
                  <a:pt x="54835" y="137194"/>
                </a:lnTo>
                <a:close/>
                <a:moveTo>
                  <a:pt x="171493" y="68597"/>
                </a:moveTo>
                <a:cubicBezTo>
                  <a:pt x="171493" y="57239"/>
                  <a:pt x="162272" y="48018"/>
                  <a:pt x="150914" y="48018"/>
                </a:cubicBezTo>
                <a:cubicBezTo>
                  <a:pt x="139556" y="48018"/>
                  <a:pt x="130335" y="57239"/>
                  <a:pt x="130335" y="68597"/>
                </a:cubicBezTo>
                <a:cubicBezTo>
                  <a:pt x="130335" y="79955"/>
                  <a:pt x="139556" y="89176"/>
                  <a:pt x="150914" y="89176"/>
                </a:cubicBezTo>
                <a:cubicBezTo>
                  <a:pt x="162272" y="89176"/>
                  <a:pt x="171493" y="79955"/>
                  <a:pt x="171493" y="68597"/>
                </a:cubicBezTo>
                <a:close/>
              </a:path>
            </a:pathLst>
          </a:custGeom>
          <a:solidFill>
            <a:srgbClr val="38A1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8049875" y="1360966"/>
            <a:ext cx="2185962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665731" y="1799880"/>
            <a:ext cx="3932903" cy="731703"/>
          </a:xfrm>
          <a:custGeom>
            <a:avLst/>
            <a:gdLst/>
            <a:ahLst/>
            <a:cxnLst/>
            <a:rect l="l" t="t" r="r" b="b"/>
            <a:pathLst>
              <a:path w="3932903" h="731703">
                <a:moveTo>
                  <a:pt x="109755" y="0"/>
                </a:moveTo>
                <a:lnTo>
                  <a:pt x="3823148" y="0"/>
                </a:lnTo>
                <a:cubicBezTo>
                  <a:pt x="3883764" y="0"/>
                  <a:pt x="3932903" y="49139"/>
                  <a:pt x="3932903" y="109755"/>
                </a:cubicBezTo>
                <a:lnTo>
                  <a:pt x="3932903" y="621947"/>
                </a:lnTo>
                <a:cubicBezTo>
                  <a:pt x="3932903" y="682564"/>
                  <a:pt x="3883764" y="731703"/>
                  <a:pt x="3823148" y="731703"/>
                </a:cubicBezTo>
                <a:lnTo>
                  <a:pt x="109755" y="731703"/>
                </a:lnTo>
                <a:cubicBezTo>
                  <a:pt x="49139" y="731703"/>
                  <a:pt x="0" y="682564"/>
                  <a:pt x="0" y="621947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812072" y="1946221"/>
            <a:ext cx="37133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Combination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812072" y="2202317"/>
            <a:ext cx="370424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HOG + color histograms + LBP features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665731" y="2641339"/>
            <a:ext cx="3932903" cy="731703"/>
          </a:xfrm>
          <a:custGeom>
            <a:avLst/>
            <a:gdLst/>
            <a:ahLst/>
            <a:cxnLst/>
            <a:rect l="l" t="t" r="r" b="b"/>
            <a:pathLst>
              <a:path w="3932903" h="731703">
                <a:moveTo>
                  <a:pt x="109755" y="0"/>
                </a:moveTo>
                <a:lnTo>
                  <a:pt x="3823148" y="0"/>
                </a:lnTo>
                <a:cubicBezTo>
                  <a:pt x="3883764" y="0"/>
                  <a:pt x="3932903" y="49139"/>
                  <a:pt x="3932903" y="109755"/>
                </a:cubicBezTo>
                <a:lnTo>
                  <a:pt x="3932903" y="621947"/>
                </a:lnTo>
                <a:cubicBezTo>
                  <a:pt x="3932903" y="682564"/>
                  <a:pt x="3883764" y="731703"/>
                  <a:pt x="3823148" y="731703"/>
                </a:cubicBezTo>
                <a:lnTo>
                  <a:pt x="109755" y="731703"/>
                </a:lnTo>
                <a:cubicBezTo>
                  <a:pt x="49139" y="731703"/>
                  <a:pt x="0" y="682564"/>
                  <a:pt x="0" y="621947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7812072" y="2787679"/>
            <a:ext cx="37133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812072" y="3043775"/>
            <a:ext cx="370424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SVM + Random Forest combination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665731" y="3482797"/>
            <a:ext cx="3932903" cy="731703"/>
          </a:xfrm>
          <a:custGeom>
            <a:avLst/>
            <a:gdLst/>
            <a:ahLst/>
            <a:cxnLst/>
            <a:rect l="l" t="t" r="r" b="b"/>
            <a:pathLst>
              <a:path w="3932903" h="731703">
                <a:moveTo>
                  <a:pt x="109755" y="0"/>
                </a:moveTo>
                <a:lnTo>
                  <a:pt x="3823148" y="0"/>
                </a:lnTo>
                <a:cubicBezTo>
                  <a:pt x="3883764" y="0"/>
                  <a:pt x="3932903" y="49139"/>
                  <a:pt x="3932903" y="109755"/>
                </a:cubicBezTo>
                <a:lnTo>
                  <a:pt x="3932903" y="621947"/>
                </a:lnTo>
                <a:cubicBezTo>
                  <a:pt x="3932903" y="682564"/>
                  <a:pt x="3883764" y="731703"/>
                  <a:pt x="3823148" y="731703"/>
                </a:cubicBezTo>
                <a:lnTo>
                  <a:pt x="109755" y="731703"/>
                </a:lnTo>
                <a:cubicBezTo>
                  <a:pt x="49139" y="731703"/>
                  <a:pt x="0" y="682564"/>
                  <a:pt x="0" y="621947"/>
                </a:cubicBezTo>
                <a:lnTo>
                  <a:pt x="0" y="109755"/>
                </a:lnTo>
                <a:cubicBezTo>
                  <a:pt x="0" y="49180"/>
                  <a:pt x="49180" y="0"/>
                  <a:pt x="10975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7812072" y="3629138"/>
            <a:ext cx="371339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Production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812072" y="3885234"/>
            <a:ext cx="370424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8A16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2 (CNN)</a:t>
            </a:r>
            <a:r>
              <a:rPr lang="en-US" sz="1008" dirty="0">
                <a:solidFill>
                  <a:srgbClr val="F7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recommended for higher accuracy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438904" y="4624252"/>
            <a:ext cx="4390218" cy="2231694"/>
          </a:xfrm>
          <a:custGeom>
            <a:avLst/>
            <a:gdLst/>
            <a:ahLst/>
            <a:cxnLst/>
            <a:rect l="l" t="t" r="r" b="b"/>
            <a:pathLst>
              <a:path w="4390218" h="2231694">
                <a:moveTo>
                  <a:pt x="146332" y="0"/>
                </a:moveTo>
                <a:lnTo>
                  <a:pt x="4243885" y="0"/>
                </a:lnTo>
                <a:cubicBezTo>
                  <a:pt x="4324702" y="0"/>
                  <a:pt x="4390218" y="65515"/>
                  <a:pt x="4390218" y="146332"/>
                </a:cubicBezTo>
                <a:lnTo>
                  <a:pt x="4390218" y="2085362"/>
                </a:lnTo>
                <a:cubicBezTo>
                  <a:pt x="4390218" y="2166179"/>
                  <a:pt x="4324702" y="2231694"/>
                  <a:pt x="4243885" y="2231694"/>
                </a:cubicBezTo>
                <a:lnTo>
                  <a:pt x="146332" y="2231694"/>
                </a:lnTo>
                <a:cubicBezTo>
                  <a:pt x="65515" y="2231694"/>
                  <a:pt x="0" y="2166179"/>
                  <a:pt x="0" y="2085362"/>
                </a:cubicBezTo>
                <a:lnTo>
                  <a:pt x="0" y="146332"/>
                </a:lnTo>
                <a:cubicBezTo>
                  <a:pt x="0" y="65569"/>
                  <a:pt x="65569" y="0"/>
                  <a:pt x="146332" y="0"/>
                </a:cubicBezTo>
                <a:close/>
              </a:path>
            </a:pathLst>
          </a:custGeom>
          <a:gradFill flip="none" rotWithShape="1">
            <a:gsLst>
              <a:gs pos="0">
                <a:srgbClr val="38A169"/>
              </a:gs>
              <a:gs pos="100000">
                <a:srgbClr val="2F855A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8"/>
          <p:cNvSpPr/>
          <p:nvPr/>
        </p:nvSpPr>
        <p:spPr>
          <a:xfrm>
            <a:off x="9448801" y="4843763"/>
            <a:ext cx="370425" cy="329266"/>
          </a:xfrm>
          <a:custGeom>
            <a:avLst/>
            <a:gdLst/>
            <a:ahLst/>
            <a:cxnLst/>
            <a:rect l="l" t="t" r="r" b="b"/>
            <a:pathLst>
              <a:path w="370425" h="329266">
                <a:moveTo>
                  <a:pt x="246950" y="92606"/>
                </a:moveTo>
                <a:cubicBezTo>
                  <a:pt x="246950" y="155115"/>
                  <a:pt x="191643" y="205791"/>
                  <a:pt x="123475" y="205791"/>
                </a:cubicBezTo>
                <a:cubicBezTo>
                  <a:pt x="106304" y="205791"/>
                  <a:pt x="89969" y="202576"/>
                  <a:pt x="75114" y="196788"/>
                </a:cubicBezTo>
                <a:lnTo>
                  <a:pt x="22637" y="224570"/>
                </a:lnTo>
                <a:cubicBezTo>
                  <a:pt x="16656" y="227721"/>
                  <a:pt x="9325" y="226628"/>
                  <a:pt x="4502" y="221869"/>
                </a:cubicBezTo>
                <a:cubicBezTo>
                  <a:pt x="-322" y="217110"/>
                  <a:pt x="-1415" y="209714"/>
                  <a:pt x="1801" y="203734"/>
                </a:cubicBezTo>
                <a:lnTo>
                  <a:pt x="24695" y="160517"/>
                </a:lnTo>
                <a:cubicBezTo>
                  <a:pt x="9196" y="141610"/>
                  <a:pt x="0" y="118073"/>
                  <a:pt x="0" y="92606"/>
                </a:cubicBezTo>
                <a:cubicBezTo>
                  <a:pt x="0" y="30097"/>
                  <a:pt x="55306" y="-20579"/>
                  <a:pt x="123475" y="-20579"/>
                </a:cubicBezTo>
                <a:cubicBezTo>
                  <a:pt x="191643" y="-20579"/>
                  <a:pt x="246950" y="30097"/>
                  <a:pt x="246950" y="92606"/>
                </a:cubicBezTo>
                <a:close/>
                <a:moveTo>
                  <a:pt x="246950" y="329266"/>
                </a:moveTo>
                <a:cubicBezTo>
                  <a:pt x="186434" y="329266"/>
                  <a:pt x="136080" y="289330"/>
                  <a:pt x="125533" y="236660"/>
                </a:cubicBezTo>
                <a:cubicBezTo>
                  <a:pt x="202705" y="235696"/>
                  <a:pt x="269780" y="180775"/>
                  <a:pt x="277175" y="106304"/>
                </a:cubicBezTo>
                <a:cubicBezTo>
                  <a:pt x="330745" y="118652"/>
                  <a:pt x="370425" y="163090"/>
                  <a:pt x="370425" y="216081"/>
                </a:cubicBezTo>
                <a:cubicBezTo>
                  <a:pt x="370425" y="241548"/>
                  <a:pt x="361228" y="265085"/>
                  <a:pt x="345730" y="283992"/>
                </a:cubicBezTo>
                <a:lnTo>
                  <a:pt x="368624" y="327208"/>
                </a:lnTo>
                <a:cubicBezTo>
                  <a:pt x="371775" y="333189"/>
                  <a:pt x="370682" y="340521"/>
                  <a:pt x="365923" y="345344"/>
                </a:cubicBezTo>
                <a:cubicBezTo>
                  <a:pt x="361164" y="350167"/>
                  <a:pt x="353768" y="351260"/>
                  <a:pt x="347788" y="348045"/>
                </a:cubicBezTo>
                <a:lnTo>
                  <a:pt x="295311" y="320263"/>
                </a:lnTo>
                <a:cubicBezTo>
                  <a:pt x="280455" y="326051"/>
                  <a:pt x="264120" y="329266"/>
                  <a:pt x="246950" y="32926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7589817" y="5282784"/>
            <a:ext cx="4088390" cy="3292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7617256" y="5685221"/>
            <a:ext cx="40335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1043</Words>
  <Application>Microsoft Office PowerPoint</Application>
  <PresentationFormat>Widescreen</PresentationFormat>
  <Paragraphs>362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Liter</vt:lpstr>
      <vt:lpstr>Quattrocento Sans</vt:lpstr>
      <vt:lpstr>Arial</vt:lpstr>
      <vt:lpstr>Hedvig Letters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 Models for Object Recognition: Classical ML Approaches for CIFAR-10</dc:title>
  <dc:subject>Neural Network Models for Object Recognition: Classical ML Approaches for CIFAR-10</dc:subject>
  <dc:creator>Kimi</dc:creator>
  <cp:lastModifiedBy>CIIT/FA23-BAI-047/WAH ADEEL ASGHAR</cp:lastModifiedBy>
  <cp:revision>3</cp:revision>
  <dcterms:created xsi:type="dcterms:W3CDTF">2026-03-14T03:41:50Z</dcterms:created>
  <dcterms:modified xsi:type="dcterms:W3CDTF">2026-03-14T04:55:16Z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{"Label":"Neural Network Models for Object Recognition: Classical ML Approaches for CIFAR-10","ContentProducer":"001191110108MACG2KBH8F10000","ProduceID":"19cea6d3-7822-864c-8000-00007e1c23cd","ReservedCode1":"","ContentPropagator":"001191110108MACG2KBH8F20000","PropagateID":"19cea6d3-7822-864c-8000-00007e1c23cd","ReservedCode2":""}</vt:lpwstr>
  </property>
</Properties>
</file>